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先に結論を言うと、卒論に必要な実験はほぼ揃っていて、論文も4ページの形になっています。ただ、途中で評価の方法に問題を見つけたので、数字を全部計算し直しました。その話も正直にします。
（目安：30秒）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それから、評価の途中で問題を見つけました。TAPSの正解テキストには句読点がないのですが、Whisperは普通、文末に句点を付けます。ASR損失で学習すると、SEはWhisperが句読点を出さなくなるような音を作るようになっていました。評価で句読点をそろえていなかったので、その分が改善として数えられていました。句読点をそろえて計算し直すと改善は小さくなりますが、それでも残ります。
（4行目）最後に、STOIやPESQといった音の品質の指標は、むしろ下がっていました。つまり、気導マイクらしい自然な音に近づけているのではなく、Whisperが読みやすい別の音を作っている、ということです。
（補足：聞かれたら）句読点をそろえたCERで、Whisper-smallはTAPSのSEの0.230から0.196、15%の改善です。改善幅のうち約3分の1が句読点によるものでした。XLS-Rは約26%悪化しています。
（目安：1分30秒）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句読点による見かけの改善を定量化したこと、そして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喉マイクへの適用と、句読点による見かけの改善の定量化、それに出力に現れる250Hz間隔の人工的な成分の分析が新しい部分です。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は先行研究にあります。WavLMのような自己教師あり学習モデルの表現を損失に使ってSEを学習すると、学習に使っていないASRでも改善した、という報告があります。NTTのSatoらの2025年の論文や、Ravenscroftらの2024年の研究です。特定のASRの出力に合わせるのではなく、音声の表現そのものに近づける方向なので、汎用性を保てる可能性があります。
一方で、今回の実験でも比較手法として、気導マイクの音をWhisperに入れたときの表現に近づける損失、Enc L1を試しています。こちらはWhisper以外のASRで悪化はしませんでしたが、どのASRでも改善もしませんでした。元のTAPSのSEからほとんど変わらなかった、というのが正直なところです。なので、自分の結果だけではまだ手がかりとは言えず、Whisperの表現ではなく自己教師あり学習モデルの表現を使うところから試したいと考えています。
（評価の枠組み）評価については、学習に使っていない系列のASRで評価する、句読点をそろえる、といった枠組みを卒論で作ったので、それがそのまま使えます。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本命以外にも、考えられる選択肢を3つ挙げます。
（1行目）1つ目は、複数のASRの損失を混ぜて学習する方法です。自然な発展ですが、平均的な結果になるだけで、学習に使っていない系列には効かない可能性があります。
（2行目）2つ目は、実際の騒音環境で評価することです。喉マイクの本来の強みは騒音に強いことなので、それを活かせます。ただ、データを自分で収録する必要がありますし、競合する研究もあります。
（3行目）3つ目は、入力側での適応とファインチューニングを比べて、なぜ効くのかを分析する方向です。分析としては面白いのですが、手法の提案にはなりません。
以上です。卒論は分析としてまとめ、この先は本命の方向に切り替えたいと考えています。この方向でよいか、また他に考えるべき選択肢があるか、ご意見をいただけるとありがたいです。ありがとうございました。
（目安：1分）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sp>
      <p:sp>
        <p:nvSpPr>
          <p:cNvPr id="3" name="Text 1"/>
          <p:cNvSpPr/>
          <p:nvPr/>
        </p:nvSpPr>
        <p:spPr>
          <a:xfrm>
            <a:off x="813816" y="2011680"/>
            <a:ext cx="10564063" cy="36576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indent="0" marL="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18872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kHz以上がなくASR精度が低い。SEは</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どのASRにも前処理としてつなげる</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33756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3703320"/>
            <a:ext cx="5760720" cy="1188720"/>
          </a:xfrm>
          <a:prstGeom prst="rect">
            <a:avLst/>
          </a:prstGeom>
          <a:noFill/>
          <a:ln/>
        </p:spPr>
        <p:txBody>
          <a:bodyPr wrap="square" lIns="0" tIns="0" rIns="0" bIns="0" rtlCol="0" anchor="t"/>
          <a:lstStyle/>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sp>
      <p:sp>
        <p:nvSpPr>
          <p:cNvPr id="8" name="Text 6"/>
          <p:cNvSpPr/>
          <p:nvPr/>
        </p:nvSpPr>
        <p:spPr>
          <a:xfrm>
            <a:off x="7196328" y="1874520"/>
            <a:ext cx="3879799"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凍結したWhisper-small</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Shape 8"/>
          <p:cNvSpPr/>
          <p:nvPr/>
        </p:nvSpPr>
        <p:spPr>
          <a:xfrm>
            <a:off x="7196328" y="3429000"/>
            <a:ext cx="3879799" cy="1005840"/>
          </a:xfrm>
          <a:prstGeom prst="roundRect">
            <a:avLst>
              <a:gd name="adj" fmla="val 7273"/>
            </a:avLst>
          </a:prstGeom>
          <a:solidFill>
            <a:srgbClr val="EEF1F4"/>
          </a:solidFill>
          <a:ln w="12700">
            <a:solidFill>
              <a:srgbClr val="EEF1F4"/>
            </a:solidFill>
            <a:prstDash val="solid"/>
          </a:ln>
        </p:spPr>
      </p:sp>
      <p:sp>
        <p:nvSpPr>
          <p:cNvPr id="11" name="Text 9"/>
          <p:cNvSpPr/>
          <p:nvPr/>
        </p:nvSpPr>
        <p:spPr>
          <a:xfrm>
            <a:off x="7351776" y="3520440"/>
            <a:ext cx="3568903" cy="822960"/>
          </a:xfrm>
          <a:prstGeom prst="rect">
            <a:avLst/>
          </a:prstGeom>
          <a:noFill/>
          <a:ln/>
        </p:spPr>
        <p:txBody>
          <a:bodyPr wrap="square" lIns="0" tIns="0" rIns="0" bIns="0" rtlCol="0" anchor="ctr"/>
          <a:lstStyle/>
          <a:p>
            <a:pPr indent="0" marL="0">
              <a:buNone/>
            </a:pPr>
            <a:r>
              <a:rPr lang="en-US" sz="1500" dirty="0">
                <a:solidFill>
                  <a:srgbClr val="1F2A37"/>
                </a:solidFill>
                <a:latin typeface="Yu Gothic" pitchFamily="34" charset="0"/>
                <a:ea typeface="Yu Gothic" pitchFamily="34" charset="-122"/>
                <a:cs typeface="Yu Gothic" pitchFamily="34" charset="-120"/>
              </a:rPr>
              <a:t>L = 再構成損失 + λ × CE(Whisper(SE出力), 正解)</a:t>
            </a:r>
            <a:endParaRPr lang="en-US" sz="1500" dirty="0"/>
          </a:p>
        </p:txBody>
      </p:sp>
      <p:sp>
        <p:nvSpPr>
          <p:cNvPr id="12" name="Text 10"/>
          <p:cNvSpPr/>
          <p:nvPr/>
        </p:nvSpPr>
        <p:spPr>
          <a:xfrm>
            <a:off x="7196328" y="4663440"/>
            <a:ext cx="3879799" cy="548640"/>
          </a:xfrm>
          <a:prstGeom prst="rect">
            <a:avLst/>
          </a:prstGeom>
          <a:noFill/>
          <a:ln/>
        </p:spPr>
        <p:txBody>
          <a:bodyPr wrap="square" lIns="0" tIns="0" rIns="0" bIns="0" rtlCol="0" anchor="t"/>
          <a:lstStyle/>
          <a:p>
            <a:pPr indent="0" marL="0">
              <a:buNone/>
            </a:pPr>
            <a:r>
              <a:rPr lang="en-US" sz="1300" dirty="0">
                <a:solidFill>
                  <a:srgbClr val="4A5568"/>
                </a:solidFill>
                <a:latin typeface="Yu Gothic" pitchFamily="34" charset="0"/>
                <a:ea typeface="Yu Gothic" pitchFamily="34" charset="-122"/>
                <a:cs typeface="Yu Gothic" pitchFamily="34" charset="-120"/>
              </a:rPr>
              <a:t>データ：韓国語TAPS（喉マイク／気導マイクの同時収録）</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sp>
      <p:sp>
        <p:nvSpPr>
          <p:cNvPr id="4" name="Text 2"/>
          <p:cNvSpPr/>
          <p:nvPr/>
        </p:nvSpPr>
        <p:spPr>
          <a:xfrm>
            <a:off x="813816"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sp>
      <p:sp>
        <p:nvSpPr>
          <p:cNvPr id="7" name="Text 5"/>
          <p:cNvSpPr/>
          <p:nvPr/>
        </p:nvSpPr>
        <p:spPr>
          <a:xfrm>
            <a:off x="2999232"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algn="ctr" indent="0" marL="0">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sp>
      <p:sp>
        <p:nvSpPr>
          <p:cNvPr id="10" name="Text 8"/>
          <p:cNvSpPr/>
          <p:nvPr/>
        </p:nvSpPr>
        <p:spPr>
          <a:xfrm>
            <a:off x="5184648"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sp>
      <p:sp>
        <p:nvSpPr>
          <p:cNvPr id="13" name="Text 11"/>
          <p:cNvSpPr/>
          <p:nvPr/>
        </p:nvSpPr>
        <p:spPr>
          <a:xfrm>
            <a:off x="7370064"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sp>
      <p:sp>
        <p:nvSpPr>
          <p:cNvPr id="16" name="Text 14"/>
          <p:cNvSpPr/>
          <p:nvPr/>
        </p:nvSpPr>
        <p:spPr>
          <a:xfrm>
            <a:off x="9555480"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sp>
      <p:sp>
        <p:nvSpPr>
          <p:cNvPr id="19" name="Text 17"/>
          <p:cNvSpPr/>
          <p:nvPr/>
        </p:nvSpPr>
        <p:spPr>
          <a:xfrm>
            <a:off x="1014984" y="3017520"/>
            <a:ext cx="2688059" cy="365760"/>
          </a:xfrm>
          <a:prstGeom prst="rect">
            <a:avLst/>
          </a:prstGeom>
          <a:noFill/>
          <a:ln/>
        </p:spPr>
        <p:txBody>
          <a:bodyPr wrap="square" lIns="0" tIns="0" rIns="0" bIns="0" rtlCol="0" anchor="t"/>
          <a:lstStyle/>
          <a:p>
            <a:pPr indent="0" marL="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sp>
      <p:sp>
        <p:nvSpPr>
          <p:cNvPr id="23" name="Text 21"/>
          <p:cNvSpPr/>
          <p:nvPr/>
        </p:nvSpPr>
        <p:spPr>
          <a:xfrm>
            <a:off x="4288259" y="3017520"/>
            <a:ext cx="3615177" cy="365760"/>
          </a:xfrm>
          <a:prstGeom prst="rect">
            <a:avLst/>
          </a:prstGeom>
          <a:noFill/>
          <a:ln/>
        </p:spPr>
        <p:txBody>
          <a:bodyPr wrap="square" lIns="0" tIns="0" rIns="0" bIns="0" rtlCol="0" anchor="t"/>
          <a:lstStyle/>
          <a:p>
            <a:pPr indent="0" marL="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正解</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Whisperが正解を書き起こしやすい音</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sp>
      <p:sp>
        <p:nvSpPr>
          <p:cNvPr id="27" name="Text 25"/>
          <p:cNvSpPr/>
          <p:nvPr/>
        </p:nvSpPr>
        <p:spPr>
          <a:xfrm>
            <a:off x="8488652" y="3017520"/>
            <a:ext cx="2688059" cy="365760"/>
          </a:xfrm>
          <a:prstGeom prst="rect">
            <a:avLst/>
          </a:prstGeom>
          <a:noFill/>
          <a:ln/>
        </p:spPr>
        <p:txBody>
          <a:bodyPr wrap="square" lIns="0" tIns="0" rIns="0" bIns="0" rtlCol="0" anchor="t"/>
          <a:lstStyle/>
          <a:p>
            <a:pPr indent="0" marL="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sp>
      <p:sp>
        <p:nvSpPr>
          <p:cNvPr id="30" name="Text 28"/>
          <p:cNvSpPr/>
          <p:nvPr/>
        </p:nvSpPr>
        <p:spPr>
          <a:xfrm>
            <a:off x="996696" y="5440680"/>
            <a:ext cx="10198303" cy="548640"/>
          </a:xfrm>
          <a:prstGeom prst="rect">
            <a:avLst/>
          </a:prstGeom>
          <a:noFill/>
          <a:ln/>
        </p:spPr>
        <p:txBody>
          <a:bodyPr wrap="square" lIns="0" tIns="0" rIns="0" bIns="0" rtlCol="0" anchor="ctr"/>
          <a:lstStyle/>
          <a:p>
            <a:pPr indent="0" marL="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Shape 1"/>
          <p:cNvSpPr/>
          <p:nvPr/>
        </p:nvSpPr>
        <p:spPr>
          <a:xfrm>
            <a:off x="813816" y="1600200"/>
            <a:ext cx="10564063" cy="0"/>
          </a:xfrm>
          <a:prstGeom prst="line">
            <a:avLst/>
          </a:prstGeom>
          <a:noFill/>
          <a:ln w="12700">
            <a:solidFill>
              <a:srgbClr val="D8D3C8"/>
            </a:solidFill>
            <a:prstDash val="solid"/>
          </a:ln>
        </p:spPr>
      </p:sp>
      <p:sp>
        <p:nvSpPr>
          <p:cNvPr id="4" name="Text 2"/>
          <p:cNvSpPr/>
          <p:nvPr/>
        </p:nvSpPr>
        <p:spPr>
          <a:xfrm>
            <a:off x="813816" y="1709928"/>
            <a:ext cx="2743200" cy="804672"/>
          </a:xfrm>
          <a:prstGeom prst="rect">
            <a:avLst/>
          </a:prstGeom>
          <a:noFill/>
          <a:ln/>
        </p:spPr>
        <p:txBody>
          <a:bodyPr wrap="square" lIns="0" tIns="0" rIns="0" bIns="0" rtlCol="0" anchor="ctr"/>
          <a:lstStyle/>
          <a:p>
            <a:pPr indent="0" marL="0">
              <a:buNone/>
            </a:pPr>
            <a:r>
              <a:rPr lang="en-US" sz="1700" b="1" dirty="0">
                <a:solidFill>
                  <a:srgbClr val="2F6FB0"/>
                </a:solidFill>
                <a:latin typeface="Yu Gothic" pitchFamily="34" charset="0"/>
                <a:ea typeface="Yu Gothic" pitchFamily="34" charset="-122"/>
                <a:cs typeface="Yu Gothic" pitchFamily="34" charset="-120"/>
              </a:rPr>
              <a:t>学習に使ったWhisper</a:t>
            </a:r>
            <a:endParaRPr lang="en-US" sz="1700" dirty="0"/>
          </a:p>
        </p:txBody>
      </p:sp>
      <p:sp>
        <p:nvSpPr>
          <p:cNvPr id="5" name="Text 3"/>
          <p:cNvSpPr/>
          <p:nvPr/>
        </p:nvSpPr>
        <p:spPr>
          <a:xfrm>
            <a:off x="3739896" y="1709928"/>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CERは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改善する</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700" dirty="0"/>
          </a:p>
        </p:txBody>
      </p:sp>
      <p:sp>
        <p:nvSpPr>
          <p:cNvPr id="6" name="Shape 4"/>
          <p:cNvSpPr/>
          <p:nvPr/>
        </p:nvSpPr>
        <p:spPr>
          <a:xfrm>
            <a:off x="813816" y="2624328"/>
            <a:ext cx="10564063" cy="0"/>
          </a:xfrm>
          <a:prstGeom prst="line">
            <a:avLst/>
          </a:prstGeom>
          <a:noFill/>
          <a:ln w="12700">
            <a:solidFill>
              <a:srgbClr val="D8D3C8"/>
            </a:solidFill>
            <a:prstDash val="solid"/>
          </a:ln>
        </p:spPr>
      </p:sp>
      <p:sp>
        <p:nvSpPr>
          <p:cNvPr id="7" name="Text 5"/>
          <p:cNvSpPr/>
          <p:nvPr/>
        </p:nvSpPr>
        <p:spPr>
          <a:xfrm>
            <a:off x="813816" y="2734056"/>
            <a:ext cx="2743200" cy="804672"/>
          </a:xfrm>
          <a:prstGeom prst="rect">
            <a:avLst/>
          </a:prstGeom>
          <a:noFill/>
          <a:ln/>
        </p:spPr>
        <p:txBody>
          <a:bodyPr wrap="square" lIns="0" tIns="0" rIns="0" bIns="0" rtlCol="0" anchor="ctr"/>
          <a:lstStyle/>
          <a:p>
            <a:pPr indent="0" marL="0">
              <a:buNone/>
            </a:pPr>
            <a:r>
              <a:rPr lang="en-US" sz="1700" b="1" dirty="0">
                <a:solidFill>
                  <a:srgbClr val="B45F1E"/>
                </a:solidFill>
                <a:latin typeface="Yu Gothic" pitchFamily="34" charset="0"/>
                <a:ea typeface="Yu Gothic" pitchFamily="34" charset="-122"/>
                <a:cs typeface="Yu Gothic" pitchFamily="34" charset="-120"/>
              </a:rPr>
              <a:t>Whisper以外のASR</a:t>
            </a:r>
            <a:endParaRPr lang="en-US" sz="1700" dirty="0"/>
          </a:p>
        </p:txBody>
      </p:sp>
      <p:sp>
        <p:nvSpPr>
          <p:cNvPr id="8" name="Text 6"/>
          <p:cNvSpPr/>
          <p:nvPr/>
        </p:nvSpPr>
        <p:spPr>
          <a:xfrm>
            <a:off x="3739896" y="2734056"/>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wav2vec2系では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改善しない</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700" dirty="0"/>
          </a:p>
        </p:txBody>
      </p:sp>
      <p:sp>
        <p:nvSpPr>
          <p:cNvPr id="9" name="Shape 7"/>
          <p:cNvSpPr/>
          <p:nvPr/>
        </p:nvSpPr>
        <p:spPr>
          <a:xfrm>
            <a:off x="813816" y="3648456"/>
            <a:ext cx="10564063" cy="0"/>
          </a:xfrm>
          <a:prstGeom prst="line">
            <a:avLst/>
          </a:prstGeom>
          <a:noFill/>
          <a:ln w="12700">
            <a:solidFill>
              <a:srgbClr val="D8D3C8"/>
            </a:solidFill>
            <a:prstDash val="solid"/>
          </a:ln>
        </p:spPr>
      </p:sp>
      <p:sp>
        <p:nvSpPr>
          <p:cNvPr id="10" name="Text 8"/>
          <p:cNvSpPr/>
          <p:nvPr/>
        </p:nvSpPr>
        <p:spPr>
          <a:xfrm>
            <a:off x="813816" y="3758184"/>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改善の中身</a:t>
            </a:r>
            <a:endParaRPr lang="en-US" sz="1700" dirty="0"/>
          </a:p>
        </p:txBody>
      </p:sp>
      <p:sp>
        <p:nvSpPr>
          <p:cNvPr id="11" name="Text 9"/>
          <p:cNvSpPr/>
          <p:nvPr/>
        </p:nvSpPr>
        <p:spPr>
          <a:xfrm>
            <a:off x="3739896" y="3758184"/>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一部は、Whisperが</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句読点を出さなくなった</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だけ（正解テキストに句読点がないため）。評価をそろえると改善は小さくなるが、残る</a:t>
            </a:r>
            <a:endParaRPr lang="en-US" sz="1700" dirty="0"/>
          </a:p>
        </p:txBody>
      </p:sp>
      <p:sp>
        <p:nvSpPr>
          <p:cNvPr id="12" name="Shape 10"/>
          <p:cNvSpPr/>
          <p:nvPr/>
        </p:nvSpPr>
        <p:spPr>
          <a:xfrm>
            <a:off x="813816" y="4672584"/>
            <a:ext cx="10564063" cy="0"/>
          </a:xfrm>
          <a:prstGeom prst="line">
            <a:avLst/>
          </a:prstGeom>
          <a:noFill/>
          <a:ln w="12700">
            <a:solidFill>
              <a:srgbClr val="D8D3C8"/>
            </a:solidFill>
            <a:prstDash val="solid"/>
          </a:ln>
        </p:spPr>
      </p:sp>
      <p:sp>
        <p:nvSpPr>
          <p:cNvPr id="13" name="Text 11"/>
          <p:cNvSpPr/>
          <p:nvPr/>
        </p:nvSpPr>
        <p:spPr>
          <a:xfrm>
            <a:off x="813816" y="4782312"/>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知覚品質</a:t>
            </a:r>
            <a:endParaRPr lang="en-US" sz="1700" dirty="0"/>
          </a:p>
        </p:txBody>
      </p:sp>
      <p:sp>
        <p:nvSpPr>
          <p:cNvPr id="14" name="Text 12"/>
          <p:cNvSpPr/>
          <p:nvPr/>
        </p:nvSpPr>
        <p:spPr>
          <a:xfrm>
            <a:off x="3739896" y="4782312"/>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STOI・PESQは下がる。気導音声らしい音ではなく、</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Whisperが読みやすい音</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を作っている</a:t>
            </a:r>
            <a:endParaRPr lang="en-US" sz="1700" dirty="0"/>
          </a:p>
        </p:txBody>
      </p:sp>
      <p:sp>
        <p:nvSpPr>
          <p:cNvPr id="15" name="Shape 13"/>
          <p:cNvSpPr/>
          <p:nvPr/>
        </p:nvSpPr>
        <p:spPr>
          <a:xfrm>
            <a:off x="813816" y="5696712"/>
            <a:ext cx="10564063" cy="0"/>
          </a:xfrm>
          <a:prstGeom prst="line">
            <a:avLst/>
          </a:prstGeom>
          <a:noFill/>
          <a:ln w="12700">
            <a:solidFill>
              <a:srgbClr val="D8D3C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sp>
      <p:sp>
        <p:nvSpPr>
          <p:cNvPr id="5" name="Text 3"/>
          <p:cNvSpPr/>
          <p:nvPr/>
        </p:nvSpPr>
        <p:spPr>
          <a:xfrm>
            <a:off x="106984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sp>
      <p:sp>
        <p:nvSpPr>
          <p:cNvPr id="8" name="Text 6"/>
          <p:cNvSpPr/>
          <p:nvPr/>
        </p:nvSpPr>
        <p:spPr>
          <a:xfrm>
            <a:off x="465825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sp>
      <p:sp>
        <p:nvSpPr>
          <p:cNvPr id="11" name="Text 9"/>
          <p:cNvSpPr/>
          <p:nvPr/>
        </p:nvSpPr>
        <p:spPr>
          <a:xfrm>
            <a:off x="8246669"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indent="0" marL="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sp>
      <p:sp>
        <p:nvSpPr>
          <p:cNvPr id="6" name="Text 4"/>
          <p:cNvSpPr/>
          <p:nvPr/>
        </p:nvSpPr>
        <p:spPr>
          <a:xfrm>
            <a:off x="1088136" y="2377440"/>
            <a:ext cx="4632808" cy="457200"/>
          </a:xfrm>
          <a:prstGeom prst="rect">
            <a:avLst/>
          </a:prstGeom>
          <a:noFill/>
          <a:ln/>
        </p:spPr>
        <p:txBody>
          <a:bodyPr wrap="square" lIns="0" tIns="0" rIns="0" bIns="0" rtlCol="0" anchor="t"/>
          <a:lstStyle/>
          <a:p>
            <a:pPr indent="0" marL="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新しいのは</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、帯域が欠けた喉マイクでの確認、句読点による見かけの改善の定量化、250 Hz間隔の人工成分の分析</a:t>
            </a:r>
            <a:endParaRPr lang="en-US" sz="1500" dirty="0"/>
          </a:p>
        </p:txBody>
      </p:sp>
      <p:sp>
        <p:nvSpPr>
          <p:cNvPr id="8" name="Text 6"/>
          <p:cNvSpPr/>
          <p:nvPr/>
        </p:nvSpPr>
        <p:spPr>
          <a:xfrm>
            <a:off x="1088136"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卒論・学会発表には十分</a:t>
            </a:r>
            <a:endParaRPr lang="en-US" sz="14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sp>
      <p:sp>
        <p:nvSpPr>
          <p:cNvPr id="11" name="Text 9"/>
          <p:cNvSpPr/>
          <p:nvPr/>
        </p:nvSpPr>
        <p:spPr>
          <a:xfrm>
            <a:off x="6470752" y="2377440"/>
            <a:ext cx="4632808" cy="457200"/>
          </a:xfrm>
          <a:prstGeom prst="rect">
            <a:avLst/>
          </a:prstGeom>
          <a:noFill/>
          <a:ln/>
        </p:spPr>
        <p:txBody>
          <a:bodyPr wrap="square" lIns="0" tIns="0" rIns="0" bIns="0" rtlCol="0" anchor="t"/>
          <a:lstStyle/>
          <a:p>
            <a:pPr indent="0" marL="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保ったまま</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
        <p:nvSpPr>
          <p:cNvPr id="13" name="Text 11"/>
          <p:cNvSpPr/>
          <p:nvPr/>
        </p:nvSpPr>
        <p:spPr>
          <a:xfrm>
            <a:off x="6470752"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これが一番大きな収穫</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sp>
      <p:sp>
        <p:nvSpPr>
          <p:cNvPr id="6" name="Text 4"/>
          <p:cNvSpPr/>
          <p:nvPr/>
        </p:nvSpPr>
        <p:spPr>
          <a:xfrm>
            <a:off x="1088136" y="2011680"/>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重みを変えられないASR</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ASRを選ばないSEしか選択肢がない</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sp>
      <p:sp>
        <p:nvSpPr>
          <p:cNvPr id="10" name="Text 8"/>
          <p:cNvSpPr/>
          <p:nvPr/>
        </p:nvSpPr>
        <p:spPr>
          <a:xfrm>
            <a:off x="1088136" y="3310128"/>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自己教師あり表現（WavLMなど）を損失に使うと、</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学習に使っていないASRでも改善した</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という報告がある（Sato 2025、Ravenscroft 2024）。今回のEnc L1（Whisperの表現に近づける損失）は特化は起きなかったが、改善もしなかった</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sp>
      <p:sp>
        <p:nvSpPr>
          <p:cNvPr id="14" name="Text 12"/>
          <p:cNvSpPr/>
          <p:nvPr/>
        </p:nvSpPr>
        <p:spPr>
          <a:xfrm>
            <a:off x="1088136" y="4608576"/>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学習に使っていない系列のASRで評価する、句読点をそろえる。</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卒論で作ったものがそのまま使える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次の方向の候補：その他</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ほかに考えられる選択肢</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564063" cy="914400"/>
        </p:xfrm>
        <a:graphic>
          <a:graphicData uri="http://schemas.openxmlformats.org/drawingml/2006/table">
            <a:tbl>
              <a:tblPr/>
              <a:tblGrid>
                <a:gridCol w="3591781"/>
                <a:gridCol w="3486141"/>
                <a:gridCol w="3486141"/>
              </a:tblGrid>
              <a:tr h="502920">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見込み</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懸念</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複数のASRの損失を混ぜて学習</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自然な発展</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平均的になるだけかも。学習に使っていない系列には効かない可能性</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実際の雑音環境で評価</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喉マイク本来の強み（騒音に強い）を活かせる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データの収録が必要。競合研究がある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入力側の適応とFTの比較（なぜ効くか）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分析として面白い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手法の提案にはならない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2026-09-24T00:22:08Z</dcterms:created>
  <dcterms:modified xsi:type="dcterms:W3CDTF">2026-09-24T00:22:08Z</dcterms:modified>
</cp:coreProperties>
</file>