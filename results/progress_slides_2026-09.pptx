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今日は卒論の進捗を5分ほどで報告します。結論から言うと、実験はほぼ揃っていて、今は評価の数値を正しく計算し直している段階です。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予備実験でWhisperのFTが強いことはわかっていますが、SEはどのASRにもつなげられるのが利点なので、SE側を改善する方針です。今回はSEをWhisperの損失で直接学習させました。問題は、その改善が学習に使っていないASRにも通用するかどうか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R損失の中身です。SEの出力を凍結したWhisper-smallに入れ、正解テキストを1トークンずつ当てさせます。Whisperが正しく書き起こしやすい音ほど損失が小さくなります。Whisperの重みは固定で、勾配はWhisperを通り抜けてSEだけを更新します。音が崩れすぎないよう、気導音声との差を測る再構成損失も足しています。この仕組みだと、SEはWhisper専用に最適化され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細かい数字は省いて傾向だけ話します。学習に使ったWhisperでは改善し、10人の話者全員で改善しました。Whisper-mediumにも効きますが、baseでは差がはっきりしません。ところがwav2vec2系のASRでは改善しません。XLS-Rでははっきり悪化し、MMSではほぼ変わりませんでした。改善の一部は、正解テキストに句読点がないせいでWhisperが句読点を出さなくなっただけで、評価の句読点をそろえると改善は小さくなりますが、残ります。音としての品質指標は下がっていて、気導音声に近づけるのではなく、Whisperが読みやすい音を作っていることがわかりまし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正直な評価として、この手法を提案手法として押す方向は行き詰まっていると考えています。理由は3つです。まず、凍結したWhisperの損失で前処理を学習する手法には先行研究があります。次に、Whisperに特化するなら、Whisper自体をファインチューニングするほうが精度が上です。そして、SEの唯一の長所である「どのASRにも使える」ことを、ASR損失で学習すると失ってしまいます。λや損失を工夫しても、この構造は変わらないと思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方で、研究そのものが行き詰まったわけではありません。ASR損失で学習すると汎用性を失うこと、評価にはテキストの正規化と別系列のASRが必要なことは、分析の成果として卒論や学会発表には十分だと考えています。そして一番大きいのは、次に何を目指すべきかがはっきりしたことです。汎用性を保ったまま、ASRに効くSEをどう作るか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次の方向の本命は、特定のASRに依存しない喉マイク用のSEです。動機として、実際の現場ではクラウドのAPIや共用のASRのように、重みを変えられないASRが多いです。その場合はFTもASR損失での学習もできないので、ASRを選ばないSEしか選択肢がありません。ここがFTに対するSEの本当の存在意義だと考えています。手がかりもあって、気導音声の表現に近づける損失で学習したSEは、Whisper以外のASRでも悪化しませんでした。評価の枠組みは卒論で作ったものがそのまま使え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ほかの選択肢も3つ考えました。複数のASRの損失を混ぜる方法は自然な発展ですが、平均的になるだけで、学習に使っていない系列には効かない可能性があります。実際の雑音環境での評価は喉マイクの本来の強みを活かせますが、データの収録が必要で、競合研究もあります。入力側の適応とFTの比較は分析としては面白いものの、手法の提案にはなりません。これらについてもご意見をいただきたい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6F2"/>
        </a:solidFill>
      </p:bgPr>
    </p:bg>
    <p:spTree>
      <p:nvGrpSpPr>
        <p:cNvPr id="1" name=""/>
        <p:cNvGrpSpPr/>
        <p:nvPr/>
      </p:nvGrpSpPr>
      <p:grpSpPr>
        <a:xfrm>
          <a:off x="0" y="0"/>
          <a:ext cx="0" cy="0"/>
          <a:chOff x="0" y="0"/>
          <a:chExt cx="0" cy="0"/>
        </a:xfrm>
      </p:grpSpPr>
      <p:sp>
        <p:nvSpPr>
          <p:cNvPr id="2" name="Shape 0"/>
          <p:cNvSpPr/>
          <p:nvPr/>
        </p:nvSpPr>
        <p:spPr>
          <a:xfrm>
            <a:off x="0" y="0"/>
            <a:ext cx="155448" cy="6858000"/>
          </a:xfrm>
          <a:prstGeom prst="rect">
            <a:avLst/>
          </a:prstGeom>
          <a:solidFill>
            <a:srgbClr val="D9772B"/>
          </a:solidFill>
          <a:ln w="12700">
            <a:solidFill>
              <a:srgbClr val="D9772B"/>
            </a:solidFill>
            <a:prstDash val="solid"/>
          </a:ln>
        </p:spPr>
      </p:sp>
      <p:sp>
        <p:nvSpPr>
          <p:cNvPr id="3" name="Text 1"/>
          <p:cNvSpPr/>
          <p:nvPr/>
        </p:nvSpPr>
        <p:spPr>
          <a:xfrm>
            <a:off x="813816" y="2011680"/>
            <a:ext cx="10564063" cy="365760"/>
          </a:xfrm>
          <a:prstGeom prst="rect">
            <a:avLst/>
          </a:prstGeom>
          <a:noFill/>
          <a:ln/>
        </p:spPr>
        <p:txBody>
          <a:bodyPr wrap="square" lIns="0" tIns="0" rIns="0" bIns="0" rtlCol="0" anchor="t"/>
          <a:lstStyle/>
          <a:p>
            <a:pPr indent="0" marL="0">
              <a:buNone/>
            </a:pPr>
            <a:r>
              <a:rPr lang="en-US" sz="1500" b="1" spc="200" kern="0" dirty="0">
                <a:solidFill>
                  <a:srgbClr val="B45F1E"/>
                </a:solidFill>
                <a:latin typeface="Yu Gothic" pitchFamily="34" charset="0"/>
                <a:ea typeface="Yu Gothic" pitchFamily="34" charset="-122"/>
                <a:cs typeface="Yu Gothic" pitchFamily="34" charset="-120"/>
              </a:rPr>
              <a:t>卒論 進捗報告</a:t>
            </a:r>
            <a:endParaRPr lang="en-US" sz="1500" dirty="0"/>
          </a:p>
        </p:txBody>
      </p:sp>
      <p:sp>
        <p:nvSpPr>
          <p:cNvPr id="4" name="Text 2"/>
          <p:cNvSpPr/>
          <p:nvPr/>
        </p:nvSpPr>
        <p:spPr>
          <a:xfrm>
            <a:off x="813816" y="2514600"/>
            <a:ext cx="10564063" cy="1737360"/>
          </a:xfrm>
          <a:prstGeom prst="rect">
            <a:avLst/>
          </a:prstGeom>
          <a:noFill/>
          <a:ln/>
        </p:spPr>
        <p:txBody>
          <a:bodyPr wrap="square" lIns="0" tIns="0" rIns="0" bIns="0" rtlCol="0" anchor="t"/>
          <a:lstStyle/>
          <a:p>
            <a:pPr indent="0" marL="0">
              <a:lnSpc>
                <a:spcPct val="110000"/>
              </a:lnSpc>
              <a:buNone/>
            </a:pPr>
            <a:r>
              <a:rPr lang="en-US" sz="4000" b="1" dirty="0">
                <a:solidFill>
                  <a:srgbClr val="1F2A37"/>
                </a:solidFill>
                <a:latin typeface="Yu Gothic" pitchFamily="34" charset="0"/>
                <a:ea typeface="Yu Gothic" pitchFamily="34" charset="-122"/>
                <a:cs typeface="Yu Gothic" pitchFamily="34" charset="-120"/>
              </a:rPr>
              <a:t>ASR損失で学習した</a:t>
            </a:r>
            <a:endParaRPr lang="en-US" sz="4000" dirty="0"/>
          </a:p>
          <a:p>
            <a:pPr indent="0" marL="0">
              <a:lnSpc>
                <a:spcPct val="110000"/>
              </a:lnSpc>
              <a:buNone/>
            </a:pPr>
            <a:r>
              <a:rPr lang="en-US" sz="4000" b="1" dirty="0">
                <a:solidFill>
                  <a:srgbClr val="1F2A37"/>
                </a:solidFill>
                <a:latin typeface="Yu Gothic" pitchFamily="34" charset="0"/>
                <a:ea typeface="Yu Gothic" pitchFamily="34" charset="-122"/>
                <a:cs typeface="Yu Gothic" pitchFamily="34" charset="-120"/>
              </a:rPr>
              <a:t>喉マイク音声強調の効果と汎化範囲</a:t>
            </a:r>
            <a:endParaRPr lang="en-US" sz="4000" dirty="0"/>
          </a:p>
        </p:txBody>
      </p:sp>
      <p:sp>
        <p:nvSpPr>
          <p:cNvPr id="5" name="Text 3"/>
          <p:cNvSpPr/>
          <p:nvPr/>
        </p:nvSpPr>
        <p:spPr>
          <a:xfrm>
            <a:off x="813816" y="4480560"/>
            <a:ext cx="10564063" cy="365760"/>
          </a:xfrm>
          <a:prstGeom prst="rect">
            <a:avLst/>
          </a:prstGeom>
          <a:noFill/>
          <a:ln/>
        </p:spPr>
        <p:txBody>
          <a:bodyPr wrap="square" lIns="0" tIns="0" rIns="0" bIns="0" rtlCol="0" anchor="t"/>
          <a:lstStyle/>
          <a:p>
            <a:pPr indent="0" marL="0">
              <a:buNone/>
            </a:pPr>
            <a:r>
              <a:rPr lang="en-US" sz="1500" dirty="0">
                <a:solidFill>
                  <a:srgbClr val="4A5568"/>
                </a:solidFill>
                <a:latin typeface="Yu Gothic" pitchFamily="34" charset="0"/>
                <a:ea typeface="Yu Gothic" pitchFamily="34" charset="-122"/>
                <a:cs typeface="Yu Gothic" pitchFamily="34" charset="-120"/>
              </a:rPr>
              <a:t>春日 裕次　／　2026年9月 ゼミ</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3816" y="640080"/>
            <a:ext cx="10564063" cy="731520"/>
          </a:xfrm>
          <a:prstGeom prst="rect">
            <a:avLst/>
          </a:prstGeom>
          <a:noFill/>
          <a:ln/>
        </p:spPr>
        <p:txBody>
          <a:bodyPr wrap="square" lIns="0" tIns="0" rIns="0" bIns="0" rtlCol="0" anchor="t"/>
          <a:lstStyle/>
          <a:p>
            <a:pPr indent="0" marL="0">
              <a:buNone/>
            </a:pPr>
            <a:r>
              <a:rPr lang="en-US" sz="3000" b="1" dirty="0">
                <a:solidFill>
                  <a:srgbClr val="1F2A37"/>
                </a:solidFill>
                <a:latin typeface="Yu Gothic" pitchFamily="34" charset="0"/>
                <a:ea typeface="Yu Gothic" pitchFamily="34" charset="-122"/>
                <a:cs typeface="Yu Gothic" pitchFamily="34" charset="-120"/>
              </a:rPr>
              <a:t>問いと手法</a:t>
            </a:r>
            <a:endParaRPr lang="en-US" sz="3000" dirty="0"/>
          </a:p>
        </p:txBody>
      </p:sp>
      <p:sp>
        <p:nvSpPr>
          <p:cNvPr id="3" name="Text 1"/>
          <p:cNvSpPr/>
          <p:nvPr/>
        </p:nvSpPr>
        <p:spPr>
          <a:xfrm>
            <a:off x="813816" y="1600200"/>
            <a:ext cx="5760720" cy="320040"/>
          </a:xfrm>
          <a:prstGeom prst="rect">
            <a:avLst/>
          </a:prstGeom>
          <a:noFill/>
          <a:ln/>
        </p:spPr>
        <p:txBody>
          <a:bodyPr wrap="square" lIns="0" tIns="0" rIns="0" bIns="0" rtlCol="0" anchor="t"/>
          <a:lstStyle/>
          <a:p>
            <a:pPr indent="0" marL="0">
              <a:buNone/>
            </a:pPr>
            <a:r>
              <a:rPr lang="en-US" sz="1500" b="1" dirty="0">
                <a:solidFill>
                  <a:srgbClr val="B45F1E"/>
                </a:solidFill>
                <a:latin typeface="Yu Gothic" pitchFamily="34" charset="0"/>
                <a:ea typeface="Yu Gothic" pitchFamily="34" charset="-122"/>
                <a:cs typeface="Yu Gothic" pitchFamily="34" charset="-120"/>
              </a:rPr>
              <a:t>背景</a:t>
            </a:r>
            <a:endParaRPr lang="en-US" sz="1500" dirty="0"/>
          </a:p>
        </p:txBody>
      </p:sp>
      <p:sp>
        <p:nvSpPr>
          <p:cNvPr id="4" name="Text 2"/>
          <p:cNvSpPr/>
          <p:nvPr/>
        </p:nvSpPr>
        <p:spPr>
          <a:xfrm>
            <a:off x="813816" y="1965960"/>
            <a:ext cx="5760720" cy="1188720"/>
          </a:xfrm>
          <a:prstGeom prst="rect">
            <a:avLst/>
          </a:prstGeom>
          <a:noFill/>
          <a:ln/>
        </p:spPr>
        <p:txBody>
          <a:bodyPr wrap="square" lIns="0" tIns="0" rIns="0" bIns="0" rtlCol="0" anchor="t"/>
          <a:lstStyle/>
          <a:p>
            <a:pPr indent="0" marL="0">
              <a:lnSpc>
                <a:spcPct val="140000"/>
              </a:lnSpc>
              <a:buNone/>
            </a:pPr>
            <a:r>
              <a:rPr lang="en-US" sz="1600" dirty="0">
                <a:solidFill>
                  <a:srgbClr val="1F2A37"/>
                </a:solidFill>
                <a:latin typeface="Yu Gothic" pitchFamily="34" charset="0"/>
                <a:ea typeface="Yu Gothic" pitchFamily="34" charset="-122"/>
                <a:cs typeface="Yu Gothic" pitchFamily="34" charset="-120"/>
              </a:rPr>
              <a:t>喉マイクは騒音に強いが、4 kHz以上がなくASR精度が低い。SEは</a:t>
            </a:r>
            <a:pPr indent="0" marL="0">
              <a:lnSpc>
                <a:spcPct val="140000"/>
              </a:lnSpc>
              <a:buNone/>
            </a:pPr>
            <a:r>
              <a:rPr lang="en-US" sz="1600" b="1" dirty="0">
                <a:solidFill>
                  <a:srgbClr val="1F2A37"/>
                </a:solidFill>
                <a:latin typeface="Yu Gothic" pitchFamily="34" charset="0"/>
                <a:ea typeface="Yu Gothic" pitchFamily="34" charset="-122"/>
                <a:cs typeface="Yu Gothic" pitchFamily="34" charset="-120"/>
              </a:rPr>
              <a:t>どのASRにも前処理としてつなげる</a:t>
            </a:r>
            <a:pPr indent="0" marL="0">
              <a:lnSpc>
                <a:spcPct val="140000"/>
              </a:lnSpc>
              <a:buNone/>
            </a:pPr>
            <a:r>
              <a:rPr lang="en-US" sz="1600" dirty="0">
                <a:solidFill>
                  <a:srgbClr val="1F2A37"/>
                </a:solidFill>
                <a:latin typeface="Yu Gothic" pitchFamily="34" charset="0"/>
                <a:ea typeface="Yu Gothic" pitchFamily="34" charset="-122"/>
                <a:cs typeface="Yu Gothic" pitchFamily="34" charset="-120"/>
              </a:rPr>
              <a:t>のが利点。</a:t>
            </a:r>
            <a:endParaRPr lang="en-US" sz="1600" dirty="0"/>
          </a:p>
        </p:txBody>
      </p:sp>
      <p:sp>
        <p:nvSpPr>
          <p:cNvPr id="5" name="Text 3"/>
          <p:cNvSpPr/>
          <p:nvPr/>
        </p:nvSpPr>
        <p:spPr>
          <a:xfrm>
            <a:off x="813816" y="3337560"/>
            <a:ext cx="5760720" cy="320040"/>
          </a:xfrm>
          <a:prstGeom prst="rect">
            <a:avLst/>
          </a:prstGeom>
          <a:noFill/>
          <a:ln/>
        </p:spPr>
        <p:txBody>
          <a:bodyPr wrap="square" lIns="0" tIns="0" rIns="0" bIns="0" rtlCol="0" anchor="t"/>
          <a:lstStyle/>
          <a:p>
            <a:pPr indent="0" marL="0">
              <a:buNone/>
            </a:pPr>
            <a:r>
              <a:rPr lang="en-US" sz="1500" b="1" dirty="0">
                <a:solidFill>
                  <a:srgbClr val="B45F1E"/>
                </a:solidFill>
                <a:latin typeface="Yu Gothic" pitchFamily="34" charset="0"/>
                <a:ea typeface="Yu Gothic" pitchFamily="34" charset="-122"/>
                <a:cs typeface="Yu Gothic" pitchFamily="34" charset="-120"/>
              </a:rPr>
              <a:t>問い</a:t>
            </a:r>
            <a:endParaRPr lang="en-US" sz="1500" dirty="0"/>
          </a:p>
        </p:txBody>
      </p:sp>
      <p:sp>
        <p:nvSpPr>
          <p:cNvPr id="6" name="Text 4"/>
          <p:cNvSpPr/>
          <p:nvPr/>
        </p:nvSpPr>
        <p:spPr>
          <a:xfrm>
            <a:off x="813816" y="3703320"/>
            <a:ext cx="5760720" cy="1188720"/>
          </a:xfrm>
          <a:prstGeom prst="rect">
            <a:avLst/>
          </a:prstGeom>
          <a:noFill/>
          <a:ln/>
        </p:spPr>
        <p:txBody>
          <a:bodyPr wrap="square" lIns="0" tIns="0" rIns="0" bIns="0" rtlCol="0" anchor="t"/>
          <a:lstStyle/>
          <a:p>
            <a:pPr indent="0" marL="0">
              <a:lnSpc>
                <a:spcPct val="130000"/>
              </a:lnSpc>
              <a:buNone/>
            </a:pPr>
            <a:r>
              <a:rPr lang="en-US" sz="2000" b="1" dirty="0">
                <a:solidFill>
                  <a:srgbClr val="1F2A37"/>
                </a:solidFill>
                <a:latin typeface="Yu Gothic" pitchFamily="34" charset="0"/>
                <a:ea typeface="Yu Gothic" pitchFamily="34" charset="-122"/>
                <a:cs typeface="Yu Gothic" pitchFamily="34" charset="-120"/>
              </a:rPr>
              <a:t>ASR損失で学習したSEの改善は、</a:t>
            </a:r>
            <a:endParaRPr lang="en-US" sz="2000" dirty="0"/>
          </a:p>
          <a:p>
            <a:pPr indent="0" marL="0">
              <a:lnSpc>
                <a:spcPct val="130000"/>
              </a:lnSpc>
              <a:buNone/>
            </a:pPr>
            <a:r>
              <a:rPr lang="en-US" sz="2000" b="1" dirty="0">
                <a:solidFill>
                  <a:srgbClr val="1F2A37"/>
                </a:solidFill>
                <a:latin typeface="Yu Gothic" pitchFamily="34" charset="0"/>
                <a:ea typeface="Yu Gothic" pitchFamily="34" charset="-122"/>
                <a:cs typeface="Yu Gothic" pitchFamily="34" charset="-120"/>
              </a:rPr>
              <a:t>別のASRにも通用するか？</a:t>
            </a:r>
            <a:endParaRPr lang="en-US" sz="2000" dirty="0"/>
          </a:p>
        </p:txBody>
      </p:sp>
      <p:sp>
        <p:nvSpPr>
          <p:cNvPr id="7" name="Shape 5"/>
          <p:cNvSpPr/>
          <p:nvPr/>
        </p:nvSpPr>
        <p:spPr>
          <a:xfrm>
            <a:off x="6894576" y="1600200"/>
            <a:ext cx="4483303" cy="4206240"/>
          </a:xfrm>
          <a:prstGeom prst="roundRect">
            <a:avLst>
              <a:gd name="adj" fmla="val 2174"/>
            </a:avLst>
          </a:prstGeom>
          <a:solidFill>
            <a:srgbClr val="FBFAF7"/>
          </a:solidFill>
          <a:ln w="12700">
            <a:solidFill>
              <a:srgbClr val="E2DED5"/>
            </a:solidFill>
            <a:prstDash val="solid"/>
          </a:ln>
        </p:spPr>
      </p:sp>
      <p:sp>
        <p:nvSpPr>
          <p:cNvPr id="8" name="Text 6"/>
          <p:cNvSpPr/>
          <p:nvPr/>
        </p:nvSpPr>
        <p:spPr>
          <a:xfrm>
            <a:off x="7196328" y="1874520"/>
            <a:ext cx="3879799" cy="320040"/>
          </a:xfrm>
          <a:prstGeom prst="rect">
            <a:avLst/>
          </a:prstGeom>
          <a:noFill/>
          <a:ln/>
        </p:spPr>
        <p:txBody>
          <a:bodyPr wrap="square" lIns="0" tIns="0" rIns="0" bIns="0" rtlCol="0" anchor="t"/>
          <a:lstStyle/>
          <a:p>
            <a:pPr indent="0" marL="0">
              <a:buNone/>
            </a:pPr>
            <a:r>
              <a:rPr lang="en-US" sz="1500" b="1" dirty="0">
                <a:solidFill>
                  <a:srgbClr val="B45F1E"/>
                </a:solidFill>
                <a:latin typeface="Yu Gothic" pitchFamily="34" charset="0"/>
                <a:ea typeface="Yu Gothic" pitchFamily="34" charset="-122"/>
                <a:cs typeface="Yu Gothic" pitchFamily="34" charset="-120"/>
              </a:rPr>
              <a:t>手法</a:t>
            </a:r>
            <a:endParaRPr lang="en-US" sz="1500" dirty="0"/>
          </a:p>
        </p:txBody>
      </p:sp>
      <p:sp>
        <p:nvSpPr>
          <p:cNvPr id="9" name="Text 7"/>
          <p:cNvSpPr/>
          <p:nvPr/>
        </p:nvSpPr>
        <p:spPr>
          <a:xfrm>
            <a:off x="7196328" y="2286000"/>
            <a:ext cx="3879799" cy="1005840"/>
          </a:xfrm>
          <a:prstGeom prst="rect">
            <a:avLst/>
          </a:prstGeom>
          <a:noFill/>
          <a:ln/>
        </p:spPr>
        <p:txBody>
          <a:bodyPr wrap="square" lIns="0" tIns="0" rIns="0" bIns="0" rtlCol="0" anchor="t"/>
          <a:lstStyle/>
          <a:p>
            <a:pPr indent="0" marL="0">
              <a:lnSpc>
                <a:spcPct val="140000"/>
              </a:lnSpc>
              <a:buNone/>
            </a:pPr>
            <a:r>
              <a:rPr lang="en-US" sz="1600" dirty="0">
                <a:solidFill>
                  <a:srgbClr val="1F2A37"/>
                </a:solidFill>
                <a:latin typeface="Yu Gothic" pitchFamily="34" charset="0"/>
                <a:ea typeface="Yu Gothic" pitchFamily="34" charset="-122"/>
                <a:cs typeface="Yu Gothic" pitchFamily="34" charset="-120"/>
              </a:rPr>
              <a:t>TAPSのSE-Conformerを、</a:t>
            </a:r>
            <a:pPr indent="0" marL="0">
              <a:lnSpc>
                <a:spcPct val="140000"/>
              </a:lnSpc>
              <a:buNone/>
            </a:pPr>
            <a:r>
              <a:rPr lang="en-US" sz="1600" b="1" dirty="0">
                <a:solidFill>
                  <a:srgbClr val="1F2A37"/>
                </a:solidFill>
                <a:latin typeface="Yu Gothic" pitchFamily="34" charset="0"/>
                <a:ea typeface="Yu Gothic" pitchFamily="34" charset="-122"/>
                <a:cs typeface="Yu Gothic" pitchFamily="34" charset="-120"/>
              </a:rPr>
              <a:t>凍結したWhisper-small</a:t>
            </a:r>
            <a:pPr indent="0" marL="0">
              <a:lnSpc>
                <a:spcPct val="140000"/>
              </a:lnSpc>
              <a:buNone/>
            </a:pPr>
            <a:r>
              <a:rPr lang="en-US" sz="1600" dirty="0">
                <a:solidFill>
                  <a:srgbClr val="1F2A37"/>
                </a:solidFill>
                <a:latin typeface="Yu Gothic" pitchFamily="34" charset="0"/>
                <a:ea typeface="Yu Gothic" pitchFamily="34" charset="-122"/>
                <a:cs typeface="Yu Gothic" pitchFamily="34" charset="-120"/>
              </a:rPr>
              <a:t>の交差エントロピー損失で追加学習</a:t>
            </a:r>
            <a:endParaRPr lang="en-US" sz="1600" dirty="0"/>
          </a:p>
        </p:txBody>
      </p:sp>
      <p:sp>
        <p:nvSpPr>
          <p:cNvPr id="10" name="Shape 8"/>
          <p:cNvSpPr/>
          <p:nvPr/>
        </p:nvSpPr>
        <p:spPr>
          <a:xfrm>
            <a:off x="7196328" y="3429000"/>
            <a:ext cx="3879799" cy="1005840"/>
          </a:xfrm>
          <a:prstGeom prst="roundRect">
            <a:avLst>
              <a:gd name="adj" fmla="val 7273"/>
            </a:avLst>
          </a:prstGeom>
          <a:solidFill>
            <a:srgbClr val="EEF1F4"/>
          </a:solidFill>
          <a:ln w="12700">
            <a:solidFill>
              <a:srgbClr val="EEF1F4"/>
            </a:solidFill>
            <a:prstDash val="solid"/>
          </a:ln>
        </p:spPr>
      </p:sp>
      <p:sp>
        <p:nvSpPr>
          <p:cNvPr id="11" name="Text 9"/>
          <p:cNvSpPr/>
          <p:nvPr/>
        </p:nvSpPr>
        <p:spPr>
          <a:xfrm>
            <a:off x="7351776" y="3520440"/>
            <a:ext cx="3568903" cy="822960"/>
          </a:xfrm>
          <a:prstGeom prst="rect">
            <a:avLst/>
          </a:prstGeom>
          <a:noFill/>
          <a:ln/>
        </p:spPr>
        <p:txBody>
          <a:bodyPr wrap="square" lIns="0" tIns="0" rIns="0" bIns="0" rtlCol="0" anchor="ctr"/>
          <a:lstStyle/>
          <a:p>
            <a:pPr indent="0" marL="0">
              <a:buNone/>
            </a:pPr>
            <a:r>
              <a:rPr lang="en-US" sz="1500" dirty="0">
                <a:solidFill>
                  <a:srgbClr val="1F2A37"/>
                </a:solidFill>
                <a:latin typeface="Yu Gothic" pitchFamily="34" charset="0"/>
                <a:ea typeface="Yu Gothic" pitchFamily="34" charset="-122"/>
                <a:cs typeface="Yu Gothic" pitchFamily="34" charset="-120"/>
              </a:rPr>
              <a:t>L = 再構成損失 + λ × CE(Whisper(SE出力), 正解)</a:t>
            </a:r>
            <a:endParaRPr lang="en-US" sz="1500" dirty="0"/>
          </a:p>
        </p:txBody>
      </p:sp>
      <p:sp>
        <p:nvSpPr>
          <p:cNvPr id="12" name="Text 10"/>
          <p:cNvSpPr/>
          <p:nvPr/>
        </p:nvSpPr>
        <p:spPr>
          <a:xfrm>
            <a:off x="7196328" y="4663440"/>
            <a:ext cx="3879799" cy="548640"/>
          </a:xfrm>
          <a:prstGeom prst="rect">
            <a:avLst/>
          </a:prstGeom>
          <a:noFill/>
          <a:ln/>
        </p:spPr>
        <p:txBody>
          <a:bodyPr wrap="square" lIns="0" tIns="0" rIns="0" bIns="0" rtlCol="0" anchor="t"/>
          <a:lstStyle/>
          <a:p>
            <a:pPr indent="0" marL="0">
              <a:buNone/>
            </a:pPr>
            <a:r>
              <a:rPr lang="en-US" sz="1300" dirty="0">
                <a:solidFill>
                  <a:srgbClr val="4A5568"/>
                </a:solidFill>
                <a:latin typeface="Yu Gothic" pitchFamily="34" charset="0"/>
                <a:ea typeface="Yu Gothic" pitchFamily="34" charset="-122"/>
                <a:cs typeface="Yu Gothic" pitchFamily="34" charset="-120"/>
              </a:rPr>
              <a:t>データ：韓国語TAPS（喉マイク／気導マイクの同時収録）</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3816" y="640080"/>
            <a:ext cx="10564063" cy="731520"/>
          </a:xfrm>
          <a:prstGeom prst="rect">
            <a:avLst/>
          </a:prstGeom>
          <a:noFill/>
          <a:ln/>
        </p:spPr>
        <p:txBody>
          <a:bodyPr wrap="square" lIns="0" tIns="0" rIns="0" bIns="0" rtlCol="0" anchor="t"/>
          <a:lstStyle/>
          <a:p>
            <a:pPr indent="0" marL="0">
              <a:buNone/>
            </a:pPr>
            <a:r>
              <a:rPr lang="en-US" sz="3000" b="1" dirty="0">
                <a:solidFill>
                  <a:srgbClr val="1F2A37"/>
                </a:solidFill>
                <a:latin typeface="Yu Gothic" pitchFamily="34" charset="0"/>
                <a:ea typeface="Yu Gothic" pitchFamily="34" charset="-122"/>
                <a:cs typeface="Yu Gothic" pitchFamily="34" charset="-120"/>
              </a:rPr>
              <a:t>ASR損失による学習のしくみ</a:t>
            </a:r>
            <a:endParaRPr lang="en-US" sz="3000" dirty="0"/>
          </a:p>
        </p:txBody>
      </p:sp>
      <p:sp>
        <p:nvSpPr>
          <p:cNvPr id="3" name="Shape 1"/>
          <p:cNvSpPr/>
          <p:nvPr/>
        </p:nvSpPr>
        <p:spPr>
          <a:xfrm>
            <a:off x="813816" y="1600200"/>
            <a:ext cx="1783080" cy="914400"/>
          </a:xfrm>
          <a:prstGeom prst="roundRect">
            <a:avLst>
              <a:gd name="adj" fmla="val 8000"/>
            </a:avLst>
          </a:prstGeom>
          <a:solidFill>
            <a:srgbClr val="FBFAF7"/>
          </a:solidFill>
          <a:ln w="12700">
            <a:solidFill>
              <a:srgbClr val="D8D3C8"/>
            </a:solidFill>
            <a:prstDash val="solid"/>
          </a:ln>
        </p:spPr>
      </p:sp>
      <p:sp>
        <p:nvSpPr>
          <p:cNvPr id="4" name="Text 2"/>
          <p:cNvSpPr/>
          <p:nvPr/>
        </p:nvSpPr>
        <p:spPr>
          <a:xfrm>
            <a:off x="813816" y="1600200"/>
            <a:ext cx="1783080" cy="914400"/>
          </a:xfrm>
          <a:prstGeom prst="rect">
            <a:avLst/>
          </a:prstGeom>
          <a:noFill/>
          <a:ln/>
        </p:spPr>
        <p:txBody>
          <a:bodyPr wrap="square" lIns="0" tIns="0" rIns="0" bIns="0" rtlCol="0" anchor="ctr"/>
          <a:lstStyle/>
          <a:p>
            <a:pPr algn="ctr" indent="0" marL="0">
              <a:buNone/>
            </a:pPr>
            <a:r>
              <a:rPr lang="en-US" sz="1300" b="1" dirty="0">
                <a:solidFill>
                  <a:srgbClr val="1F2A37"/>
                </a:solidFill>
                <a:latin typeface="Yu Gothic" pitchFamily="34" charset="0"/>
                <a:ea typeface="Yu Gothic" pitchFamily="34" charset="-122"/>
                <a:cs typeface="Yu Gothic" pitchFamily="34" charset="-120"/>
              </a:rPr>
              <a:t>喉マイク音声</a:t>
            </a:r>
            <a:endParaRPr lang="en-US" sz="1300" dirty="0"/>
          </a:p>
        </p:txBody>
      </p:sp>
      <p:sp>
        <p:nvSpPr>
          <p:cNvPr id="5" name="Shape 3"/>
          <p:cNvSpPr/>
          <p:nvPr/>
        </p:nvSpPr>
        <p:spPr>
          <a:xfrm>
            <a:off x="2670048" y="1938528"/>
            <a:ext cx="256032" cy="237744"/>
          </a:xfrm>
          <a:prstGeom prst="rightArrow">
            <a:avLst/>
          </a:prstGeom>
          <a:solidFill>
            <a:srgbClr val="8A94A3"/>
          </a:solidFill>
          <a:ln w="12700">
            <a:solidFill>
              <a:srgbClr val="8A94A3"/>
            </a:solidFill>
            <a:prstDash val="solid"/>
          </a:ln>
        </p:spPr>
      </p:sp>
      <p:sp>
        <p:nvSpPr>
          <p:cNvPr id="6" name="Shape 4"/>
          <p:cNvSpPr/>
          <p:nvPr/>
        </p:nvSpPr>
        <p:spPr>
          <a:xfrm>
            <a:off x="2999232" y="1600200"/>
            <a:ext cx="1783080" cy="914400"/>
          </a:xfrm>
          <a:prstGeom prst="roundRect">
            <a:avLst>
              <a:gd name="adj" fmla="val 8000"/>
            </a:avLst>
          </a:prstGeom>
          <a:solidFill>
            <a:srgbClr val="FBF1E7"/>
          </a:solidFill>
          <a:ln w="25400">
            <a:solidFill>
              <a:srgbClr val="D9772B"/>
            </a:solidFill>
            <a:prstDash val="solid"/>
          </a:ln>
        </p:spPr>
      </p:sp>
      <p:sp>
        <p:nvSpPr>
          <p:cNvPr id="7" name="Text 5"/>
          <p:cNvSpPr/>
          <p:nvPr/>
        </p:nvSpPr>
        <p:spPr>
          <a:xfrm>
            <a:off x="2999232" y="1600200"/>
            <a:ext cx="1783080" cy="914400"/>
          </a:xfrm>
          <a:prstGeom prst="rect">
            <a:avLst/>
          </a:prstGeom>
          <a:noFill/>
          <a:ln/>
        </p:spPr>
        <p:txBody>
          <a:bodyPr wrap="square" lIns="0" tIns="0" rIns="0" bIns="0" rtlCol="0" anchor="ctr"/>
          <a:lstStyle/>
          <a:p>
            <a:pPr algn="ctr" indent="0" marL="0">
              <a:buNone/>
            </a:pPr>
            <a:r>
              <a:rPr lang="en-US" sz="1300" b="1" dirty="0">
                <a:solidFill>
                  <a:srgbClr val="1F2A37"/>
                </a:solidFill>
                <a:latin typeface="Yu Gothic" pitchFamily="34" charset="0"/>
                <a:ea typeface="Yu Gothic" pitchFamily="34" charset="-122"/>
                <a:cs typeface="Yu Gothic" pitchFamily="34" charset="-120"/>
              </a:rPr>
              <a:t>SE-Conformer</a:t>
            </a:r>
            <a:endParaRPr lang="en-US" sz="1300" dirty="0"/>
          </a:p>
          <a:p>
            <a:pPr algn="ctr" indent="0" marL="0">
              <a:buNone/>
            </a:pPr>
            <a:r>
              <a:rPr lang="en-US" sz="1300" b="1" dirty="0">
                <a:solidFill>
                  <a:srgbClr val="B45F1E"/>
                </a:solidFill>
                <a:latin typeface="Yu Gothic" pitchFamily="34" charset="0"/>
                <a:ea typeface="Yu Gothic" pitchFamily="34" charset="-122"/>
                <a:cs typeface="Yu Gothic" pitchFamily="34" charset="-120"/>
              </a:rPr>
              <a:t>学習する</a:t>
            </a:r>
            <a:endParaRPr lang="en-US" sz="1300" dirty="0"/>
          </a:p>
        </p:txBody>
      </p:sp>
      <p:sp>
        <p:nvSpPr>
          <p:cNvPr id="8" name="Shape 6"/>
          <p:cNvSpPr/>
          <p:nvPr/>
        </p:nvSpPr>
        <p:spPr>
          <a:xfrm>
            <a:off x="4855464" y="1938528"/>
            <a:ext cx="256032" cy="237744"/>
          </a:xfrm>
          <a:prstGeom prst="rightArrow">
            <a:avLst/>
          </a:prstGeom>
          <a:solidFill>
            <a:srgbClr val="8A94A3"/>
          </a:solidFill>
          <a:ln w="12700">
            <a:solidFill>
              <a:srgbClr val="8A94A3"/>
            </a:solidFill>
            <a:prstDash val="solid"/>
          </a:ln>
        </p:spPr>
      </p:sp>
      <p:sp>
        <p:nvSpPr>
          <p:cNvPr id="9" name="Shape 7"/>
          <p:cNvSpPr/>
          <p:nvPr/>
        </p:nvSpPr>
        <p:spPr>
          <a:xfrm>
            <a:off x="5184648" y="1600200"/>
            <a:ext cx="1783080" cy="914400"/>
          </a:xfrm>
          <a:prstGeom prst="roundRect">
            <a:avLst>
              <a:gd name="adj" fmla="val 8000"/>
            </a:avLst>
          </a:prstGeom>
          <a:solidFill>
            <a:srgbClr val="FBFAF7"/>
          </a:solidFill>
          <a:ln w="12700">
            <a:solidFill>
              <a:srgbClr val="D8D3C8"/>
            </a:solidFill>
            <a:prstDash val="solid"/>
          </a:ln>
        </p:spPr>
      </p:sp>
      <p:sp>
        <p:nvSpPr>
          <p:cNvPr id="10" name="Text 8"/>
          <p:cNvSpPr/>
          <p:nvPr/>
        </p:nvSpPr>
        <p:spPr>
          <a:xfrm>
            <a:off x="5184648" y="1600200"/>
            <a:ext cx="1783080" cy="914400"/>
          </a:xfrm>
          <a:prstGeom prst="rect">
            <a:avLst/>
          </a:prstGeom>
          <a:noFill/>
          <a:ln/>
        </p:spPr>
        <p:txBody>
          <a:bodyPr wrap="square" lIns="0" tIns="0" rIns="0" bIns="0" rtlCol="0" anchor="ctr"/>
          <a:lstStyle/>
          <a:p>
            <a:pPr algn="ctr" indent="0" marL="0">
              <a:buNone/>
            </a:pPr>
            <a:r>
              <a:rPr lang="en-US" sz="1300" b="1" dirty="0">
                <a:solidFill>
                  <a:srgbClr val="1F2A37"/>
                </a:solidFill>
                <a:latin typeface="Yu Gothic" pitchFamily="34" charset="0"/>
                <a:ea typeface="Yu Gothic" pitchFamily="34" charset="-122"/>
                <a:cs typeface="Yu Gothic" pitchFamily="34" charset="-120"/>
              </a:rPr>
              <a:t>強調音声 ŝ</a:t>
            </a:r>
            <a:endParaRPr lang="en-US" sz="1300" dirty="0"/>
          </a:p>
          <a:p>
            <a:pPr algn="ctr" indent="0" marL="0">
              <a:buNone/>
            </a:pPr>
            <a:r>
              <a:rPr lang="en-US" sz="1300" b="1" dirty="0">
                <a:solidFill>
                  <a:srgbClr val="4A5568"/>
                </a:solidFill>
                <a:latin typeface="Yu Gothic" pitchFamily="34" charset="0"/>
                <a:ea typeface="Yu Gothic" pitchFamily="34" charset="-122"/>
                <a:cs typeface="Yu Gothic" pitchFamily="34" charset="-120"/>
              </a:rPr>
              <a:t>→ log-mel</a:t>
            </a:r>
            <a:endParaRPr lang="en-US" sz="1300" dirty="0"/>
          </a:p>
        </p:txBody>
      </p:sp>
      <p:sp>
        <p:nvSpPr>
          <p:cNvPr id="11" name="Shape 9"/>
          <p:cNvSpPr/>
          <p:nvPr/>
        </p:nvSpPr>
        <p:spPr>
          <a:xfrm>
            <a:off x="7040880" y="1938528"/>
            <a:ext cx="256032" cy="237744"/>
          </a:xfrm>
          <a:prstGeom prst="rightArrow">
            <a:avLst/>
          </a:prstGeom>
          <a:solidFill>
            <a:srgbClr val="8A94A3"/>
          </a:solidFill>
          <a:ln w="12700">
            <a:solidFill>
              <a:srgbClr val="8A94A3"/>
            </a:solidFill>
            <a:prstDash val="solid"/>
          </a:ln>
        </p:spPr>
      </p:sp>
      <p:sp>
        <p:nvSpPr>
          <p:cNvPr id="12" name="Shape 10"/>
          <p:cNvSpPr/>
          <p:nvPr/>
        </p:nvSpPr>
        <p:spPr>
          <a:xfrm>
            <a:off x="7370064" y="1600200"/>
            <a:ext cx="1783080" cy="914400"/>
          </a:xfrm>
          <a:prstGeom prst="roundRect">
            <a:avLst>
              <a:gd name="adj" fmla="val 8000"/>
            </a:avLst>
          </a:prstGeom>
          <a:solidFill>
            <a:srgbClr val="EEF1F4"/>
          </a:solidFill>
          <a:ln w="12700">
            <a:solidFill>
              <a:srgbClr val="8A94A3"/>
            </a:solidFill>
            <a:prstDash val="solid"/>
          </a:ln>
        </p:spPr>
      </p:sp>
      <p:sp>
        <p:nvSpPr>
          <p:cNvPr id="13" name="Text 11"/>
          <p:cNvSpPr/>
          <p:nvPr/>
        </p:nvSpPr>
        <p:spPr>
          <a:xfrm>
            <a:off x="7370064" y="1600200"/>
            <a:ext cx="1783080" cy="914400"/>
          </a:xfrm>
          <a:prstGeom prst="rect">
            <a:avLst/>
          </a:prstGeom>
          <a:noFill/>
          <a:ln/>
        </p:spPr>
        <p:txBody>
          <a:bodyPr wrap="square" lIns="0" tIns="0" rIns="0" bIns="0" rtlCol="0" anchor="ctr"/>
          <a:lstStyle/>
          <a:p>
            <a:pPr algn="ctr" indent="0" marL="0">
              <a:buNone/>
            </a:pPr>
            <a:r>
              <a:rPr lang="en-US" sz="1300" b="1" dirty="0">
                <a:solidFill>
                  <a:srgbClr val="1F2A37"/>
                </a:solidFill>
                <a:latin typeface="Yu Gothic" pitchFamily="34" charset="0"/>
                <a:ea typeface="Yu Gothic" pitchFamily="34" charset="-122"/>
                <a:cs typeface="Yu Gothic" pitchFamily="34" charset="-120"/>
              </a:rPr>
              <a:t>Whisper-small</a:t>
            </a:r>
            <a:endParaRPr lang="en-US" sz="1300" dirty="0"/>
          </a:p>
          <a:p>
            <a:pPr algn="ctr" indent="0" marL="0">
              <a:buNone/>
            </a:pPr>
            <a:r>
              <a:rPr lang="en-US" sz="1300" b="1" dirty="0">
                <a:solidFill>
                  <a:srgbClr val="4A5568"/>
                </a:solidFill>
                <a:latin typeface="Yu Gothic" pitchFamily="34" charset="0"/>
                <a:ea typeface="Yu Gothic" pitchFamily="34" charset="-122"/>
                <a:cs typeface="Yu Gothic" pitchFamily="34" charset="-120"/>
              </a:rPr>
              <a:t>凍結</a:t>
            </a:r>
            <a:endParaRPr lang="en-US" sz="1300" dirty="0"/>
          </a:p>
        </p:txBody>
      </p:sp>
      <p:sp>
        <p:nvSpPr>
          <p:cNvPr id="14" name="Shape 12"/>
          <p:cNvSpPr/>
          <p:nvPr/>
        </p:nvSpPr>
        <p:spPr>
          <a:xfrm>
            <a:off x="9226296" y="1938528"/>
            <a:ext cx="256032" cy="237744"/>
          </a:xfrm>
          <a:prstGeom prst="rightArrow">
            <a:avLst/>
          </a:prstGeom>
          <a:solidFill>
            <a:srgbClr val="8A94A3"/>
          </a:solidFill>
          <a:ln w="12700">
            <a:solidFill>
              <a:srgbClr val="8A94A3"/>
            </a:solidFill>
            <a:prstDash val="solid"/>
          </a:ln>
        </p:spPr>
      </p:sp>
      <p:sp>
        <p:nvSpPr>
          <p:cNvPr id="15" name="Shape 13"/>
          <p:cNvSpPr/>
          <p:nvPr/>
        </p:nvSpPr>
        <p:spPr>
          <a:xfrm>
            <a:off x="9555480" y="1600200"/>
            <a:ext cx="1783080" cy="914400"/>
          </a:xfrm>
          <a:prstGeom prst="roundRect">
            <a:avLst>
              <a:gd name="adj" fmla="val 8000"/>
            </a:avLst>
          </a:prstGeom>
          <a:solidFill>
            <a:srgbClr val="FBFAF7"/>
          </a:solidFill>
          <a:ln w="12700">
            <a:solidFill>
              <a:srgbClr val="D8D3C8"/>
            </a:solidFill>
            <a:prstDash val="solid"/>
          </a:ln>
        </p:spPr>
      </p:sp>
      <p:sp>
        <p:nvSpPr>
          <p:cNvPr id="16" name="Text 14"/>
          <p:cNvSpPr/>
          <p:nvPr/>
        </p:nvSpPr>
        <p:spPr>
          <a:xfrm>
            <a:off x="9555480" y="1600200"/>
            <a:ext cx="1783080" cy="914400"/>
          </a:xfrm>
          <a:prstGeom prst="rect">
            <a:avLst/>
          </a:prstGeom>
          <a:noFill/>
          <a:ln/>
        </p:spPr>
        <p:txBody>
          <a:bodyPr wrap="square" lIns="0" tIns="0" rIns="0" bIns="0" rtlCol="0" anchor="ctr"/>
          <a:lstStyle/>
          <a:p>
            <a:pPr algn="ctr" indent="0" marL="0">
              <a:buNone/>
            </a:pPr>
            <a:r>
              <a:rPr lang="en-US" sz="1300" b="1" dirty="0">
                <a:solidFill>
                  <a:srgbClr val="1F2A37"/>
                </a:solidFill>
                <a:latin typeface="Yu Gothic" pitchFamily="34" charset="0"/>
                <a:ea typeface="Yu Gothic" pitchFamily="34" charset="-122"/>
                <a:cs typeface="Yu Gothic" pitchFamily="34" charset="-120"/>
              </a:rPr>
              <a:t>各トークンの</a:t>
            </a:r>
            <a:endParaRPr lang="en-US" sz="1300" dirty="0"/>
          </a:p>
          <a:p>
            <a:pPr algn="ctr" indent="0" marL="0">
              <a:buNone/>
            </a:pPr>
            <a:r>
              <a:rPr lang="en-US" sz="1300" b="1" dirty="0">
                <a:solidFill>
                  <a:srgbClr val="4A5568"/>
                </a:solidFill>
                <a:latin typeface="Yu Gothic" pitchFamily="34" charset="0"/>
                <a:ea typeface="Yu Gothic" pitchFamily="34" charset="-122"/>
                <a:cs typeface="Yu Gothic" pitchFamily="34" charset="-120"/>
              </a:rPr>
              <a:t>予測確率</a:t>
            </a:r>
            <a:endParaRPr lang="en-US" sz="1300" dirty="0"/>
          </a:p>
        </p:txBody>
      </p:sp>
      <p:sp>
        <p:nvSpPr>
          <p:cNvPr id="17" name="Shape 15"/>
          <p:cNvSpPr/>
          <p:nvPr/>
        </p:nvSpPr>
        <p:spPr>
          <a:xfrm>
            <a:off x="813816" y="2834640"/>
            <a:ext cx="3090395" cy="2331720"/>
          </a:xfrm>
          <a:prstGeom prst="rect">
            <a:avLst/>
          </a:prstGeom>
          <a:solidFill>
            <a:srgbClr val="FBFAF7"/>
          </a:solidFill>
          <a:ln w="12700">
            <a:solidFill>
              <a:srgbClr val="FBFAF7"/>
            </a:solidFill>
            <a:prstDash val="solid"/>
          </a:ln>
        </p:spPr>
      </p:sp>
      <p:sp>
        <p:nvSpPr>
          <p:cNvPr id="18" name="Shape 16"/>
          <p:cNvSpPr/>
          <p:nvPr/>
        </p:nvSpPr>
        <p:spPr>
          <a:xfrm>
            <a:off x="813816" y="2834640"/>
            <a:ext cx="3090395" cy="54864"/>
          </a:xfrm>
          <a:prstGeom prst="rect">
            <a:avLst/>
          </a:prstGeom>
          <a:solidFill>
            <a:srgbClr val="4A5568"/>
          </a:solidFill>
          <a:ln w="12700">
            <a:solidFill>
              <a:srgbClr val="4A5568"/>
            </a:solidFill>
            <a:prstDash val="solid"/>
          </a:ln>
        </p:spPr>
      </p:sp>
      <p:sp>
        <p:nvSpPr>
          <p:cNvPr id="19" name="Text 17"/>
          <p:cNvSpPr/>
          <p:nvPr/>
        </p:nvSpPr>
        <p:spPr>
          <a:xfrm>
            <a:off x="1014984" y="3017520"/>
            <a:ext cx="2688059" cy="365760"/>
          </a:xfrm>
          <a:prstGeom prst="rect">
            <a:avLst/>
          </a:prstGeom>
          <a:noFill/>
          <a:ln/>
        </p:spPr>
        <p:txBody>
          <a:bodyPr wrap="square" lIns="0" tIns="0" rIns="0" bIns="0" rtlCol="0" anchor="t"/>
          <a:lstStyle/>
          <a:p>
            <a:pPr indent="0" marL="0">
              <a:buNone/>
            </a:pPr>
            <a:r>
              <a:rPr lang="en-US" sz="1600" b="1" dirty="0">
                <a:solidFill>
                  <a:srgbClr val="1F2A37"/>
                </a:solidFill>
                <a:latin typeface="Yu Gothic" pitchFamily="34" charset="0"/>
                <a:ea typeface="Yu Gothic" pitchFamily="34" charset="-122"/>
                <a:cs typeface="Yu Gothic" pitchFamily="34" charset="-120"/>
              </a:rPr>
              <a:t>再構成損失</a:t>
            </a:r>
            <a:endParaRPr lang="en-US" sz="1600" dirty="0"/>
          </a:p>
        </p:txBody>
      </p:sp>
      <p:sp>
        <p:nvSpPr>
          <p:cNvPr id="20" name="Text 18"/>
          <p:cNvSpPr/>
          <p:nvPr/>
        </p:nvSpPr>
        <p:spPr>
          <a:xfrm>
            <a:off x="1014984" y="3474720"/>
            <a:ext cx="2688059" cy="1645920"/>
          </a:xfrm>
          <a:prstGeom prst="rect">
            <a:avLst/>
          </a:prstGeom>
          <a:noFill/>
          <a:ln/>
        </p:spPr>
        <p:txBody>
          <a:bodyPr wrap="square" lIns="0" tIns="0" rIns="0" bIns="0" rtlCol="0" anchor="t"/>
          <a:lstStyle/>
          <a:p>
            <a:pPr indent="0" marL="0">
              <a:lnSpc>
                <a:spcPct val="135000"/>
              </a:lnSpc>
              <a:buNone/>
            </a:pPr>
            <a:r>
              <a:rPr lang="en-US" sz="1300" dirty="0">
                <a:solidFill>
                  <a:srgbClr val="1F2A37"/>
                </a:solidFill>
                <a:latin typeface="Yu Gothic" pitchFamily="34" charset="0"/>
                <a:ea typeface="Yu Gothic" pitchFamily="34" charset="-122"/>
                <a:cs typeface="Yu Gothic" pitchFamily="34" charset="-120"/>
              </a:rPr>
              <a:t>ŝ と同時収録の気導音声の差（L1波形＋多解像度STFT）。音として崩れすぎないための歯止め。TAPS SEもこれだけで学習。</a:t>
            </a:r>
            <a:endParaRPr lang="en-US" sz="1300" dirty="0"/>
          </a:p>
        </p:txBody>
      </p:sp>
      <p:sp>
        <p:nvSpPr>
          <p:cNvPr id="21" name="Shape 19"/>
          <p:cNvSpPr/>
          <p:nvPr/>
        </p:nvSpPr>
        <p:spPr>
          <a:xfrm>
            <a:off x="4087091" y="2834640"/>
            <a:ext cx="4017513" cy="2331720"/>
          </a:xfrm>
          <a:prstGeom prst="rect">
            <a:avLst/>
          </a:prstGeom>
          <a:solidFill>
            <a:srgbClr val="FBFAF7"/>
          </a:solidFill>
          <a:ln w="12700">
            <a:solidFill>
              <a:srgbClr val="FBFAF7"/>
            </a:solidFill>
            <a:prstDash val="solid"/>
          </a:ln>
        </p:spPr>
      </p:sp>
      <p:sp>
        <p:nvSpPr>
          <p:cNvPr id="22" name="Shape 20"/>
          <p:cNvSpPr/>
          <p:nvPr/>
        </p:nvSpPr>
        <p:spPr>
          <a:xfrm>
            <a:off x="4087091" y="2834640"/>
            <a:ext cx="4017513" cy="54864"/>
          </a:xfrm>
          <a:prstGeom prst="rect">
            <a:avLst/>
          </a:prstGeom>
          <a:solidFill>
            <a:srgbClr val="D9772B"/>
          </a:solidFill>
          <a:ln w="12700">
            <a:solidFill>
              <a:srgbClr val="D9772B"/>
            </a:solidFill>
            <a:prstDash val="solid"/>
          </a:ln>
        </p:spPr>
      </p:sp>
      <p:sp>
        <p:nvSpPr>
          <p:cNvPr id="23" name="Text 21"/>
          <p:cNvSpPr/>
          <p:nvPr/>
        </p:nvSpPr>
        <p:spPr>
          <a:xfrm>
            <a:off x="4288259" y="3017520"/>
            <a:ext cx="3615177" cy="365760"/>
          </a:xfrm>
          <a:prstGeom prst="rect">
            <a:avLst/>
          </a:prstGeom>
          <a:noFill/>
          <a:ln/>
        </p:spPr>
        <p:txBody>
          <a:bodyPr wrap="square" lIns="0" tIns="0" rIns="0" bIns="0" rtlCol="0" anchor="t"/>
          <a:lstStyle/>
          <a:p>
            <a:pPr indent="0" marL="0">
              <a:buNone/>
            </a:pPr>
            <a:r>
              <a:rPr lang="en-US" sz="1600" b="1" dirty="0">
                <a:solidFill>
                  <a:srgbClr val="B45F1E"/>
                </a:solidFill>
                <a:latin typeface="Yu Gothic" pitchFamily="34" charset="0"/>
                <a:ea typeface="Yu Gothic" pitchFamily="34" charset="-122"/>
                <a:cs typeface="Yu Gothic" pitchFamily="34" charset="-120"/>
              </a:rPr>
              <a:t>CE損失（ASR損失）</a:t>
            </a:r>
            <a:endParaRPr lang="en-US" sz="1600" dirty="0"/>
          </a:p>
        </p:txBody>
      </p:sp>
      <p:sp>
        <p:nvSpPr>
          <p:cNvPr id="24" name="Text 22"/>
          <p:cNvSpPr/>
          <p:nvPr/>
        </p:nvSpPr>
        <p:spPr>
          <a:xfrm>
            <a:off x="4288259" y="3474720"/>
            <a:ext cx="3615177" cy="1645920"/>
          </a:xfrm>
          <a:prstGeom prst="rect">
            <a:avLst/>
          </a:prstGeom>
          <a:noFill/>
          <a:ln/>
        </p:spPr>
        <p:txBody>
          <a:bodyPr wrap="square" lIns="0" tIns="0" rIns="0" bIns="0" rtlCol="0" anchor="t"/>
          <a:lstStyle/>
          <a:p>
            <a:pPr indent="0" marL="0">
              <a:lnSpc>
                <a:spcPct val="135000"/>
              </a:lnSpc>
              <a:buNone/>
            </a:pPr>
            <a:r>
              <a:rPr lang="en-US" sz="1300" dirty="0">
                <a:solidFill>
                  <a:srgbClr val="1F2A37"/>
                </a:solidFill>
                <a:latin typeface="Yu Gothic" pitchFamily="34" charset="0"/>
                <a:ea typeface="Yu Gothic" pitchFamily="34" charset="-122"/>
                <a:cs typeface="Yu Gothic" pitchFamily="34" charset="-120"/>
              </a:rPr>
              <a:t>正解テキストをWhisperのトークン列にし、1つ前までの</a:t>
            </a:r>
            <a:pPr indent="0" marL="0">
              <a:lnSpc>
                <a:spcPct val="135000"/>
              </a:lnSpc>
              <a:buNone/>
            </a:pPr>
            <a:r>
              <a:rPr lang="en-US" sz="1300" b="1" dirty="0">
                <a:solidFill>
                  <a:srgbClr val="1F2A37"/>
                </a:solidFill>
                <a:latin typeface="Yu Gothic" pitchFamily="34" charset="0"/>
                <a:ea typeface="Yu Gothic" pitchFamily="34" charset="-122"/>
                <a:cs typeface="Yu Gothic" pitchFamily="34" charset="-120"/>
              </a:rPr>
              <a:t>正解</a:t>
            </a:r>
            <a:pPr indent="0" marL="0">
              <a:lnSpc>
                <a:spcPct val="135000"/>
              </a:lnSpc>
              <a:buNone/>
            </a:pPr>
            <a:r>
              <a:rPr lang="en-US" sz="1300" dirty="0">
                <a:solidFill>
                  <a:srgbClr val="1F2A37"/>
                </a:solidFill>
                <a:latin typeface="Yu Gothic" pitchFamily="34" charset="0"/>
                <a:ea typeface="Yu Gothic" pitchFamily="34" charset="-122"/>
                <a:cs typeface="Yu Gothic" pitchFamily="34" charset="-120"/>
              </a:rPr>
              <a:t>を与えて次のトークンを予測させる（teacher forcing）。正解トークンの確率の −log を全トークンで平均。</a:t>
            </a:r>
            <a:pPr indent="0" marL="0">
              <a:lnSpc>
                <a:spcPct val="135000"/>
              </a:lnSpc>
              <a:buNone/>
            </a:pPr>
            <a:r>
              <a:rPr lang="en-US" sz="1300" b="1" dirty="0">
                <a:solidFill>
                  <a:srgbClr val="1F2A37"/>
                </a:solidFill>
                <a:latin typeface="Yu Gothic" pitchFamily="34" charset="0"/>
                <a:ea typeface="Yu Gothic" pitchFamily="34" charset="-122"/>
                <a:cs typeface="Yu Gothic" pitchFamily="34" charset="-120"/>
              </a:rPr>
              <a:t>Whisperが正解を書き起こしやすい音</a:t>
            </a:r>
            <a:pPr indent="0" marL="0">
              <a:lnSpc>
                <a:spcPct val="135000"/>
              </a:lnSpc>
              <a:buNone/>
            </a:pPr>
            <a:r>
              <a:rPr lang="en-US" sz="1300" dirty="0">
                <a:solidFill>
                  <a:srgbClr val="1F2A37"/>
                </a:solidFill>
                <a:latin typeface="Yu Gothic" pitchFamily="34" charset="0"/>
                <a:ea typeface="Yu Gothic" pitchFamily="34" charset="-122"/>
                <a:cs typeface="Yu Gothic" pitchFamily="34" charset="-120"/>
              </a:rPr>
              <a:t>ほど小さい。</a:t>
            </a:r>
            <a:endParaRPr lang="en-US" sz="1300" dirty="0"/>
          </a:p>
        </p:txBody>
      </p:sp>
      <p:sp>
        <p:nvSpPr>
          <p:cNvPr id="25" name="Shape 23"/>
          <p:cNvSpPr/>
          <p:nvPr/>
        </p:nvSpPr>
        <p:spPr>
          <a:xfrm>
            <a:off x="8287484" y="2834640"/>
            <a:ext cx="3090395" cy="2331720"/>
          </a:xfrm>
          <a:prstGeom prst="rect">
            <a:avLst/>
          </a:prstGeom>
          <a:solidFill>
            <a:srgbClr val="FBFAF7"/>
          </a:solidFill>
          <a:ln w="12700">
            <a:solidFill>
              <a:srgbClr val="FBFAF7"/>
            </a:solidFill>
            <a:prstDash val="solid"/>
          </a:ln>
        </p:spPr>
      </p:sp>
      <p:sp>
        <p:nvSpPr>
          <p:cNvPr id="26" name="Shape 24"/>
          <p:cNvSpPr/>
          <p:nvPr/>
        </p:nvSpPr>
        <p:spPr>
          <a:xfrm>
            <a:off x="8287484" y="2834640"/>
            <a:ext cx="3090395" cy="54864"/>
          </a:xfrm>
          <a:prstGeom prst="rect">
            <a:avLst/>
          </a:prstGeom>
          <a:solidFill>
            <a:srgbClr val="2F6FB0"/>
          </a:solidFill>
          <a:ln w="12700">
            <a:solidFill>
              <a:srgbClr val="2F6FB0"/>
            </a:solidFill>
            <a:prstDash val="solid"/>
          </a:ln>
        </p:spPr>
      </p:sp>
      <p:sp>
        <p:nvSpPr>
          <p:cNvPr id="27" name="Text 25"/>
          <p:cNvSpPr/>
          <p:nvPr/>
        </p:nvSpPr>
        <p:spPr>
          <a:xfrm>
            <a:off x="8488652" y="3017520"/>
            <a:ext cx="2688059" cy="365760"/>
          </a:xfrm>
          <a:prstGeom prst="rect">
            <a:avLst/>
          </a:prstGeom>
          <a:noFill/>
          <a:ln/>
        </p:spPr>
        <p:txBody>
          <a:bodyPr wrap="square" lIns="0" tIns="0" rIns="0" bIns="0" rtlCol="0" anchor="t"/>
          <a:lstStyle/>
          <a:p>
            <a:pPr indent="0" marL="0">
              <a:buNone/>
            </a:pPr>
            <a:r>
              <a:rPr lang="en-US" sz="1600" b="1" dirty="0">
                <a:solidFill>
                  <a:srgbClr val="2F6FB0"/>
                </a:solidFill>
                <a:latin typeface="Yu Gothic" pitchFamily="34" charset="0"/>
                <a:ea typeface="Yu Gothic" pitchFamily="34" charset="-122"/>
                <a:cs typeface="Yu Gothic" pitchFamily="34" charset="-120"/>
              </a:rPr>
              <a:t>更新されるのはSEだけ</a:t>
            </a:r>
            <a:endParaRPr lang="en-US" sz="1600" dirty="0"/>
          </a:p>
        </p:txBody>
      </p:sp>
      <p:sp>
        <p:nvSpPr>
          <p:cNvPr id="28" name="Text 26"/>
          <p:cNvSpPr/>
          <p:nvPr/>
        </p:nvSpPr>
        <p:spPr>
          <a:xfrm>
            <a:off x="8488652" y="3474720"/>
            <a:ext cx="2688059" cy="1645920"/>
          </a:xfrm>
          <a:prstGeom prst="rect">
            <a:avLst/>
          </a:prstGeom>
          <a:noFill/>
          <a:ln/>
        </p:spPr>
        <p:txBody>
          <a:bodyPr wrap="square" lIns="0" tIns="0" rIns="0" bIns="0" rtlCol="0" anchor="t"/>
          <a:lstStyle/>
          <a:p>
            <a:pPr indent="0" marL="0">
              <a:lnSpc>
                <a:spcPct val="135000"/>
              </a:lnSpc>
              <a:buNone/>
            </a:pPr>
            <a:r>
              <a:rPr lang="en-US" sz="1300" dirty="0">
                <a:solidFill>
                  <a:srgbClr val="1F2A37"/>
                </a:solidFill>
                <a:latin typeface="Yu Gothic" pitchFamily="34" charset="0"/>
                <a:ea typeface="Yu Gothic" pitchFamily="34" charset="-122"/>
                <a:cs typeface="Yu Gothic" pitchFamily="34" charset="-120"/>
              </a:rPr>
              <a:t>勾配はWhisper → log-mel変換 → SEへ逆伝播。Whisperの重みは変えない。TAPS SEから初期化し追加学習。</a:t>
            </a:r>
            <a:endParaRPr lang="en-US" sz="1300" dirty="0"/>
          </a:p>
        </p:txBody>
      </p:sp>
      <p:sp>
        <p:nvSpPr>
          <p:cNvPr id="29" name="Shape 27"/>
          <p:cNvSpPr/>
          <p:nvPr/>
        </p:nvSpPr>
        <p:spPr>
          <a:xfrm>
            <a:off x="813816" y="5440680"/>
            <a:ext cx="10564063" cy="548640"/>
          </a:xfrm>
          <a:prstGeom prst="roundRect">
            <a:avLst>
              <a:gd name="adj" fmla="val 13333"/>
            </a:avLst>
          </a:prstGeom>
          <a:solidFill>
            <a:srgbClr val="EEF1F4"/>
          </a:solidFill>
          <a:ln w="12700">
            <a:solidFill>
              <a:srgbClr val="EEF1F4"/>
            </a:solidFill>
            <a:prstDash val="solid"/>
          </a:ln>
        </p:spPr>
      </p:sp>
      <p:sp>
        <p:nvSpPr>
          <p:cNvPr id="30" name="Text 28"/>
          <p:cNvSpPr/>
          <p:nvPr/>
        </p:nvSpPr>
        <p:spPr>
          <a:xfrm>
            <a:off x="996696" y="5440680"/>
            <a:ext cx="10198303" cy="548640"/>
          </a:xfrm>
          <a:prstGeom prst="rect">
            <a:avLst/>
          </a:prstGeom>
          <a:noFill/>
          <a:ln/>
        </p:spPr>
        <p:txBody>
          <a:bodyPr wrap="square" lIns="0" tIns="0" rIns="0" bIns="0" rtlCol="0" anchor="ctr"/>
          <a:lstStyle/>
          <a:p>
            <a:pPr indent="0" marL="0">
              <a:buNone/>
            </a:pPr>
            <a:r>
              <a:rPr lang="en-US" sz="1500" b="1" dirty="0">
                <a:solidFill>
                  <a:srgbClr val="1F2A37"/>
                </a:solidFill>
                <a:latin typeface="Yu Gothic" pitchFamily="34" charset="0"/>
                <a:ea typeface="Yu Gothic" pitchFamily="34" charset="-122"/>
                <a:cs typeface="Yu Gothic" pitchFamily="34" charset="-120"/>
              </a:rPr>
              <a:t>L = 再構成損失 ＋ λ × CE損失　（λ：損失の重み、devで選択）</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3816" y="640080"/>
            <a:ext cx="10564063" cy="731520"/>
          </a:xfrm>
          <a:prstGeom prst="rect">
            <a:avLst/>
          </a:prstGeom>
          <a:noFill/>
          <a:ln/>
        </p:spPr>
        <p:txBody>
          <a:bodyPr wrap="square" lIns="0" tIns="0" rIns="0" bIns="0" rtlCol="0" anchor="t"/>
          <a:lstStyle/>
          <a:p>
            <a:pPr indent="0" marL="0">
              <a:buNone/>
            </a:pPr>
            <a:r>
              <a:rPr lang="en-US" sz="3000" b="1" dirty="0">
                <a:solidFill>
                  <a:srgbClr val="1F2A37"/>
                </a:solidFill>
                <a:latin typeface="Yu Gothic" pitchFamily="34" charset="0"/>
                <a:ea typeface="Yu Gothic" pitchFamily="34" charset="-122"/>
                <a:cs typeface="Yu Gothic" pitchFamily="34" charset="-120"/>
              </a:rPr>
              <a:t>わかったこと</a:t>
            </a:r>
            <a:endParaRPr lang="en-US" sz="3000" dirty="0"/>
          </a:p>
        </p:txBody>
      </p:sp>
      <p:sp>
        <p:nvSpPr>
          <p:cNvPr id="3" name="Shape 1"/>
          <p:cNvSpPr/>
          <p:nvPr/>
        </p:nvSpPr>
        <p:spPr>
          <a:xfrm>
            <a:off x="813816" y="1600200"/>
            <a:ext cx="10564063" cy="0"/>
          </a:xfrm>
          <a:prstGeom prst="line">
            <a:avLst/>
          </a:prstGeom>
          <a:noFill/>
          <a:ln w="12700">
            <a:solidFill>
              <a:srgbClr val="D8D3C8"/>
            </a:solidFill>
            <a:prstDash val="solid"/>
          </a:ln>
        </p:spPr>
      </p:sp>
      <p:sp>
        <p:nvSpPr>
          <p:cNvPr id="4" name="Text 2"/>
          <p:cNvSpPr/>
          <p:nvPr/>
        </p:nvSpPr>
        <p:spPr>
          <a:xfrm>
            <a:off x="813816" y="1709928"/>
            <a:ext cx="2743200" cy="804672"/>
          </a:xfrm>
          <a:prstGeom prst="rect">
            <a:avLst/>
          </a:prstGeom>
          <a:noFill/>
          <a:ln/>
        </p:spPr>
        <p:txBody>
          <a:bodyPr wrap="square" lIns="0" tIns="0" rIns="0" bIns="0" rtlCol="0" anchor="ctr"/>
          <a:lstStyle/>
          <a:p>
            <a:pPr indent="0" marL="0">
              <a:buNone/>
            </a:pPr>
            <a:r>
              <a:rPr lang="en-US" sz="1700" b="1" dirty="0">
                <a:solidFill>
                  <a:srgbClr val="2F6FB0"/>
                </a:solidFill>
                <a:latin typeface="Yu Gothic" pitchFamily="34" charset="0"/>
                <a:ea typeface="Yu Gothic" pitchFamily="34" charset="-122"/>
                <a:cs typeface="Yu Gothic" pitchFamily="34" charset="-120"/>
              </a:rPr>
              <a:t>学習に使ったWhisper</a:t>
            </a:r>
            <a:endParaRPr lang="en-US" sz="1700" dirty="0"/>
          </a:p>
        </p:txBody>
      </p:sp>
      <p:sp>
        <p:nvSpPr>
          <p:cNvPr id="5" name="Text 3"/>
          <p:cNvSpPr/>
          <p:nvPr/>
        </p:nvSpPr>
        <p:spPr>
          <a:xfrm>
            <a:off x="3739896" y="1709928"/>
            <a:ext cx="7637983" cy="804672"/>
          </a:xfrm>
          <a:prstGeom prst="rect">
            <a:avLst/>
          </a:prstGeom>
          <a:noFill/>
          <a:ln/>
        </p:spPr>
        <p:txBody>
          <a:bodyPr wrap="square" lIns="0" tIns="0" rIns="0" bIns="0" rtlCol="0" anchor="ctr"/>
          <a:lstStyle/>
          <a:p>
            <a:pPr indent="0" marL="0">
              <a:lnSpc>
                <a:spcPct val="130000"/>
              </a:lnSpc>
              <a:buNone/>
            </a:pPr>
            <a:r>
              <a:rPr lang="en-US" sz="1700" dirty="0">
                <a:solidFill>
                  <a:srgbClr val="1F2A37"/>
                </a:solidFill>
                <a:latin typeface="Yu Gothic" pitchFamily="34" charset="0"/>
                <a:ea typeface="Yu Gothic" pitchFamily="34" charset="-122"/>
                <a:cs typeface="Yu Gothic" pitchFamily="34" charset="-120"/>
              </a:rPr>
              <a:t>CERは</a:t>
            </a:r>
            <a:pPr indent="0" marL="0">
              <a:lnSpc>
                <a:spcPct val="130000"/>
              </a:lnSpc>
              <a:buNone/>
            </a:pPr>
            <a:r>
              <a:rPr lang="en-US" sz="1700" b="1" dirty="0">
                <a:solidFill>
                  <a:srgbClr val="1F2A37"/>
                </a:solidFill>
                <a:latin typeface="Yu Gothic" pitchFamily="34" charset="0"/>
                <a:ea typeface="Yu Gothic" pitchFamily="34" charset="-122"/>
                <a:cs typeface="Yu Gothic" pitchFamily="34" charset="-120"/>
              </a:rPr>
              <a:t>改善する</a:t>
            </a:r>
            <a:pPr indent="0" marL="0">
              <a:lnSpc>
                <a:spcPct val="130000"/>
              </a:lnSpc>
              <a:buNone/>
            </a:pPr>
            <a:r>
              <a:rPr lang="en-US" sz="1700" dirty="0">
                <a:solidFill>
                  <a:srgbClr val="1F2A37"/>
                </a:solidFill>
                <a:latin typeface="Yu Gothic" pitchFamily="34" charset="0"/>
                <a:ea typeface="Yu Gothic" pitchFamily="34" charset="-122"/>
                <a:cs typeface="Yu Gothic" pitchFamily="34" charset="-120"/>
              </a:rPr>
              <a:t>。Whisper-mediumにも持ち越されるが、baseでははっきりしない</a:t>
            </a:r>
            <a:endParaRPr lang="en-US" sz="1700" dirty="0"/>
          </a:p>
        </p:txBody>
      </p:sp>
      <p:sp>
        <p:nvSpPr>
          <p:cNvPr id="6" name="Shape 4"/>
          <p:cNvSpPr/>
          <p:nvPr/>
        </p:nvSpPr>
        <p:spPr>
          <a:xfrm>
            <a:off x="813816" y="2624328"/>
            <a:ext cx="10564063" cy="0"/>
          </a:xfrm>
          <a:prstGeom prst="line">
            <a:avLst/>
          </a:prstGeom>
          <a:noFill/>
          <a:ln w="12700">
            <a:solidFill>
              <a:srgbClr val="D8D3C8"/>
            </a:solidFill>
            <a:prstDash val="solid"/>
          </a:ln>
        </p:spPr>
      </p:sp>
      <p:sp>
        <p:nvSpPr>
          <p:cNvPr id="7" name="Text 5"/>
          <p:cNvSpPr/>
          <p:nvPr/>
        </p:nvSpPr>
        <p:spPr>
          <a:xfrm>
            <a:off x="813816" y="2734056"/>
            <a:ext cx="2743200" cy="804672"/>
          </a:xfrm>
          <a:prstGeom prst="rect">
            <a:avLst/>
          </a:prstGeom>
          <a:noFill/>
          <a:ln/>
        </p:spPr>
        <p:txBody>
          <a:bodyPr wrap="square" lIns="0" tIns="0" rIns="0" bIns="0" rtlCol="0" anchor="ctr"/>
          <a:lstStyle/>
          <a:p>
            <a:pPr indent="0" marL="0">
              <a:buNone/>
            </a:pPr>
            <a:r>
              <a:rPr lang="en-US" sz="1700" b="1" dirty="0">
                <a:solidFill>
                  <a:srgbClr val="B45F1E"/>
                </a:solidFill>
                <a:latin typeface="Yu Gothic" pitchFamily="34" charset="0"/>
                <a:ea typeface="Yu Gothic" pitchFamily="34" charset="-122"/>
                <a:cs typeface="Yu Gothic" pitchFamily="34" charset="-120"/>
              </a:rPr>
              <a:t>Whisper以外のASR</a:t>
            </a:r>
            <a:endParaRPr lang="en-US" sz="1700" dirty="0"/>
          </a:p>
        </p:txBody>
      </p:sp>
      <p:sp>
        <p:nvSpPr>
          <p:cNvPr id="8" name="Text 6"/>
          <p:cNvSpPr/>
          <p:nvPr/>
        </p:nvSpPr>
        <p:spPr>
          <a:xfrm>
            <a:off x="3739896" y="2734056"/>
            <a:ext cx="7637983" cy="804672"/>
          </a:xfrm>
          <a:prstGeom prst="rect">
            <a:avLst/>
          </a:prstGeom>
          <a:noFill/>
          <a:ln/>
        </p:spPr>
        <p:txBody>
          <a:bodyPr wrap="square" lIns="0" tIns="0" rIns="0" bIns="0" rtlCol="0" anchor="ctr"/>
          <a:lstStyle/>
          <a:p>
            <a:pPr indent="0" marL="0">
              <a:lnSpc>
                <a:spcPct val="130000"/>
              </a:lnSpc>
              <a:buNone/>
            </a:pPr>
            <a:r>
              <a:rPr lang="en-US" sz="1700" dirty="0">
                <a:solidFill>
                  <a:srgbClr val="1F2A37"/>
                </a:solidFill>
                <a:latin typeface="Yu Gothic" pitchFamily="34" charset="0"/>
                <a:ea typeface="Yu Gothic" pitchFamily="34" charset="-122"/>
                <a:cs typeface="Yu Gothic" pitchFamily="34" charset="-120"/>
              </a:rPr>
              <a:t>wav2vec2系では</a:t>
            </a:r>
            <a:pPr indent="0" marL="0">
              <a:lnSpc>
                <a:spcPct val="130000"/>
              </a:lnSpc>
              <a:buNone/>
            </a:pPr>
            <a:r>
              <a:rPr lang="en-US" sz="1700" b="1" dirty="0">
                <a:solidFill>
                  <a:srgbClr val="1F2A37"/>
                </a:solidFill>
                <a:latin typeface="Yu Gothic" pitchFamily="34" charset="0"/>
                <a:ea typeface="Yu Gothic" pitchFamily="34" charset="-122"/>
                <a:cs typeface="Yu Gothic" pitchFamily="34" charset="-120"/>
              </a:rPr>
              <a:t>改善しない</a:t>
            </a:r>
            <a:pPr indent="0" marL="0">
              <a:lnSpc>
                <a:spcPct val="130000"/>
              </a:lnSpc>
              <a:buNone/>
            </a:pPr>
            <a:r>
              <a:rPr lang="en-US" sz="1700" dirty="0">
                <a:solidFill>
                  <a:srgbClr val="1F2A37"/>
                </a:solidFill>
                <a:latin typeface="Yu Gothic" pitchFamily="34" charset="0"/>
                <a:ea typeface="Yu Gothic" pitchFamily="34" charset="-122"/>
                <a:cs typeface="Yu Gothic" pitchFamily="34" charset="-120"/>
              </a:rPr>
              <a:t>。XLS-Rでははっきり悪化、MMSではほぼ変わらない</a:t>
            </a:r>
            <a:endParaRPr lang="en-US" sz="1700" dirty="0"/>
          </a:p>
        </p:txBody>
      </p:sp>
      <p:sp>
        <p:nvSpPr>
          <p:cNvPr id="9" name="Shape 7"/>
          <p:cNvSpPr/>
          <p:nvPr/>
        </p:nvSpPr>
        <p:spPr>
          <a:xfrm>
            <a:off x="813816" y="3648456"/>
            <a:ext cx="10564063" cy="0"/>
          </a:xfrm>
          <a:prstGeom prst="line">
            <a:avLst/>
          </a:prstGeom>
          <a:noFill/>
          <a:ln w="12700">
            <a:solidFill>
              <a:srgbClr val="D8D3C8"/>
            </a:solidFill>
            <a:prstDash val="solid"/>
          </a:ln>
        </p:spPr>
      </p:sp>
      <p:sp>
        <p:nvSpPr>
          <p:cNvPr id="10" name="Text 8"/>
          <p:cNvSpPr/>
          <p:nvPr/>
        </p:nvSpPr>
        <p:spPr>
          <a:xfrm>
            <a:off x="813816" y="3758184"/>
            <a:ext cx="2743200" cy="804672"/>
          </a:xfrm>
          <a:prstGeom prst="rect">
            <a:avLst/>
          </a:prstGeom>
          <a:noFill/>
          <a:ln/>
        </p:spPr>
        <p:txBody>
          <a:bodyPr wrap="square" lIns="0" tIns="0" rIns="0" bIns="0" rtlCol="0" anchor="ctr"/>
          <a:lstStyle/>
          <a:p>
            <a:pPr indent="0" marL="0">
              <a:buNone/>
            </a:pPr>
            <a:r>
              <a:rPr lang="en-US" sz="1700" b="1" dirty="0">
                <a:solidFill>
                  <a:srgbClr val="1F2A37"/>
                </a:solidFill>
                <a:latin typeface="Yu Gothic" pitchFamily="34" charset="0"/>
                <a:ea typeface="Yu Gothic" pitchFamily="34" charset="-122"/>
                <a:cs typeface="Yu Gothic" pitchFamily="34" charset="-120"/>
              </a:rPr>
              <a:t>改善の中身</a:t>
            </a:r>
            <a:endParaRPr lang="en-US" sz="1700" dirty="0"/>
          </a:p>
        </p:txBody>
      </p:sp>
      <p:sp>
        <p:nvSpPr>
          <p:cNvPr id="11" name="Text 9"/>
          <p:cNvSpPr/>
          <p:nvPr/>
        </p:nvSpPr>
        <p:spPr>
          <a:xfrm>
            <a:off x="3739896" y="3758184"/>
            <a:ext cx="7637983" cy="804672"/>
          </a:xfrm>
          <a:prstGeom prst="rect">
            <a:avLst/>
          </a:prstGeom>
          <a:noFill/>
          <a:ln/>
        </p:spPr>
        <p:txBody>
          <a:bodyPr wrap="square" lIns="0" tIns="0" rIns="0" bIns="0" rtlCol="0" anchor="ctr"/>
          <a:lstStyle/>
          <a:p>
            <a:pPr indent="0" marL="0">
              <a:lnSpc>
                <a:spcPct val="130000"/>
              </a:lnSpc>
              <a:buNone/>
            </a:pPr>
            <a:r>
              <a:rPr lang="en-US" sz="1700" dirty="0">
                <a:solidFill>
                  <a:srgbClr val="1F2A37"/>
                </a:solidFill>
                <a:latin typeface="Yu Gothic" pitchFamily="34" charset="0"/>
                <a:ea typeface="Yu Gothic" pitchFamily="34" charset="-122"/>
                <a:cs typeface="Yu Gothic" pitchFamily="34" charset="-120"/>
              </a:rPr>
              <a:t>一部は、Whisperが</a:t>
            </a:r>
            <a:pPr indent="0" marL="0">
              <a:lnSpc>
                <a:spcPct val="130000"/>
              </a:lnSpc>
              <a:buNone/>
            </a:pPr>
            <a:r>
              <a:rPr lang="en-US" sz="1700" b="1" dirty="0">
                <a:solidFill>
                  <a:srgbClr val="1F2A37"/>
                </a:solidFill>
                <a:latin typeface="Yu Gothic" pitchFamily="34" charset="0"/>
                <a:ea typeface="Yu Gothic" pitchFamily="34" charset="-122"/>
                <a:cs typeface="Yu Gothic" pitchFamily="34" charset="-120"/>
              </a:rPr>
              <a:t>句読点を出さなくなった</a:t>
            </a:r>
            <a:pPr indent="0" marL="0">
              <a:lnSpc>
                <a:spcPct val="130000"/>
              </a:lnSpc>
              <a:buNone/>
            </a:pPr>
            <a:r>
              <a:rPr lang="en-US" sz="1700" dirty="0">
                <a:solidFill>
                  <a:srgbClr val="1F2A37"/>
                </a:solidFill>
                <a:latin typeface="Yu Gothic" pitchFamily="34" charset="0"/>
                <a:ea typeface="Yu Gothic" pitchFamily="34" charset="-122"/>
                <a:cs typeface="Yu Gothic" pitchFamily="34" charset="-120"/>
              </a:rPr>
              <a:t>だけ（正解テキストに句読点がないため）。評価をそろえると改善は小さくなるが、残る</a:t>
            </a:r>
            <a:endParaRPr lang="en-US" sz="1700" dirty="0"/>
          </a:p>
        </p:txBody>
      </p:sp>
      <p:sp>
        <p:nvSpPr>
          <p:cNvPr id="12" name="Shape 10"/>
          <p:cNvSpPr/>
          <p:nvPr/>
        </p:nvSpPr>
        <p:spPr>
          <a:xfrm>
            <a:off x="813816" y="4672584"/>
            <a:ext cx="10564063" cy="0"/>
          </a:xfrm>
          <a:prstGeom prst="line">
            <a:avLst/>
          </a:prstGeom>
          <a:noFill/>
          <a:ln w="12700">
            <a:solidFill>
              <a:srgbClr val="D8D3C8"/>
            </a:solidFill>
            <a:prstDash val="solid"/>
          </a:ln>
        </p:spPr>
      </p:sp>
      <p:sp>
        <p:nvSpPr>
          <p:cNvPr id="13" name="Text 11"/>
          <p:cNvSpPr/>
          <p:nvPr/>
        </p:nvSpPr>
        <p:spPr>
          <a:xfrm>
            <a:off x="813816" y="4782312"/>
            <a:ext cx="2743200" cy="804672"/>
          </a:xfrm>
          <a:prstGeom prst="rect">
            <a:avLst/>
          </a:prstGeom>
          <a:noFill/>
          <a:ln/>
        </p:spPr>
        <p:txBody>
          <a:bodyPr wrap="square" lIns="0" tIns="0" rIns="0" bIns="0" rtlCol="0" anchor="ctr"/>
          <a:lstStyle/>
          <a:p>
            <a:pPr indent="0" marL="0">
              <a:buNone/>
            </a:pPr>
            <a:r>
              <a:rPr lang="en-US" sz="1700" b="1" dirty="0">
                <a:solidFill>
                  <a:srgbClr val="1F2A37"/>
                </a:solidFill>
                <a:latin typeface="Yu Gothic" pitchFamily="34" charset="0"/>
                <a:ea typeface="Yu Gothic" pitchFamily="34" charset="-122"/>
                <a:cs typeface="Yu Gothic" pitchFamily="34" charset="-120"/>
              </a:rPr>
              <a:t>知覚品質</a:t>
            </a:r>
            <a:endParaRPr lang="en-US" sz="1700" dirty="0"/>
          </a:p>
        </p:txBody>
      </p:sp>
      <p:sp>
        <p:nvSpPr>
          <p:cNvPr id="14" name="Text 12"/>
          <p:cNvSpPr/>
          <p:nvPr/>
        </p:nvSpPr>
        <p:spPr>
          <a:xfrm>
            <a:off x="3739896" y="4782312"/>
            <a:ext cx="7637983" cy="804672"/>
          </a:xfrm>
          <a:prstGeom prst="rect">
            <a:avLst/>
          </a:prstGeom>
          <a:noFill/>
          <a:ln/>
        </p:spPr>
        <p:txBody>
          <a:bodyPr wrap="square" lIns="0" tIns="0" rIns="0" bIns="0" rtlCol="0" anchor="ctr"/>
          <a:lstStyle/>
          <a:p>
            <a:pPr indent="0" marL="0">
              <a:lnSpc>
                <a:spcPct val="130000"/>
              </a:lnSpc>
              <a:buNone/>
            </a:pPr>
            <a:r>
              <a:rPr lang="en-US" sz="1700" dirty="0">
                <a:solidFill>
                  <a:srgbClr val="1F2A37"/>
                </a:solidFill>
                <a:latin typeface="Yu Gothic" pitchFamily="34" charset="0"/>
                <a:ea typeface="Yu Gothic" pitchFamily="34" charset="-122"/>
                <a:cs typeface="Yu Gothic" pitchFamily="34" charset="-120"/>
              </a:rPr>
              <a:t>STOI・PESQは下がる。気導音声らしい音ではなく、</a:t>
            </a:r>
            <a:pPr indent="0" marL="0">
              <a:lnSpc>
                <a:spcPct val="130000"/>
              </a:lnSpc>
              <a:buNone/>
            </a:pPr>
            <a:r>
              <a:rPr lang="en-US" sz="1700" b="1" dirty="0">
                <a:solidFill>
                  <a:srgbClr val="1F2A37"/>
                </a:solidFill>
                <a:latin typeface="Yu Gothic" pitchFamily="34" charset="0"/>
                <a:ea typeface="Yu Gothic" pitchFamily="34" charset="-122"/>
                <a:cs typeface="Yu Gothic" pitchFamily="34" charset="-120"/>
              </a:rPr>
              <a:t>Whisperが読みやすい音</a:t>
            </a:r>
            <a:pPr indent="0" marL="0">
              <a:lnSpc>
                <a:spcPct val="130000"/>
              </a:lnSpc>
              <a:buNone/>
            </a:pPr>
            <a:r>
              <a:rPr lang="en-US" sz="1700" dirty="0">
                <a:solidFill>
                  <a:srgbClr val="1F2A37"/>
                </a:solidFill>
                <a:latin typeface="Yu Gothic" pitchFamily="34" charset="0"/>
                <a:ea typeface="Yu Gothic" pitchFamily="34" charset="-122"/>
                <a:cs typeface="Yu Gothic" pitchFamily="34" charset="-120"/>
              </a:rPr>
              <a:t>を作っている</a:t>
            </a:r>
            <a:endParaRPr lang="en-US" sz="1700" dirty="0"/>
          </a:p>
        </p:txBody>
      </p:sp>
      <p:sp>
        <p:nvSpPr>
          <p:cNvPr id="15" name="Shape 13"/>
          <p:cNvSpPr/>
          <p:nvPr/>
        </p:nvSpPr>
        <p:spPr>
          <a:xfrm>
            <a:off x="813816" y="5696712"/>
            <a:ext cx="10564063" cy="0"/>
          </a:xfrm>
          <a:prstGeom prst="line">
            <a:avLst/>
          </a:prstGeom>
          <a:noFill/>
          <a:ln w="12700">
            <a:solidFill>
              <a:srgbClr val="D8D3C8"/>
            </a:solidFill>
            <a:prstDash val="solid"/>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F2A37"/>
        </a:solidFill>
      </p:bgPr>
    </p:bg>
    <p:spTree>
      <p:nvGrpSpPr>
        <p:cNvPr id="1" name=""/>
        <p:cNvGrpSpPr/>
        <p:nvPr/>
      </p:nvGrpSpPr>
      <p:grpSpPr>
        <a:xfrm>
          <a:off x="0" y="0"/>
          <a:ext cx="0" cy="0"/>
          <a:chOff x="0" y="0"/>
          <a:chExt cx="0" cy="0"/>
        </a:xfrm>
      </p:grpSpPr>
      <p:sp>
        <p:nvSpPr>
          <p:cNvPr id="2" name="Text 0"/>
          <p:cNvSpPr/>
          <p:nvPr/>
        </p:nvSpPr>
        <p:spPr>
          <a:xfrm>
            <a:off x="813816" y="640080"/>
            <a:ext cx="10564063" cy="320040"/>
          </a:xfrm>
          <a:prstGeom prst="rect">
            <a:avLst/>
          </a:prstGeom>
          <a:noFill/>
          <a:ln/>
        </p:spPr>
        <p:txBody>
          <a:bodyPr wrap="square" lIns="0" tIns="0" rIns="0" bIns="0" rtlCol="0" anchor="t"/>
          <a:lstStyle/>
          <a:p>
            <a:pPr indent="0" marL="0">
              <a:buNone/>
            </a:pPr>
            <a:r>
              <a:rPr lang="en-US" sz="1500" b="1" spc="200" kern="0" dirty="0">
                <a:solidFill>
                  <a:srgbClr val="E8A365"/>
                </a:solidFill>
                <a:latin typeface="Yu Gothic" pitchFamily="34" charset="0"/>
                <a:ea typeface="Yu Gothic" pitchFamily="34" charset="-122"/>
                <a:cs typeface="Yu Gothic" pitchFamily="34" charset="-120"/>
              </a:rPr>
              <a:t>現状の評価</a:t>
            </a:r>
            <a:endParaRPr lang="en-US" sz="1500" dirty="0"/>
          </a:p>
        </p:txBody>
      </p:sp>
      <p:sp>
        <p:nvSpPr>
          <p:cNvPr id="3" name="Text 1"/>
          <p:cNvSpPr/>
          <p:nvPr/>
        </p:nvSpPr>
        <p:spPr>
          <a:xfrm>
            <a:off x="813816" y="1051560"/>
            <a:ext cx="10564063" cy="731520"/>
          </a:xfrm>
          <a:prstGeom prst="rect">
            <a:avLst/>
          </a:prstGeom>
          <a:noFill/>
          <a:ln/>
        </p:spPr>
        <p:txBody>
          <a:bodyPr wrap="square" lIns="0" tIns="0" rIns="0" bIns="0" rtlCol="0" anchor="t"/>
          <a:lstStyle/>
          <a:p>
            <a:pPr indent="0" marL="0">
              <a:buNone/>
            </a:pPr>
            <a:r>
              <a:rPr lang="en-US" sz="3200" b="1" dirty="0">
                <a:solidFill>
                  <a:srgbClr val="F7F6F2"/>
                </a:solidFill>
                <a:latin typeface="Yu Gothic" pitchFamily="34" charset="0"/>
                <a:ea typeface="Yu Gothic" pitchFamily="34" charset="-122"/>
                <a:cs typeface="Yu Gothic" pitchFamily="34" charset="-120"/>
              </a:rPr>
              <a:t>提案手法として押す方向は、行き詰まっている</a:t>
            </a:r>
            <a:endParaRPr lang="en-US" sz="3200" dirty="0"/>
          </a:p>
        </p:txBody>
      </p:sp>
      <p:sp>
        <p:nvSpPr>
          <p:cNvPr id="4" name="Shape 2"/>
          <p:cNvSpPr/>
          <p:nvPr/>
        </p:nvSpPr>
        <p:spPr>
          <a:xfrm>
            <a:off x="813816" y="2148840"/>
            <a:ext cx="3387242" cy="2377440"/>
          </a:xfrm>
          <a:prstGeom prst="roundRect">
            <a:avLst>
              <a:gd name="adj" fmla="val 3846"/>
            </a:avLst>
          </a:prstGeom>
          <a:solidFill>
            <a:srgbClr val="2A3747"/>
          </a:solidFill>
          <a:ln w="12700">
            <a:solidFill>
              <a:srgbClr val="2A3747"/>
            </a:solidFill>
            <a:prstDash val="solid"/>
          </a:ln>
        </p:spPr>
      </p:sp>
      <p:sp>
        <p:nvSpPr>
          <p:cNvPr id="5" name="Text 3"/>
          <p:cNvSpPr/>
          <p:nvPr/>
        </p:nvSpPr>
        <p:spPr>
          <a:xfrm>
            <a:off x="1069848" y="2377440"/>
            <a:ext cx="2875178" cy="411480"/>
          </a:xfrm>
          <a:prstGeom prst="rect">
            <a:avLst/>
          </a:prstGeom>
          <a:noFill/>
          <a:ln/>
        </p:spPr>
        <p:txBody>
          <a:bodyPr wrap="square" lIns="0" tIns="0" rIns="0" bIns="0" rtlCol="0" anchor="t"/>
          <a:lstStyle/>
          <a:p>
            <a:pPr indent="0" marL="0">
              <a:buNone/>
            </a:pPr>
            <a:r>
              <a:rPr lang="en-US" sz="1800" b="1" dirty="0">
                <a:solidFill>
                  <a:srgbClr val="E8A365"/>
                </a:solidFill>
                <a:latin typeface="Yu Gothic" pitchFamily="34" charset="0"/>
                <a:ea typeface="Yu Gothic" pitchFamily="34" charset="-122"/>
                <a:cs typeface="Yu Gothic" pitchFamily="34" charset="-120"/>
              </a:rPr>
              <a:t>新しさが小さい</a:t>
            </a:r>
            <a:endParaRPr lang="en-US" sz="1800" dirty="0"/>
          </a:p>
        </p:txBody>
      </p:sp>
      <p:sp>
        <p:nvSpPr>
          <p:cNvPr id="6" name="Text 4"/>
          <p:cNvSpPr/>
          <p:nvPr/>
        </p:nvSpPr>
        <p:spPr>
          <a:xfrm>
            <a:off x="1069848" y="2926080"/>
            <a:ext cx="2875178" cy="1463040"/>
          </a:xfrm>
          <a:prstGeom prst="rect">
            <a:avLst/>
          </a:prstGeom>
          <a:noFill/>
          <a:ln/>
        </p:spPr>
        <p:txBody>
          <a:bodyPr wrap="square" lIns="0" tIns="0" rIns="0" bIns="0" rtlCol="0" anchor="t"/>
          <a:lstStyle/>
          <a:p>
            <a:pPr indent="0" marL="0">
              <a:lnSpc>
                <a:spcPct val="140000"/>
              </a:lnSpc>
              <a:buNone/>
            </a:pPr>
            <a:r>
              <a:rPr lang="en-US" sz="1400" dirty="0">
                <a:solidFill>
                  <a:srgbClr val="DCE2E9"/>
                </a:solidFill>
                <a:latin typeface="Yu Gothic" pitchFamily="34" charset="0"/>
                <a:ea typeface="Yu Gothic" pitchFamily="34" charset="-122"/>
                <a:cs typeface="Yu Gothic" pitchFamily="34" charset="-120"/>
              </a:rPr>
              <a:t>凍結したWhisperの損失で前処理を学習する手法は、先行研究（Dissen 2024）がある</a:t>
            </a:r>
            <a:endParaRPr lang="en-US" sz="1400" dirty="0"/>
          </a:p>
        </p:txBody>
      </p:sp>
      <p:sp>
        <p:nvSpPr>
          <p:cNvPr id="7" name="Shape 5"/>
          <p:cNvSpPr/>
          <p:nvPr/>
        </p:nvSpPr>
        <p:spPr>
          <a:xfrm>
            <a:off x="4402226" y="2148840"/>
            <a:ext cx="3387242" cy="2377440"/>
          </a:xfrm>
          <a:prstGeom prst="roundRect">
            <a:avLst>
              <a:gd name="adj" fmla="val 3846"/>
            </a:avLst>
          </a:prstGeom>
          <a:solidFill>
            <a:srgbClr val="2A3747"/>
          </a:solidFill>
          <a:ln w="12700">
            <a:solidFill>
              <a:srgbClr val="2A3747"/>
            </a:solidFill>
            <a:prstDash val="solid"/>
          </a:ln>
        </p:spPr>
      </p:sp>
      <p:sp>
        <p:nvSpPr>
          <p:cNvPr id="8" name="Text 6"/>
          <p:cNvSpPr/>
          <p:nvPr/>
        </p:nvSpPr>
        <p:spPr>
          <a:xfrm>
            <a:off x="4658258" y="2377440"/>
            <a:ext cx="2875178" cy="411480"/>
          </a:xfrm>
          <a:prstGeom prst="rect">
            <a:avLst/>
          </a:prstGeom>
          <a:noFill/>
          <a:ln/>
        </p:spPr>
        <p:txBody>
          <a:bodyPr wrap="square" lIns="0" tIns="0" rIns="0" bIns="0" rtlCol="0" anchor="t"/>
          <a:lstStyle/>
          <a:p>
            <a:pPr indent="0" marL="0">
              <a:buNone/>
            </a:pPr>
            <a:r>
              <a:rPr lang="en-US" sz="1800" b="1" dirty="0">
                <a:solidFill>
                  <a:srgbClr val="E8A365"/>
                </a:solidFill>
                <a:latin typeface="Yu Gothic" pitchFamily="34" charset="0"/>
                <a:ea typeface="Yu Gothic" pitchFamily="34" charset="-122"/>
                <a:cs typeface="Yu Gothic" pitchFamily="34" charset="-120"/>
              </a:rPr>
              <a:t>精度でFTに届かない</a:t>
            </a:r>
            <a:endParaRPr lang="en-US" sz="1800" dirty="0"/>
          </a:p>
        </p:txBody>
      </p:sp>
      <p:sp>
        <p:nvSpPr>
          <p:cNvPr id="9" name="Text 7"/>
          <p:cNvSpPr/>
          <p:nvPr/>
        </p:nvSpPr>
        <p:spPr>
          <a:xfrm>
            <a:off x="4658258" y="2926080"/>
            <a:ext cx="2875178" cy="1463040"/>
          </a:xfrm>
          <a:prstGeom prst="rect">
            <a:avLst/>
          </a:prstGeom>
          <a:noFill/>
          <a:ln/>
        </p:spPr>
        <p:txBody>
          <a:bodyPr wrap="square" lIns="0" tIns="0" rIns="0" bIns="0" rtlCol="0" anchor="t"/>
          <a:lstStyle/>
          <a:p>
            <a:pPr indent="0" marL="0">
              <a:lnSpc>
                <a:spcPct val="140000"/>
              </a:lnSpc>
              <a:buNone/>
            </a:pPr>
            <a:r>
              <a:rPr lang="en-US" sz="1400" dirty="0">
                <a:solidFill>
                  <a:srgbClr val="DCE2E9"/>
                </a:solidFill>
                <a:latin typeface="Yu Gothic" pitchFamily="34" charset="0"/>
                <a:ea typeface="Yu Gothic" pitchFamily="34" charset="-122"/>
                <a:cs typeface="Yu Gothic" pitchFamily="34" charset="-120"/>
              </a:rPr>
              <a:t>Whisperに特化するなら、Whisper自体を適応させる（FT・Adapter）ほうが明らかに上</a:t>
            </a:r>
            <a:endParaRPr lang="en-US" sz="1400" dirty="0"/>
          </a:p>
        </p:txBody>
      </p:sp>
      <p:sp>
        <p:nvSpPr>
          <p:cNvPr id="10" name="Shape 8"/>
          <p:cNvSpPr/>
          <p:nvPr/>
        </p:nvSpPr>
        <p:spPr>
          <a:xfrm>
            <a:off x="7990637" y="2148840"/>
            <a:ext cx="3387242" cy="2377440"/>
          </a:xfrm>
          <a:prstGeom prst="roundRect">
            <a:avLst>
              <a:gd name="adj" fmla="val 3846"/>
            </a:avLst>
          </a:prstGeom>
          <a:solidFill>
            <a:srgbClr val="2A3747"/>
          </a:solidFill>
          <a:ln w="12700">
            <a:solidFill>
              <a:srgbClr val="2A3747"/>
            </a:solidFill>
            <a:prstDash val="solid"/>
          </a:ln>
        </p:spPr>
      </p:sp>
      <p:sp>
        <p:nvSpPr>
          <p:cNvPr id="11" name="Text 9"/>
          <p:cNvSpPr/>
          <p:nvPr/>
        </p:nvSpPr>
        <p:spPr>
          <a:xfrm>
            <a:off x="8246669" y="2377440"/>
            <a:ext cx="2875178" cy="411480"/>
          </a:xfrm>
          <a:prstGeom prst="rect">
            <a:avLst/>
          </a:prstGeom>
          <a:noFill/>
          <a:ln/>
        </p:spPr>
        <p:txBody>
          <a:bodyPr wrap="square" lIns="0" tIns="0" rIns="0" bIns="0" rtlCol="0" anchor="t"/>
          <a:lstStyle/>
          <a:p>
            <a:pPr indent="0" marL="0">
              <a:buNone/>
            </a:pPr>
            <a:r>
              <a:rPr lang="en-US" sz="1800" b="1" dirty="0">
                <a:solidFill>
                  <a:srgbClr val="E8A365"/>
                </a:solidFill>
                <a:latin typeface="Yu Gothic" pitchFamily="34" charset="0"/>
                <a:ea typeface="Yu Gothic" pitchFamily="34" charset="-122"/>
                <a:cs typeface="Yu Gothic" pitchFamily="34" charset="-120"/>
              </a:rPr>
              <a:t>SEの長所を失う</a:t>
            </a:r>
            <a:endParaRPr lang="en-US" sz="1800" dirty="0"/>
          </a:p>
        </p:txBody>
      </p:sp>
      <p:sp>
        <p:nvSpPr>
          <p:cNvPr id="12" name="Text 10"/>
          <p:cNvSpPr/>
          <p:nvPr/>
        </p:nvSpPr>
        <p:spPr>
          <a:xfrm>
            <a:off x="8246669" y="2926080"/>
            <a:ext cx="2875178" cy="1463040"/>
          </a:xfrm>
          <a:prstGeom prst="rect">
            <a:avLst/>
          </a:prstGeom>
          <a:noFill/>
          <a:ln/>
        </p:spPr>
        <p:txBody>
          <a:bodyPr wrap="square" lIns="0" tIns="0" rIns="0" bIns="0" rtlCol="0" anchor="t"/>
          <a:lstStyle/>
          <a:p>
            <a:pPr indent="0" marL="0">
              <a:lnSpc>
                <a:spcPct val="140000"/>
              </a:lnSpc>
              <a:buNone/>
            </a:pPr>
            <a:r>
              <a:rPr lang="en-US" sz="1400" dirty="0">
                <a:solidFill>
                  <a:srgbClr val="DCE2E9"/>
                </a:solidFill>
                <a:latin typeface="Yu Gothic" pitchFamily="34" charset="0"/>
                <a:ea typeface="Yu Gothic" pitchFamily="34" charset="-122"/>
                <a:cs typeface="Yu Gothic" pitchFamily="34" charset="-120"/>
              </a:rPr>
              <a:t>SEの売りは「どのASRにも使える」こと。ASR損失で学習すると、それが消える</a:t>
            </a:r>
            <a:endParaRPr lang="en-US" sz="1400" dirty="0"/>
          </a:p>
        </p:txBody>
      </p:sp>
      <p:sp>
        <p:nvSpPr>
          <p:cNvPr id="13" name="Text 11"/>
          <p:cNvSpPr/>
          <p:nvPr/>
        </p:nvSpPr>
        <p:spPr>
          <a:xfrm>
            <a:off x="813816" y="4892040"/>
            <a:ext cx="10564063" cy="731520"/>
          </a:xfrm>
          <a:prstGeom prst="rect">
            <a:avLst/>
          </a:prstGeom>
          <a:noFill/>
          <a:ln/>
        </p:spPr>
        <p:txBody>
          <a:bodyPr wrap="square" lIns="0" tIns="0" rIns="0" bIns="0" rtlCol="0" anchor="t"/>
          <a:lstStyle/>
          <a:p>
            <a:pPr indent="0" marL="0">
              <a:lnSpc>
                <a:spcPct val="140000"/>
              </a:lnSpc>
              <a:buNone/>
            </a:pPr>
            <a:r>
              <a:rPr lang="en-US" sz="1600" dirty="0">
                <a:solidFill>
                  <a:srgbClr val="DCE2E9"/>
                </a:solidFill>
                <a:latin typeface="Yu Gothic" pitchFamily="34" charset="0"/>
                <a:ea typeface="Yu Gothic" pitchFamily="34" charset="-122"/>
                <a:cs typeface="Yu Gothic" pitchFamily="34" charset="-120"/>
              </a:rPr>
              <a:t>「Whisper用ならFT、汎用ならベースラインのSE」で済んでしまい、この手法の居場所がない。</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EF1F4"/>
        </a:solidFill>
      </p:bgPr>
    </p:bg>
    <p:spTree>
      <p:nvGrpSpPr>
        <p:cNvPr id="1" name=""/>
        <p:cNvGrpSpPr/>
        <p:nvPr/>
      </p:nvGrpSpPr>
      <p:grpSpPr>
        <a:xfrm>
          <a:off x="0" y="0"/>
          <a:ext cx="0" cy="0"/>
          <a:chOff x="0" y="0"/>
          <a:chExt cx="0" cy="0"/>
        </a:xfrm>
      </p:grpSpPr>
      <p:sp>
        <p:nvSpPr>
          <p:cNvPr id="2" name="Text 0"/>
          <p:cNvSpPr/>
          <p:nvPr/>
        </p:nvSpPr>
        <p:spPr>
          <a:xfrm>
            <a:off x="813816" y="640080"/>
            <a:ext cx="10564063" cy="320040"/>
          </a:xfrm>
          <a:prstGeom prst="rect">
            <a:avLst/>
          </a:prstGeom>
          <a:noFill/>
          <a:ln/>
        </p:spPr>
        <p:txBody>
          <a:bodyPr wrap="square" lIns="0" tIns="0" rIns="0" bIns="0" rtlCol="0" anchor="t"/>
          <a:lstStyle/>
          <a:p>
            <a:pPr indent="0" marL="0">
              <a:buNone/>
            </a:pPr>
            <a:r>
              <a:rPr lang="en-US" sz="1500" b="1" spc="200" kern="0" dirty="0">
                <a:solidFill>
                  <a:srgbClr val="2F6FB0"/>
                </a:solidFill>
                <a:latin typeface="Yu Gothic" pitchFamily="34" charset="0"/>
                <a:ea typeface="Yu Gothic" pitchFamily="34" charset="-122"/>
                <a:cs typeface="Yu Gothic" pitchFamily="34" charset="-120"/>
              </a:rPr>
              <a:t>行き詰まっていない部分</a:t>
            </a:r>
            <a:endParaRPr lang="en-US" sz="1500" dirty="0"/>
          </a:p>
        </p:txBody>
      </p:sp>
      <p:sp>
        <p:nvSpPr>
          <p:cNvPr id="3" name="Text 1"/>
          <p:cNvSpPr/>
          <p:nvPr/>
        </p:nvSpPr>
        <p:spPr>
          <a:xfrm>
            <a:off x="813816" y="1051560"/>
            <a:ext cx="10564063" cy="731520"/>
          </a:xfrm>
          <a:prstGeom prst="rect">
            <a:avLst/>
          </a:prstGeom>
          <a:noFill/>
          <a:ln/>
        </p:spPr>
        <p:txBody>
          <a:bodyPr wrap="square" lIns="0" tIns="0" rIns="0" bIns="0" rtlCol="0" anchor="t"/>
          <a:lstStyle/>
          <a:p>
            <a:pPr indent="0" marL="0">
              <a:buNone/>
            </a:pPr>
            <a:r>
              <a:rPr lang="en-US" sz="3000" b="1" dirty="0">
                <a:solidFill>
                  <a:srgbClr val="1F2A37"/>
                </a:solidFill>
                <a:latin typeface="Yu Gothic" pitchFamily="34" charset="0"/>
                <a:ea typeface="Yu Gothic" pitchFamily="34" charset="-122"/>
                <a:cs typeface="Yu Gothic" pitchFamily="34" charset="-120"/>
              </a:rPr>
              <a:t>わかったことには価値がある</a:t>
            </a:r>
            <a:endParaRPr lang="en-US" sz="3000" dirty="0"/>
          </a:p>
        </p:txBody>
      </p:sp>
      <p:sp>
        <p:nvSpPr>
          <p:cNvPr id="4" name="Shape 2"/>
          <p:cNvSpPr/>
          <p:nvPr/>
        </p:nvSpPr>
        <p:spPr>
          <a:xfrm>
            <a:off x="813816" y="2103120"/>
            <a:ext cx="5181448" cy="2926080"/>
          </a:xfrm>
          <a:prstGeom prst="rect">
            <a:avLst/>
          </a:prstGeom>
          <a:solidFill>
            <a:srgbClr val="FBFAF7"/>
          </a:solidFill>
          <a:ln w="12700">
            <a:solidFill>
              <a:srgbClr val="FBFAF7"/>
            </a:solidFill>
            <a:prstDash val="solid"/>
          </a:ln>
        </p:spPr>
      </p:sp>
      <p:sp>
        <p:nvSpPr>
          <p:cNvPr id="5" name="Shape 3"/>
          <p:cNvSpPr/>
          <p:nvPr/>
        </p:nvSpPr>
        <p:spPr>
          <a:xfrm>
            <a:off x="813816" y="2103120"/>
            <a:ext cx="5181448" cy="54864"/>
          </a:xfrm>
          <a:prstGeom prst="rect">
            <a:avLst/>
          </a:prstGeom>
          <a:solidFill>
            <a:srgbClr val="2F6FB0"/>
          </a:solidFill>
          <a:ln w="12700">
            <a:solidFill>
              <a:srgbClr val="2F6FB0"/>
            </a:solidFill>
            <a:prstDash val="solid"/>
          </a:ln>
        </p:spPr>
      </p:sp>
      <p:sp>
        <p:nvSpPr>
          <p:cNvPr id="6" name="Text 4"/>
          <p:cNvSpPr/>
          <p:nvPr/>
        </p:nvSpPr>
        <p:spPr>
          <a:xfrm>
            <a:off x="1088136" y="2377440"/>
            <a:ext cx="4632808" cy="457200"/>
          </a:xfrm>
          <a:prstGeom prst="rect">
            <a:avLst/>
          </a:prstGeom>
          <a:noFill/>
          <a:ln/>
        </p:spPr>
        <p:txBody>
          <a:bodyPr wrap="square" lIns="0" tIns="0" rIns="0" bIns="0" rtlCol="0" anchor="t"/>
          <a:lstStyle/>
          <a:p>
            <a:pPr indent="0" marL="0">
              <a:buNone/>
            </a:pPr>
            <a:r>
              <a:rPr lang="en-US" sz="1800" b="1" dirty="0">
                <a:solidFill>
                  <a:srgbClr val="1F2A37"/>
                </a:solidFill>
                <a:latin typeface="Yu Gothic" pitchFamily="34" charset="0"/>
                <a:ea typeface="Yu Gothic" pitchFamily="34" charset="-122"/>
                <a:cs typeface="Yu Gothic" pitchFamily="34" charset="-120"/>
              </a:rPr>
              <a:t>分析の成果</a:t>
            </a:r>
            <a:endParaRPr lang="en-US" sz="1800" dirty="0"/>
          </a:p>
        </p:txBody>
      </p:sp>
      <p:sp>
        <p:nvSpPr>
          <p:cNvPr id="7" name="Text 5"/>
          <p:cNvSpPr/>
          <p:nvPr/>
        </p:nvSpPr>
        <p:spPr>
          <a:xfrm>
            <a:off x="1088136" y="2971800"/>
            <a:ext cx="4632808" cy="1280160"/>
          </a:xfrm>
          <a:prstGeom prst="rect">
            <a:avLst/>
          </a:prstGeom>
          <a:noFill/>
          <a:ln/>
        </p:spPr>
        <p:txBody>
          <a:bodyPr wrap="square" lIns="0" tIns="0" rIns="0" bIns="0" rtlCol="0" anchor="t"/>
          <a:lstStyle/>
          <a:p>
            <a:pPr indent="0" marL="0">
              <a:lnSpc>
                <a:spcPct val="140000"/>
              </a:lnSpc>
              <a:buNone/>
            </a:pPr>
            <a:r>
              <a:rPr lang="en-US" sz="1500" dirty="0">
                <a:solidFill>
                  <a:srgbClr val="1F2A37"/>
                </a:solidFill>
                <a:latin typeface="Yu Gothic" pitchFamily="34" charset="0"/>
                <a:ea typeface="Yu Gothic" pitchFamily="34" charset="-122"/>
                <a:cs typeface="Yu Gothic" pitchFamily="34" charset="-120"/>
              </a:rPr>
              <a:t>「ASR損失で学習すると汎用性を失う」「評価にはテキスト正規化と別系列のASRが必要」</a:t>
            </a:r>
            <a:endParaRPr lang="en-US" sz="1500" dirty="0"/>
          </a:p>
        </p:txBody>
      </p:sp>
      <p:sp>
        <p:nvSpPr>
          <p:cNvPr id="8" name="Text 6"/>
          <p:cNvSpPr/>
          <p:nvPr/>
        </p:nvSpPr>
        <p:spPr>
          <a:xfrm>
            <a:off x="1088136" y="4343400"/>
            <a:ext cx="4632808" cy="457200"/>
          </a:xfrm>
          <a:prstGeom prst="rect">
            <a:avLst/>
          </a:prstGeom>
          <a:noFill/>
          <a:ln/>
        </p:spPr>
        <p:txBody>
          <a:bodyPr wrap="square" lIns="0" tIns="0" rIns="0" bIns="0" rtlCol="0" anchor="t"/>
          <a:lstStyle/>
          <a:p>
            <a:pPr indent="0" marL="0">
              <a:buNone/>
            </a:pPr>
            <a:r>
              <a:rPr lang="en-US" sz="1400" dirty="0">
                <a:solidFill>
                  <a:srgbClr val="4A5568"/>
                </a:solidFill>
                <a:latin typeface="Yu Gothic" pitchFamily="34" charset="0"/>
                <a:ea typeface="Yu Gothic" pitchFamily="34" charset="-122"/>
                <a:cs typeface="Yu Gothic" pitchFamily="34" charset="-120"/>
              </a:rPr>
              <a:t>→ 卒論・学会発表には十分</a:t>
            </a:r>
            <a:endParaRPr lang="en-US" sz="1400" dirty="0"/>
          </a:p>
        </p:txBody>
      </p:sp>
      <p:sp>
        <p:nvSpPr>
          <p:cNvPr id="9" name="Shape 7"/>
          <p:cNvSpPr/>
          <p:nvPr/>
        </p:nvSpPr>
        <p:spPr>
          <a:xfrm>
            <a:off x="6196432" y="2103120"/>
            <a:ext cx="5181448" cy="2926080"/>
          </a:xfrm>
          <a:prstGeom prst="rect">
            <a:avLst/>
          </a:prstGeom>
          <a:solidFill>
            <a:srgbClr val="FBFAF7"/>
          </a:solidFill>
          <a:ln w="12700">
            <a:solidFill>
              <a:srgbClr val="FBFAF7"/>
            </a:solidFill>
            <a:prstDash val="solid"/>
          </a:ln>
        </p:spPr>
      </p:sp>
      <p:sp>
        <p:nvSpPr>
          <p:cNvPr id="10" name="Shape 8"/>
          <p:cNvSpPr/>
          <p:nvPr/>
        </p:nvSpPr>
        <p:spPr>
          <a:xfrm>
            <a:off x="6196432" y="2103120"/>
            <a:ext cx="5181448" cy="54864"/>
          </a:xfrm>
          <a:prstGeom prst="rect">
            <a:avLst/>
          </a:prstGeom>
          <a:solidFill>
            <a:srgbClr val="D9772B"/>
          </a:solidFill>
          <a:ln w="12700">
            <a:solidFill>
              <a:srgbClr val="D9772B"/>
            </a:solidFill>
            <a:prstDash val="solid"/>
          </a:ln>
        </p:spPr>
      </p:sp>
      <p:sp>
        <p:nvSpPr>
          <p:cNvPr id="11" name="Text 9"/>
          <p:cNvSpPr/>
          <p:nvPr/>
        </p:nvSpPr>
        <p:spPr>
          <a:xfrm>
            <a:off x="6470752" y="2377440"/>
            <a:ext cx="4632808" cy="457200"/>
          </a:xfrm>
          <a:prstGeom prst="rect">
            <a:avLst/>
          </a:prstGeom>
          <a:noFill/>
          <a:ln/>
        </p:spPr>
        <p:txBody>
          <a:bodyPr wrap="square" lIns="0" tIns="0" rIns="0" bIns="0" rtlCol="0" anchor="t"/>
          <a:lstStyle/>
          <a:p>
            <a:pPr indent="0" marL="0">
              <a:buNone/>
            </a:pPr>
            <a:r>
              <a:rPr lang="en-US" sz="1800" b="1" dirty="0">
                <a:solidFill>
                  <a:srgbClr val="B45F1E"/>
                </a:solidFill>
                <a:latin typeface="Yu Gothic" pitchFamily="34" charset="0"/>
                <a:ea typeface="Yu Gothic" pitchFamily="34" charset="-122"/>
                <a:cs typeface="Yu Gothic" pitchFamily="34" charset="-120"/>
              </a:rPr>
              <a:t>次の目標がはっきりした</a:t>
            </a:r>
            <a:endParaRPr lang="en-US" sz="1800" dirty="0"/>
          </a:p>
        </p:txBody>
      </p:sp>
      <p:sp>
        <p:nvSpPr>
          <p:cNvPr id="12" name="Text 10"/>
          <p:cNvSpPr/>
          <p:nvPr/>
        </p:nvSpPr>
        <p:spPr>
          <a:xfrm>
            <a:off x="6470752" y="2971800"/>
            <a:ext cx="4632808" cy="1280160"/>
          </a:xfrm>
          <a:prstGeom prst="rect">
            <a:avLst/>
          </a:prstGeom>
          <a:noFill/>
          <a:ln/>
        </p:spPr>
        <p:txBody>
          <a:bodyPr wrap="square" lIns="0" tIns="0" rIns="0" bIns="0" rtlCol="0" anchor="t"/>
          <a:lstStyle/>
          <a:p>
            <a:pPr indent="0" marL="0">
              <a:lnSpc>
                <a:spcPct val="140000"/>
              </a:lnSpc>
              <a:buNone/>
            </a:pPr>
            <a:r>
              <a:rPr lang="en-US" sz="1500" dirty="0">
                <a:solidFill>
                  <a:srgbClr val="1F2A37"/>
                </a:solidFill>
                <a:latin typeface="Yu Gothic" pitchFamily="34" charset="0"/>
                <a:ea typeface="Yu Gothic" pitchFamily="34" charset="-122"/>
                <a:cs typeface="Yu Gothic" pitchFamily="34" charset="-120"/>
              </a:rPr>
              <a:t>SEの長所（汎用性）を</a:t>
            </a:r>
            <a:pPr indent="0" marL="0">
              <a:lnSpc>
                <a:spcPct val="140000"/>
              </a:lnSpc>
              <a:buNone/>
            </a:pPr>
            <a:r>
              <a:rPr lang="en-US" sz="1500" b="1" dirty="0">
                <a:solidFill>
                  <a:srgbClr val="1F2A37"/>
                </a:solidFill>
                <a:latin typeface="Yu Gothic" pitchFamily="34" charset="0"/>
                <a:ea typeface="Yu Gothic" pitchFamily="34" charset="-122"/>
                <a:cs typeface="Yu Gothic" pitchFamily="34" charset="-120"/>
              </a:rPr>
              <a:t>保ったまま</a:t>
            </a:r>
            <a:pPr indent="0" marL="0">
              <a:lnSpc>
                <a:spcPct val="140000"/>
              </a:lnSpc>
              <a:buNone/>
            </a:pPr>
            <a:r>
              <a:rPr lang="en-US" sz="1500" dirty="0">
                <a:solidFill>
                  <a:srgbClr val="1F2A37"/>
                </a:solidFill>
                <a:latin typeface="Yu Gothic" pitchFamily="34" charset="0"/>
                <a:ea typeface="Yu Gothic" pitchFamily="34" charset="-122"/>
                <a:cs typeface="Yu Gothic" pitchFamily="34" charset="-120"/>
              </a:rPr>
              <a:t>、ASRに効くSEをどう作るか</a:t>
            </a:r>
            <a:endParaRPr lang="en-US" sz="1500" dirty="0"/>
          </a:p>
        </p:txBody>
      </p:sp>
      <p:sp>
        <p:nvSpPr>
          <p:cNvPr id="13" name="Text 11"/>
          <p:cNvSpPr/>
          <p:nvPr/>
        </p:nvSpPr>
        <p:spPr>
          <a:xfrm>
            <a:off x="6470752" y="4343400"/>
            <a:ext cx="4632808" cy="457200"/>
          </a:xfrm>
          <a:prstGeom prst="rect">
            <a:avLst/>
          </a:prstGeom>
          <a:noFill/>
          <a:ln/>
        </p:spPr>
        <p:txBody>
          <a:bodyPr wrap="square" lIns="0" tIns="0" rIns="0" bIns="0" rtlCol="0" anchor="t"/>
          <a:lstStyle/>
          <a:p>
            <a:pPr indent="0" marL="0">
              <a:buNone/>
            </a:pPr>
            <a:r>
              <a:rPr lang="en-US" sz="1400" dirty="0">
                <a:solidFill>
                  <a:srgbClr val="4A5568"/>
                </a:solidFill>
                <a:latin typeface="Yu Gothic" pitchFamily="34" charset="0"/>
                <a:ea typeface="Yu Gothic" pitchFamily="34" charset="-122"/>
                <a:cs typeface="Yu Gothic" pitchFamily="34" charset="-120"/>
              </a:rPr>
              <a:t>→ これが一番大きな収穫</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3816" y="640080"/>
            <a:ext cx="10564063" cy="320040"/>
          </a:xfrm>
          <a:prstGeom prst="rect">
            <a:avLst/>
          </a:prstGeom>
          <a:noFill/>
          <a:ln/>
        </p:spPr>
        <p:txBody>
          <a:bodyPr wrap="square" lIns="0" tIns="0" rIns="0" bIns="0" rtlCol="0" anchor="t"/>
          <a:lstStyle/>
          <a:p>
            <a:pPr indent="0" marL="0">
              <a:buNone/>
            </a:pPr>
            <a:r>
              <a:rPr lang="en-US" sz="1500" b="1" spc="200" kern="0" dirty="0">
                <a:solidFill>
                  <a:srgbClr val="B45F1E"/>
                </a:solidFill>
                <a:latin typeface="Yu Gothic" pitchFamily="34" charset="0"/>
                <a:ea typeface="Yu Gothic" pitchFamily="34" charset="-122"/>
                <a:cs typeface="Yu Gothic" pitchFamily="34" charset="-120"/>
              </a:rPr>
              <a:t>次の方向の候補：本命</a:t>
            </a:r>
            <a:endParaRPr lang="en-US" sz="1500" dirty="0"/>
          </a:p>
        </p:txBody>
      </p:sp>
      <p:sp>
        <p:nvSpPr>
          <p:cNvPr id="3" name="Text 1"/>
          <p:cNvSpPr/>
          <p:nvPr/>
        </p:nvSpPr>
        <p:spPr>
          <a:xfrm>
            <a:off x="813816" y="1051560"/>
            <a:ext cx="10564063" cy="731520"/>
          </a:xfrm>
          <a:prstGeom prst="rect">
            <a:avLst/>
          </a:prstGeom>
          <a:noFill/>
          <a:ln/>
        </p:spPr>
        <p:txBody>
          <a:bodyPr wrap="square" lIns="0" tIns="0" rIns="0" bIns="0" rtlCol="0" anchor="t"/>
          <a:lstStyle/>
          <a:p>
            <a:pPr indent="0" marL="0">
              <a:buNone/>
            </a:pPr>
            <a:r>
              <a:rPr lang="en-US" sz="3000" b="1" dirty="0">
                <a:solidFill>
                  <a:srgbClr val="1F2A37"/>
                </a:solidFill>
                <a:latin typeface="Yu Gothic" pitchFamily="34" charset="0"/>
                <a:ea typeface="Yu Gothic" pitchFamily="34" charset="-122"/>
                <a:cs typeface="Yu Gothic" pitchFamily="34" charset="-120"/>
              </a:rPr>
              <a:t>特定のASRに依存しない、喉マイク用のSE</a:t>
            </a:r>
            <a:endParaRPr lang="en-US" sz="3000" dirty="0"/>
          </a:p>
        </p:txBody>
      </p:sp>
      <p:sp>
        <p:nvSpPr>
          <p:cNvPr id="4" name="Shape 2"/>
          <p:cNvSpPr/>
          <p:nvPr/>
        </p:nvSpPr>
        <p:spPr>
          <a:xfrm>
            <a:off x="813816" y="2011680"/>
            <a:ext cx="10564063" cy="1170432"/>
          </a:xfrm>
          <a:prstGeom prst="rect">
            <a:avLst/>
          </a:prstGeom>
          <a:solidFill>
            <a:srgbClr val="FBFAF7"/>
          </a:solidFill>
          <a:ln w="12700">
            <a:solidFill>
              <a:srgbClr val="FBFAF7"/>
            </a:solidFill>
            <a:prstDash val="solid"/>
          </a:ln>
        </p:spPr>
      </p:sp>
      <p:sp>
        <p:nvSpPr>
          <p:cNvPr id="5" name="Shape 3"/>
          <p:cNvSpPr/>
          <p:nvPr/>
        </p:nvSpPr>
        <p:spPr>
          <a:xfrm>
            <a:off x="813816" y="2011680"/>
            <a:ext cx="54864" cy="1170432"/>
          </a:xfrm>
          <a:prstGeom prst="rect">
            <a:avLst/>
          </a:prstGeom>
          <a:solidFill>
            <a:srgbClr val="D9772B"/>
          </a:solidFill>
          <a:ln w="12700">
            <a:solidFill>
              <a:srgbClr val="D9772B"/>
            </a:solidFill>
            <a:prstDash val="solid"/>
          </a:ln>
        </p:spPr>
      </p:sp>
      <p:sp>
        <p:nvSpPr>
          <p:cNvPr id="6" name="Text 4"/>
          <p:cNvSpPr/>
          <p:nvPr/>
        </p:nvSpPr>
        <p:spPr>
          <a:xfrm>
            <a:off x="1088136" y="2011680"/>
            <a:ext cx="2011680" cy="1170432"/>
          </a:xfrm>
          <a:prstGeom prst="rect">
            <a:avLst/>
          </a:prstGeom>
          <a:noFill/>
          <a:ln/>
        </p:spPr>
        <p:txBody>
          <a:bodyPr wrap="square" lIns="0" tIns="0" rIns="0" bIns="0" rtlCol="0" anchor="ctr"/>
          <a:lstStyle/>
          <a:p>
            <a:pPr indent="0" marL="0">
              <a:buNone/>
            </a:pPr>
            <a:r>
              <a:rPr lang="en-US" sz="1600" b="1" dirty="0">
                <a:solidFill>
                  <a:srgbClr val="1F2A37"/>
                </a:solidFill>
                <a:latin typeface="Yu Gothic" pitchFamily="34" charset="0"/>
                <a:ea typeface="Yu Gothic" pitchFamily="34" charset="-122"/>
                <a:cs typeface="Yu Gothic" pitchFamily="34" charset="-120"/>
              </a:rPr>
              <a:t>動機</a:t>
            </a:r>
            <a:endParaRPr lang="en-US" sz="1600" dirty="0"/>
          </a:p>
        </p:txBody>
      </p:sp>
      <p:sp>
        <p:nvSpPr>
          <p:cNvPr id="7" name="Text 5"/>
          <p:cNvSpPr/>
          <p:nvPr/>
        </p:nvSpPr>
        <p:spPr>
          <a:xfrm>
            <a:off x="3191256" y="2103120"/>
            <a:ext cx="7958023" cy="987552"/>
          </a:xfrm>
          <a:prstGeom prst="rect">
            <a:avLst/>
          </a:prstGeom>
          <a:noFill/>
          <a:ln/>
        </p:spPr>
        <p:txBody>
          <a:bodyPr wrap="square" lIns="0" tIns="0" rIns="0" bIns="0" rtlCol="0" anchor="ctr"/>
          <a:lstStyle/>
          <a:p>
            <a:pPr indent="0" marL="0">
              <a:lnSpc>
                <a:spcPct val="135000"/>
              </a:lnSpc>
              <a:buNone/>
            </a:pPr>
            <a:r>
              <a:rPr lang="en-US" sz="1400" dirty="0">
                <a:solidFill>
                  <a:srgbClr val="1F2A37"/>
                </a:solidFill>
                <a:latin typeface="Yu Gothic" pitchFamily="34" charset="0"/>
                <a:ea typeface="Yu Gothic" pitchFamily="34" charset="-122"/>
                <a:cs typeface="Yu Gothic" pitchFamily="34" charset="-120"/>
              </a:rPr>
              <a:t>現場には</a:t>
            </a:r>
            <a:pPr indent="0" marL="0">
              <a:lnSpc>
                <a:spcPct val="135000"/>
              </a:lnSpc>
              <a:buNone/>
            </a:pPr>
            <a:r>
              <a:rPr lang="en-US" sz="1400" b="1" dirty="0">
                <a:solidFill>
                  <a:srgbClr val="1F2A37"/>
                </a:solidFill>
                <a:latin typeface="Yu Gothic" pitchFamily="34" charset="0"/>
                <a:ea typeface="Yu Gothic" pitchFamily="34" charset="-122"/>
                <a:cs typeface="Yu Gothic" pitchFamily="34" charset="-120"/>
              </a:rPr>
              <a:t>重みを変えられないASR</a:t>
            </a:r>
            <a:pPr indent="0" marL="0">
              <a:lnSpc>
                <a:spcPct val="135000"/>
              </a:lnSpc>
              <a:buNone/>
            </a:pPr>
            <a:r>
              <a:rPr lang="en-US" sz="1400" dirty="0">
                <a:solidFill>
                  <a:srgbClr val="1F2A37"/>
                </a:solidFill>
                <a:latin typeface="Yu Gothic" pitchFamily="34" charset="0"/>
                <a:ea typeface="Yu Gothic" pitchFamily="34" charset="-122"/>
                <a:cs typeface="Yu Gothic" pitchFamily="34" charset="-120"/>
              </a:rPr>
              <a:t>が多い（クラウドAPI、共用のASR）。FTもASR損失の学習もできないので、</a:t>
            </a:r>
            <a:pPr indent="0" marL="0">
              <a:lnSpc>
                <a:spcPct val="135000"/>
              </a:lnSpc>
              <a:buNone/>
            </a:pPr>
            <a:r>
              <a:rPr lang="en-US" sz="1400" b="1" dirty="0">
                <a:solidFill>
                  <a:srgbClr val="1F2A37"/>
                </a:solidFill>
                <a:latin typeface="Yu Gothic" pitchFamily="34" charset="0"/>
                <a:ea typeface="Yu Gothic" pitchFamily="34" charset="-122"/>
                <a:cs typeface="Yu Gothic" pitchFamily="34" charset="-120"/>
              </a:rPr>
              <a:t>ASRを選ばないSEしか選択肢がない</a:t>
            </a:r>
            <a:pPr indent="0" marL="0">
              <a:lnSpc>
                <a:spcPct val="135000"/>
              </a:lnSpc>
              <a:buNone/>
            </a:pPr>
            <a:r>
              <a:rPr lang="en-US" sz="1400" dirty="0">
                <a:solidFill>
                  <a:srgbClr val="1F2A37"/>
                </a:solidFill>
                <a:latin typeface="Yu Gothic" pitchFamily="34" charset="0"/>
                <a:ea typeface="Yu Gothic" pitchFamily="34" charset="-122"/>
                <a:cs typeface="Yu Gothic" pitchFamily="34" charset="-120"/>
              </a:rPr>
              <a:t>。ここがSEの本当の存在意義</a:t>
            </a:r>
            <a:endParaRPr lang="en-US" sz="1400" dirty="0"/>
          </a:p>
        </p:txBody>
      </p:sp>
      <p:sp>
        <p:nvSpPr>
          <p:cNvPr id="8" name="Shape 6"/>
          <p:cNvSpPr/>
          <p:nvPr/>
        </p:nvSpPr>
        <p:spPr>
          <a:xfrm>
            <a:off x="813816" y="3310128"/>
            <a:ext cx="10564063" cy="1170432"/>
          </a:xfrm>
          <a:prstGeom prst="rect">
            <a:avLst/>
          </a:prstGeom>
          <a:solidFill>
            <a:srgbClr val="FBFAF7"/>
          </a:solidFill>
          <a:ln w="12700">
            <a:solidFill>
              <a:srgbClr val="FBFAF7"/>
            </a:solidFill>
            <a:prstDash val="solid"/>
          </a:ln>
        </p:spPr>
      </p:sp>
      <p:sp>
        <p:nvSpPr>
          <p:cNvPr id="9" name="Shape 7"/>
          <p:cNvSpPr/>
          <p:nvPr/>
        </p:nvSpPr>
        <p:spPr>
          <a:xfrm>
            <a:off x="813816" y="3310128"/>
            <a:ext cx="54864" cy="1170432"/>
          </a:xfrm>
          <a:prstGeom prst="rect">
            <a:avLst/>
          </a:prstGeom>
          <a:solidFill>
            <a:srgbClr val="D9772B"/>
          </a:solidFill>
          <a:ln w="12700">
            <a:solidFill>
              <a:srgbClr val="D9772B"/>
            </a:solidFill>
            <a:prstDash val="solid"/>
          </a:ln>
        </p:spPr>
      </p:sp>
      <p:sp>
        <p:nvSpPr>
          <p:cNvPr id="10" name="Text 8"/>
          <p:cNvSpPr/>
          <p:nvPr/>
        </p:nvSpPr>
        <p:spPr>
          <a:xfrm>
            <a:off x="1088136" y="3310128"/>
            <a:ext cx="2011680" cy="1170432"/>
          </a:xfrm>
          <a:prstGeom prst="rect">
            <a:avLst/>
          </a:prstGeom>
          <a:noFill/>
          <a:ln/>
        </p:spPr>
        <p:txBody>
          <a:bodyPr wrap="square" lIns="0" tIns="0" rIns="0" bIns="0" rtlCol="0" anchor="ctr"/>
          <a:lstStyle/>
          <a:p>
            <a:pPr indent="0" marL="0">
              <a:buNone/>
            </a:pPr>
            <a:r>
              <a:rPr lang="en-US" sz="1600" b="1" dirty="0">
                <a:solidFill>
                  <a:srgbClr val="1F2A37"/>
                </a:solidFill>
                <a:latin typeface="Yu Gothic" pitchFamily="34" charset="0"/>
                <a:ea typeface="Yu Gothic" pitchFamily="34" charset="-122"/>
                <a:cs typeface="Yu Gothic" pitchFamily="34" charset="-120"/>
              </a:rPr>
              <a:t>手がかり</a:t>
            </a:r>
            <a:endParaRPr lang="en-US" sz="1600" dirty="0"/>
          </a:p>
        </p:txBody>
      </p:sp>
      <p:sp>
        <p:nvSpPr>
          <p:cNvPr id="11" name="Text 9"/>
          <p:cNvSpPr/>
          <p:nvPr/>
        </p:nvSpPr>
        <p:spPr>
          <a:xfrm>
            <a:off x="3191256" y="3401568"/>
            <a:ext cx="7958023" cy="987552"/>
          </a:xfrm>
          <a:prstGeom prst="rect">
            <a:avLst/>
          </a:prstGeom>
          <a:noFill/>
          <a:ln/>
        </p:spPr>
        <p:txBody>
          <a:bodyPr wrap="square" lIns="0" tIns="0" rIns="0" bIns="0" rtlCol="0" anchor="ctr"/>
          <a:lstStyle/>
          <a:p>
            <a:pPr indent="0" marL="0">
              <a:lnSpc>
                <a:spcPct val="135000"/>
              </a:lnSpc>
              <a:buNone/>
            </a:pPr>
            <a:r>
              <a:rPr lang="en-US" sz="1400" dirty="0">
                <a:solidFill>
                  <a:srgbClr val="1F2A37"/>
                </a:solidFill>
                <a:latin typeface="Yu Gothic" pitchFamily="34" charset="0"/>
                <a:ea typeface="Yu Gothic" pitchFamily="34" charset="-122"/>
                <a:cs typeface="Yu Gothic" pitchFamily="34" charset="-120"/>
              </a:rPr>
              <a:t>気導音声の表現に近づける損失（Enc L1）は、Whisper以外でも悪化しなかった。汎用性を保てるのは「特定のASRの出力」ではなく</a:t>
            </a:r>
            <a:pPr indent="0" marL="0">
              <a:lnSpc>
                <a:spcPct val="135000"/>
              </a:lnSpc>
              <a:buNone/>
            </a:pPr>
            <a:r>
              <a:rPr lang="en-US" sz="1400" b="1" dirty="0">
                <a:solidFill>
                  <a:srgbClr val="1F2A37"/>
                </a:solidFill>
                <a:latin typeface="Yu Gothic" pitchFamily="34" charset="0"/>
                <a:ea typeface="Yu Gothic" pitchFamily="34" charset="-122"/>
                <a:cs typeface="Yu Gothic" pitchFamily="34" charset="-120"/>
              </a:rPr>
              <a:t>「音声の表現」に近づける</a:t>
            </a:r>
            <a:pPr indent="0" marL="0">
              <a:lnSpc>
                <a:spcPct val="135000"/>
              </a:lnSpc>
              <a:buNone/>
            </a:pPr>
            <a:r>
              <a:rPr lang="en-US" sz="1400" dirty="0">
                <a:solidFill>
                  <a:srgbClr val="1F2A37"/>
                </a:solidFill>
                <a:latin typeface="Yu Gothic" pitchFamily="34" charset="0"/>
                <a:ea typeface="Yu Gothic" pitchFamily="34" charset="-122"/>
                <a:cs typeface="Yu Gothic" pitchFamily="34" charset="-120"/>
              </a:rPr>
              <a:t>方向（自己教師あり表現を損失に使う研究もある）</a:t>
            </a:r>
            <a:endParaRPr lang="en-US" sz="1400" dirty="0"/>
          </a:p>
        </p:txBody>
      </p:sp>
      <p:sp>
        <p:nvSpPr>
          <p:cNvPr id="12" name="Shape 10"/>
          <p:cNvSpPr/>
          <p:nvPr/>
        </p:nvSpPr>
        <p:spPr>
          <a:xfrm>
            <a:off x="813816" y="4608576"/>
            <a:ext cx="10564063" cy="1170432"/>
          </a:xfrm>
          <a:prstGeom prst="rect">
            <a:avLst/>
          </a:prstGeom>
          <a:solidFill>
            <a:srgbClr val="FBFAF7"/>
          </a:solidFill>
          <a:ln w="12700">
            <a:solidFill>
              <a:srgbClr val="FBFAF7"/>
            </a:solidFill>
            <a:prstDash val="solid"/>
          </a:ln>
        </p:spPr>
      </p:sp>
      <p:sp>
        <p:nvSpPr>
          <p:cNvPr id="13" name="Shape 11"/>
          <p:cNvSpPr/>
          <p:nvPr/>
        </p:nvSpPr>
        <p:spPr>
          <a:xfrm>
            <a:off x="813816" y="4608576"/>
            <a:ext cx="54864" cy="1170432"/>
          </a:xfrm>
          <a:prstGeom prst="rect">
            <a:avLst/>
          </a:prstGeom>
          <a:solidFill>
            <a:srgbClr val="D9772B"/>
          </a:solidFill>
          <a:ln w="12700">
            <a:solidFill>
              <a:srgbClr val="D9772B"/>
            </a:solidFill>
            <a:prstDash val="solid"/>
          </a:ln>
        </p:spPr>
      </p:sp>
      <p:sp>
        <p:nvSpPr>
          <p:cNvPr id="14" name="Text 12"/>
          <p:cNvSpPr/>
          <p:nvPr/>
        </p:nvSpPr>
        <p:spPr>
          <a:xfrm>
            <a:off x="1088136" y="4608576"/>
            <a:ext cx="2011680" cy="1170432"/>
          </a:xfrm>
          <a:prstGeom prst="rect">
            <a:avLst/>
          </a:prstGeom>
          <a:noFill/>
          <a:ln/>
        </p:spPr>
        <p:txBody>
          <a:bodyPr wrap="square" lIns="0" tIns="0" rIns="0" bIns="0" rtlCol="0" anchor="ctr"/>
          <a:lstStyle/>
          <a:p>
            <a:pPr indent="0" marL="0">
              <a:buNone/>
            </a:pPr>
            <a:r>
              <a:rPr lang="en-US" sz="1600" b="1" dirty="0">
                <a:solidFill>
                  <a:srgbClr val="1F2A37"/>
                </a:solidFill>
                <a:latin typeface="Yu Gothic" pitchFamily="34" charset="0"/>
                <a:ea typeface="Yu Gothic" pitchFamily="34" charset="-122"/>
                <a:cs typeface="Yu Gothic" pitchFamily="34" charset="-120"/>
              </a:rPr>
              <a:t>評価の枠組み</a:t>
            </a:r>
            <a:endParaRPr lang="en-US" sz="1600" dirty="0"/>
          </a:p>
        </p:txBody>
      </p:sp>
      <p:sp>
        <p:nvSpPr>
          <p:cNvPr id="15" name="Text 13"/>
          <p:cNvSpPr/>
          <p:nvPr/>
        </p:nvSpPr>
        <p:spPr>
          <a:xfrm>
            <a:off x="3191256" y="4700016"/>
            <a:ext cx="7958023" cy="987552"/>
          </a:xfrm>
          <a:prstGeom prst="rect">
            <a:avLst/>
          </a:prstGeom>
          <a:noFill/>
          <a:ln/>
        </p:spPr>
        <p:txBody>
          <a:bodyPr wrap="square" lIns="0" tIns="0" rIns="0" bIns="0" rtlCol="0" anchor="ctr"/>
          <a:lstStyle/>
          <a:p>
            <a:pPr indent="0" marL="0">
              <a:lnSpc>
                <a:spcPct val="135000"/>
              </a:lnSpc>
              <a:buNone/>
            </a:pPr>
            <a:r>
              <a:rPr lang="en-US" sz="1400" dirty="0">
                <a:solidFill>
                  <a:srgbClr val="1F2A37"/>
                </a:solidFill>
                <a:latin typeface="Yu Gothic" pitchFamily="34" charset="0"/>
                <a:ea typeface="Yu Gothic" pitchFamily="34" charset="-122"/>
                <a:cs typeface="Yu Gothic" pitchFamily="34" charset="-120"/>
              </a:rPr>
              <a:t>学習に使っていない系列のASRで評価する、句読点をそろえる。</a:t>
            </a:r>
            <a:pPr indent="0" marL="0">
              <a:lnSpc>
                <a:spcPct val="135000"/>
              </a:lnSpc>
              <a:buNone/>
            </a:pPr>
            <a:r>
              <a:rPr lang="en-US" sz="1400" b="1" dirty="0">
                <a:solidFill>
                  <a:srgbClr val="1F2A37"/>
                </a:solidFill>
                <a:latin typeface="Yu Gothic" pitchFamily="34" charset="0"/>
                <a:ea typeface="Yu Gothic" pitchFamily="34" charset="-122"/>
                <a:cs typeface="Yu Gothic" pitchFamily="34" charset="-120"/>
              </a:rPr>
              <a:t>卒論で作ったものがそのまま使える</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3816" y="640080"/>
            <a:ext cx="10564063" cy="320040"/>
          </a:xfrm>
          <a:prstGeom prst="rect">
            <a:avLst/>
          </a:prstGeom>
          <a:noFill/>
          <a:ln/>
        </p:spPr>
        <p:txBody>
          <a:bodyPr wrap="square" lIns="0" tIns="0" rIns="0" bIns="0" rtlCol="0" anchor="t"/>
          <a:lstStyle/>
          <a:p>
            <a:pPr indent="0" marL="0">
              <a:buNone/>
            </a:pPr>
            <a:r>
              <a:rPr lang="en-US" sz="1500" b="1" spc="200" kern="0" dirty="0">
                <a:solidFill>
                  <a:srgbClr val="B45F1E"/>
                </a:solidFill>
                <a:latin typeface="Yu Gothic" pitchFamily="34" charset="0"/>
                <a:ea typeface="Yu Gothic" pitchFamily="34" charset="-122"/>
                <a:cs typeface="Yu Gothic" pitchFamily="34" charset="-120"/>
              </a:rPr>
              <a:t>次の方向の候補：その他</a:t>
            </a:r>
            <a:endParaRPr lang="en-US" sz="1500" dirty="0"/>
          </a:p>
        </p:txBody>
      </p:sp>
      <p:sp>
        <p:nvSpPr>
          <p:cNvPr id="3" name="Text 1"/>
          <p:cNvSpPr/>
          <p:nvPr/>
        </p:nvSpPr>
        <p:spPr>
          <a:xfrm>
            <a:off x="813816" y="1051560"/>
            <a:ext cx="10564063" cy="731520"/>
          </a:xfrm>
          <a:prstGeom prst="rect">
            <a:avLst/>
          </a:prstGeom>
          <a:noFill/>
          <a:ln/>
        </p:spPr>
        <p:txBody>
          <a:bodyPr wrap="square" lIns="0" tIns="0" rIns="0" bIns="0" rtlCol="0" anchor="t"/>
          <a:lstStyle/>
          <a:p>
            <a:pPr indent="0" marL="0">
              <a:buNone/>
            </a:pPr>
            <a:r>
              <a:rPr lang="en-US" sz="3000" b="1" dirty="0">
                <a:solidFill>
                  <a:srgbClr val="1F2A37"/>
                </a:solidFill>
                <a:latin typeface="Yu Gothic" pitchFamily="34" charset="0"/>
                <a:ea typeface="Yu Gothic" pitchFamily="34" charset="-122"/>
                <a:cs typeface="Yu Gothic" pitchFamily="34" charset="-120"/>
              </a:rPr>
              <a:t>ほかに考えられる選択肢</a:t>
            </a:r>
            <a:endParaRPr lang="en-US" sz="30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813816" y="2011680"/>
          <a:ext cx="10564063" cy="914400"/>
        </p:xfrm>
        <a:graphic>
          <a:graphicData uri="http://schemas.openxmlformats.org/drawingml/2006/table">
            <a:tbl>
              <a:tblPr/>
              <a:tblGrid>
                <a:gridCol w="3591781"/>
                <a:gridCol w="3486141"/>
                <a:gridCol w="3486141"/>
              </a:tblGrid>
              <a:tr h="502920">
                <a:tc>
                  <a:txBody>
                    <a:bodyPr/>
                    <a:lstStyle/>
                    <a:p>
                      <a:pPr indent="0" marL="0">
                        <a:buNone/>
                      </a:pPr>
                      <a:r>
                        <a:rPr lang="en-US" sz="1500" b="1" dirty="0">
                          <a:solidFill>
                            <a:srgbClr val="F7F6F2"/>
                          </a:solidFill>
                          <a:latin typeface="Yu Gothic" pitchFamily="34" charset="0"/>
                          <a:ea typeface="Yu Gothic" pitchFamily="34" charset="-122"/>
                          <a:cs typeface="Yu Gothic" pitchFamily="34" charset="-120"/>
                        </a:rPr>
                        <a:t>方向</a:t>
                      </a:r>
                      <a:endParaRPr lang="en-US" sz="1500" dirty="0">
                        <a:latin typeface="Yu Gothic" charset="0"/>
                        <a:ea typeface="Yu Gothic" charset="0"/>
                        <a:cs typeface="Yu Gothic" charset="0"/>
                      </a:endParaRPr>
                    </a:p>
                  </a:txBody>
                  <a:tcPr marL="109728" marR="109728" marT="109728" marB="109728" anchor="ctr">
                    <a:lnL w="9525" cap="flat" cmpd="sng" algn="ctr">
                      <a:solidFill>
                        <a:srgbClr val="D8D3C8"/>
                      </a:solidFill>
                      <a:prstDash val="solid"/>
                      <a:round/>
                      <a:headEnd type="none" w="med" len="med"/>
                      <a:tailEnd type="none" w="med" len="med"/>
                    </a:lnL>
                    <a:lnR w="9525" cap="flat" cmpd="sng" algn="ctr">
                      <a:solidFill>
                        <a:srgbClr val="D8D3C8"/>
                      </a:solidFill>
                      <a:prstDash val="solid"/>
                      <a:round/>
                      <a:headEnd type="none" w="med" len="med"/>
                      <a:tailEnd type="none" w="med" len="med"/>
                    </a:lnR>
                    <a:lnT w="9525" cap="flat" cmpd="sng" algn="ctr">
                      <a:solidFill>
                        <a:srgbClr val="D8D3C8"/>
                      </a:solidFill>
                      <a:prstDash val="solid"/>
                      <a:round/>
                      <a:headEnd type="none" w="med" len="med"/>
                      <a:tailEnd type="none" w="med" len="med"/>
                    </a:lnT>
                    <a:lnB w="9525" cap="flat" cmpd="sng" algn="ctr">
                      <a:solidFill>
                        <a:srgbClr val="D8D3C8"/>
                      </a:solidFill>
                      <a:prstDash val="solid"/>
                      <a:round/>
                      <a:headEnd type="none" w="med" len="med"/>
                      <a:tailEnd type="none" w="med" len="med"/>
                    </a:lnB>
                    <a:solidFill>
                      <a:srgbClr val="1F2A37"/>
                    </a:solidFill>
                  </a:tcPr>
                </a:tc>
                <a:tc>
                  <a:txBody>
                    <a:bodyPr/>
                    <a:lstStyle/>
                    <a:p>
                      <a:pPr indent="0" marL="0">
                        <a:buNone/>
                      </a:pPr>
                      <a:r>
                        <a:rPr lang="en-US" sz="1500" b="1" dirty="0">
                          <a:solidFill>
                            <a:srgbClr val="F7F6F2"/>
                          </a:solidFill>
                          <a:latin typeface="Yu Gothic" pitchFamily="34" charset="0"/>
                          <a:ea typeface="Yu Gothic" pitchFamily="34" charset="-122"/>
                          <a:cs typeface="Yu Gothic" pitchFamily="34" charset="-120"/>
                        </a:rPr>
                        <a:t>見込み</a:t>
                      </a:r>
                      <a:endParaRPr lang="en-US" sz="1500" dirty="0">
                        <a:latin typeface="Yu Gothic" charset="0"/>
                        <a:ea typeface="Yu Gothic" charset="0"/>
                        <a:cs typeface="Yu Gothic" charset="0"/>
                      </a:endParaRPr>
                    </a:p>
                  </a:txBody>
                  <a:tcPr marL="109728" marR="109728" marT="109728" marB="109728" anchor="ctr">
                    <a:lnL w="9525" cap="flat" cmpd="sng" algn="ctr">
                      <a:solidFill>
                        <a:srgbClr val="D8D3C8"/>
                      </a:solidFill>
                      <a:prstDash val="solid"/>
                      <a:round/>
                      <a:headEnd type="none" w="med" len="med"/>
                      <a:tailEnd type="none" w="med" len="med"/>
                    </a:lnL>
                    <a:lnR w="9525" cap="flat" cmpd="sng" algn="ctr">
                      <a:solidFill>
                        <a:srgbClr val="D8D3C8"/>
                      </a:solidFill>
                      <a:prstDash val="solid"/>
                      <a:round/>
                      <a:headEnd type="none" w="med" len="med"/>
                      <a:tailEnd type="none" w="med" len="med"/>
                    </a:lnR>
                    <a:lnT w="9525" cap="flat" cmpd="sng" algn="ctr">
                      <a:solidFill>
                        <a:srgbClr val="D8D3C8"/>
                      </a:solidFill>
                      <a:prstDash val="solid"/>
                      <a:round/>
                      <a:headEnd type="none" w="med" len="med"/>
                      <a:tailEnd type="none" w="med" len="med"/>
                    </a:lnT>
                    <a:lnB w="9525" cap="flat" cmpd="sng" algn="ctr">
                      <a:solidFill>
                        <a:srgbClr val="D8D3C8"/>
                      </a:solidFill>
                      <a:prstDash val="solid"/>
                      <a:round/>
                      <a:headEnd type="none" w="med" len="med"/>
                      <a:tailEnd type="none" w="med" len="med"/>
                    </a:lnB>
                    <a:solidFill>
                      <a:srgbClr val="1F2A37"/>
                    </a:solidFill>
                  </a:tcPr>
                </a:tc>
                <a:tc>
                  <a:txBody>
                    <a:bodyPr/>
                    <a:lstStyle/>
                    <a:p>
                      <a:pPr indent="0" marL="0">
                        <a:buNone/>
                      </a:pPr>
                      <a:r>
                        <a:rPr lang="en-US" sz="1500" b="1" dirty="0">
                          <a:solidFill>
                            <a:srgbClr val="F7F6F2"/>
                          </a:solidFill>
                          <a:latin typeface="Yu Gothic" pitchFamily="34" charset="0"/>
                          <a:ea typeface="Yu Gothic" pitchFamily="34" charset="-122"/>
                          <a:cs typeface="Yu Gothic" pitchFamily="34" charset="-120"/>
                        </a:rPr>
                        <a:t>懸念</a:t>
                      </a:r>
                      <a:endParaRPr lang="en-US" sz="1500" dirty="0">
                        <a:latin typeface="Yu Gothic" charset="0"/>
                        <a:ea typeface="Yu Gothic" charset="0"/>
                        <a:cs typeface="Yu Gothic" charset="0"/>
                      </a:endParaRPr>
                    </a:p>
                  </a:txBody>
                  <a:tcPr marL="109728" marR="109728" marT="109728" marB="109728" anchor="ctr">
                    <a:lnL w="9525" cap="flat" cmpd="sng" algn="ctr">
                      <a:solidFill>
                        <a:srgbClr val="D8D3C8"/>
                      </a:solidFill>
                      <a:prstDash val="solid"/>
                      <a:round/>
                      <a:headEnd type="none" w="med" len="med"/>
                      <a:tailEnd type="none" w="med" len="med"/>
                    </a:lnL>
                    <a:lnR w="9525" cap="flat" cmpd="sng" algn="ctr">
                      <a:solidFill>
                        <a:srgbClr val="D8D3C8"/>
                      </a:solidFill>
                      <a:prstDash val="solid"/>
                      <a:round/>
                      <a:headEnd type="none" w="med" len="med"/>
                      <a:tailEnd type="none" w="med" len="med"/>
                    </a:lnR>
                    <a:lnT w="9525" cap="flat" cmpd="sng" algn="ctr">
                      <a:solidFill>
                        <a:srgbClr val="D8D3C8"/>
                      </a:solidFill>
                      <a:prstDash val="solid"/>
                      <a:round/>
                      <a:headEnd type="none" w="med" len="med"/>
                      <a:tailEnd type="none" w="med" len="med"/>
                    </a:lnT>
                    <a:lnB w="9525" cap="flat" cmpd="sng" algn="ctr">
                      <a:solidFill>
                        <a:srgbClr val="D8D3C8"/>
                      </a:solidFill>
                      <a:prstDash val="solid"/>
                      <a:round/>
                      <a:headEnd type="none" w="med" len="med"/>
                      <a:tailEnd type="none" w="med" len="med"/>
                    </a:lnB>
                    <a:solidFill>
                      <a:srgbClr val="1F2A37"/>
                    </a:solidFill>
                  </a:tcPr>
                </a:tc>
              </a:tr>
              <a:tr h="868680">
                <a:tc>
                  <a:txBody>
                    <a:bodyPr/>
                    <a:lstStyle/>
                    <a:p>
                      <a:pPr indent="0" marL="0">
                        <a:buNone/>
                      </a:pPr>
                      <a:r>
                        <a:rPr lang="en-US" sz="1500" dirty="0">
                          <a:solidFill>
                            <a:srgbClr val="1F2A37"/>
                          </a:solidFill>
                          <a:latin typeface="Yu Gothic" pitchFamily="34" charset="0"/>
                          <a:ea typeface="Yu Gothic" pitchFamily="34" charset="-122"/>
                          <a:cs typeface="Yu Gothic" pitchFamily="34" charset="-120"/>
                        </a:rPr>
                        <a:t>複数のASRの損失を混ぜて学習</a:t>
                      </a:r>
                      <a:endParaRPr lang="en-US" sz="1500" dirty="0">
                        <a:latin typeface="Yu Gothic" charset="0"/>
                        <a:ea typeface="Yu Gothic" charset="0"/>
                        <a:cs typeface="Yu Gothic" charset="0"/>
                      </a:endParaRPr>
                    </a:p>
                  </a:txBody>
                  <a:tcPr marL="109728" marR="109728" marT="109728" marB="109728" anchor="ctr">
                    <a:lnL w="9525" cap="flat" cmpd="sng" algn="ctr">
                      <a:solidFill>
                        <a:srgbClr val="D8D3C8"/>
                      </a:solidFill>
                      <a:prstDash val="solid"/>
                      <a:round/>
                      <a:headEnd type="none" w="med" len="med"/>
                      <a:tailEnd type="none" w="med" len="med"/>
                    </a:lnL>
                    <a:lnR w="9525" cap="flat" cmpd="sng" algn="ctr">
                      <a:solidFill>
                        <a:srgbClr val="D8D3C8"/>
                      </a:solidFill>
                      <a:prstDash val="solid"/>
                      <a:round/>
                      <a:headEnd type="none" w="med" len="med"/>
                      <a:tailEnd type="none" w="med" len="med"/>
                    </a:lnR>
                    <a:lnT w="9525" cap="flat" cmpd="sng" algn="ctr">
                      <a:solidFill>
                        <a:srgbClr val="D8D3C8"/>
                      </a:solidFill>
                      <a:prstDash val="solid"/>
                      <a:round/>
                      <a:headEnd type="none" w="med" len="med"/>
                      <a:tailEnd type="none" w="med" len="med"/>
                    </a:lnT>
                    <a:lnB w="9525" cap="flat" cmpd="sng" algn="ctr">
                      <a:solidFill>
                        <a:srgbClr val="D8D3C8"/>
                      </a:solidFill>
                      <a:prstDash val="solid"/>
                      <a:round/>
                      <a:headEnd type="none" w="med" len="med"/>
                      <a:tailEnd type="none" w="med" len="med"/>
                    </a:lnB>
                    <a:solidFill>
                      <a:srgbClr val="FBFAF7"/>
                    </a:solidFill>
                  </a:tcPr>
                </a:tc>
                <a:tc>
                  <a:txBody>
                    <a:bodyPr/>
                    <a:lstStyle/>
                    <a:p>
                      <a:pPr indent="0" marL="0">
                        <a:buNone/>
                      </a:pPr>
                      <a:r>
                        <a:rPr lang="en-US" sz="1500" dirty="0">
                          <a:solidFill>
                            <a:srgbClr val="1F2A37"/>
                          </a:solidFill>
                          <a:latin typeface="Yu Gothic" pitchFamily="34" charset="0"/>
                          <a:ea typeface="Yu Gothic" pitchFamily="34" charset="-122"/>
                          <a:cs typeface="Yu Gothic" pitchFamily="34" charset="-120"/>
                        </a:rPr>
                        <a:t>自然な発展</a:t>
                      </a:r>
                      <a:endParaRPr lang="en-US" sz="1500" dirty="0">
                        <a:latin typeface="Yu Gothic" charset="0"/>
                        <a:ea typeface="Yu Gothic" charset="0"/>
                        <a:cs typeface="Yu Gothic" charset="0"/>
                      </a:endParaRPr>
                    </a:p>
                  </a:txBody>
                  <a:tcPr marL="109728" marR="109728" marT="109728" marB="109728" anchor="ctr">
                    <a:lnL w="9525" cap="flat" cmpd="sng" algn="ctr">
                      <a:solidFill>
                        <a:srgbClr val="D8D3C8"/>
                      </a:solidFill>
                      <a:prstDash val="solid"/>
                      <a:round/>
                      <a:headEnd type="none" w="med" len="med"/>
                      <a:tailEnd type="none" w="med" len="med"/>
                    </a:lnL>
                    <a:lnR w="9525" cap="flat" cmpd="sng" algn="ctr">
                      <a:solidFill>
                        <a:srgbClr val="D8D3C8"/>
                      </a:solidFill>
                      <a:prstDash val="solid"/>
                      <a:round/>
                      <a:headEnd type="none" w="med" len="med"/>
                      <a:tailEnd type="none" w="med" len="med"/>
                    </a:lnR>
                    <a:lnT w="9525" cap="flat" cmpd="sng" algn="ctr">
                      <a:solidFill>
                        <a:srgbClr val="D8D3C8"/>
                      </a:solidFill>
                      <a:prstDash val="solid"/>
                      <a:round/>
                      <a:headEnd type="none" w="med" len="med"/>
                      <a:tailEnd type="none" w="med" len="med"/>
                    </a:lnT>
                    <a:lnB w="9525" cap="flat" cmpd="sng" algn="ctr">
                      <a:solidFill>
                        <a:srgbClr val="D8D3C8"/>
                      </a:solidFill>
                      <a:prstDash val="solid"/>
                      <a:round/>
                      <a:headEnd type="none" w="med" len="med"/>
                      <a:tailEnd type="none" w="med" len="med"/>
                    </a:lnB>
                    <a:solidFill>
                      <a:srgbClr val="FBFAF7"/>
                    </a:solidFill>
                  </a:tcPr>
                </a:tc>
                <a:tc>
                  <a:txBody>
                    <a:bodyPr/>
                    <a:lstStyle/>
                    <a:p>
                      <a:pPr indent="0" marL="0">
                        <a:buNone/>
                      </a:pPr>
                      <a:r>
                        <a:rPr lang="en-US" sz="1500" dirty="0">
                          <a:solidFill>
                            <a:srgbClr val="1F2A37"/>
                          </a:solidFill>
                          <a:latin typeface="Yu Gothic" pitchFamily="34" charset="0"/>
                          <a:ea typeface="Yu Gothic" pitchFamily="34" charset="-122"/>
                          <a:cs typeface="Yu Gothic" pitchFamily="34" charset="-120"/>
                        </a:rPr>
                        <a:t>平均的になるだけかも。学習に使っていない系列には効かない可能性</a:t>
                      </a:r>
                      <a:endParaRPr lang="en-US" sz="1500" dirty="0">
                        <a:latin typeface="Yu Gothic" charset="0"/>
                        <a:ea typeface="Yu Gothic" charset="0"/>
                        <a:cs typeface="Yu Gothic" charset="0"/>
                      </a:endParaRPr>
                    </a:p>
                  </a:txBody>
                  <a:tcPr marL="109728" marR="109728" marT="109728" marB="109728" anchor="ctr">
                    <a:lnL w="9525" cap="flat" cmpd="sng" algn="ctr">
                      <a:solidFill>
                        <a:srgbClr val="D8D3C8"/>
                      </a:solidFill>
                      <a:prstDash val="solid"/>
                      <a:round/>
                      <a:headEnd type="none" w="med" len="med"/>
                      <a:tailEnd type="none" w="med" len="med"/>
                    </a:lnL>
                    <a:lnR w="9525" cap="flat" cmpd="sng" algn="ctr">
                      <a:solidFill>
                        <a:srgbClr val="D8D3C8"/>
                      </a:solidFill>
                      <a:prstDash val="solid"/>
                      <a:round/>
                      <a:headEnd type="none" w="med" len="med"/>
                      <a:tailEnd type="none" w="med" len="med"/>
                    </a:lnR>
                    <a:lnT w="9525" cap="flat" cmpd="sng" algn="ctr">
                      <a:solidFill>
                        <a:srgbClr val="D8D3C8"/>
                      </a:solidFill>
                      <a:prstDash val="solid"/>
                      <a:round/>
                      <a:headEnd type="none" w="med" len="med"/>
                      <a:tailEnd type="none" w="med" len="med"/>
                    </a:lnT>
                    <a:lnB w="9525" cap="flat" cmpd="sng" algn="ctr">
                      <a:solidFill>
                        <a:srgbClr val="D8D3C8"/>
                      </a:solidFill>
                      <a:prstDash val="solid"/>
                      <a:round/>
                      <a:headEnd type="none" w="med" len="med"/>
                      <a:tailEnd type="none" w="med" len="med"/>
                    </a:lnB>
                    <a:solidFill>
                      <a:srgbClr val="FBFAF7"/>
                    </a:solidFill>
                  </a:tcPr>
                </a:tc>
              </a:tr>
              <a:tr h="868680">
                <a:tc>
                  <a:txBody>
                    <a:bodyPr/>
                    <a:lstStyle/>
                    <a:p>
                      <a:pPr indent="0" marL="0">
                        <a:buNone/>
                      </a:pPr>
                      <a:r>
                        <a:rPr lang="en-US" sz="1500" dirty="0">
                          <a:solidFill>
                            <a:srgbClr val="1F2A37"/>
                          </a:solidFill>
                          <a:latin typeface="Yu Gothic" pitchFamily="34" charset="0"/>
                          <a:ea typeface="Yu Gothic" pitchFamily="34" charset="-122"/>
                          <a:cs typeface="Yu Gothic" pitchFamily="34" charset="-120"/>
                        </a:rPr>
                        <a:t>実際の雑音環境で評価</a:t>
                      </a:r>
                      <a:endParaRPr lang="en-US" sz="1500" dirty="0">
                        <a:latin typeface="Yu Gothic" charset="0"/>
                        <a:ea typeface="Yu Gothic" charset="0"/>
                        <a:cs typeface="Yu Gothic" charset="0"/>
                      </a:endParaRPr>
                    </a:p>
                  </a:txBody>
                  <a:tcPr marL="109728" marR="109728" marT="109728" marB="109728" anchor="ctr">
                    <a:lnL w="9525" cap="flat" cmpd="sng" algn="ctr">
                      <a:solidFill>
                        <a:srgbClr val="D8D3C8"/>
                      </a:solidFill>
                      <a:prstDash val="solid"/>
                      <a:round/>
                      <a:headEnd type="none" w="med" len="med"/>
                      <a:tailEnd type="none" w="med" len="med"/>
                    </a:lnL>
                    <a:lnR w="9525" cap="flat" cmpd="sng" algn="ctr">
                      <a:solidFill>
                        <a:srgbClr val="D8D3C8"/>
                      </a:solidFill>
                      <a:prstDash val="solid"/>
                      <a:round/>
                      <a:headEnd type="none" w="med" len="med"/>
                      <a:tailEnd type="none" w="med" len="med"/>
                    </a:lnR>
                    <a:lnT w="9525" cap="flat" cmpd="sng" algn="ctr">
                      <a:solidFill>
                        <a:srgbClr val="D8D3C8"/>
                      </a:solidFill>
                      <a:prstDash val="solid"/>
                      <a:round/>
                      <a:headEnd type="none" w="med" len="med"/>
                      <a:tailEnd type="none" w="med" len="med"/>
                    </a:lnT>
                    <a:lnB w="9525" cap="flat" cmpd="sng" algn="ctr">
                      <a:solidFill>
                        <a:srgbClr val="D8D3C8"/>
                      </a:solidFill>
                      <a:prstDash val="solid"/>
                      <a:round/>
                      <a:headEnd type="none" w="med" len="med"/>
                      <a:tailEnd type="none" w="med" len="med"/>
                    </a:lnB>
                    <a:solidFill>
                      <a:srgbClr val="EEF1F4"/>
                    </a:solidFill>
                  </a:tcPr>
                </a:tc>
                <a:tc>
                  <a:txBody>
                    <a:bodyPr/>
                    <a:lstStyle/>
                    <a:p>
                      <a:pPr indent="0" marL="0">
                        <a:buNone/>
                      </a:pPr>
                      <a:r>
                        <a:rPr lang="en-US" sz="1500" dirty="0">
                          <a:solidFill>
                            <a:srgbClr val="1F2A37"/>
                          </a:solidFill>
                          <a:latin typeface="Yu Gothic" pitchFamily="34" charset="0"/>
                          <a:ea typeface="Yu Gothic" pitchFamily="34" charset="-122"/>
                          <a:cs typeface="Yu Gothic" pitchFamily="34" charset="-120"/>
                        </a:rPr>
                        <a:t>喉マイク本来の強み（騒音に強い）を活かせる</a:t>
                      </a:r>
                      <a:endParaRPr lang="en-US" sz="1500" dirty="0">
                        <a:latin typeface="Yu Gothic" charset="0"/>
                        <a:ea typeface="Yu Gothic" charset="0"/>
                        <a:cs typeface="Yu Gothic" charset="0"/>
                      </a:endParaRPr>
                    </a:p>
                  </a:txBody>
                  <a:tcPr marL="109728" marR="109728" marT="109728" marB="109728" anchor="ctr">
                    <a:lnL w="9525" cap="flat" cmpd="sng" algn="ctr">
                      <a:solidFill>
                        <a:srgbClr val="D8D3C8"/>
                      </a:solidFill>
                      <a:prstDash val="solid"/>
                      <a:round/>
                      <a:headEnd type="none" w="med" len="med"/>
                      <a:tailEnd type="none" w="med" len="med"/>
                    </a:lnL>
                    <a:lnR w="9525" cap="flat" cmpd="sng" algn="ctr">
                      <a:solidFill>
                        <a:srgbClr val="D8D3C8"/>
                      </a:solidFill>
                      <a:prstDash val="solid"/>
                      <a:round/>
                      <a:headEnd type="none" w="med" len="med"/>
                      <a:tailEnd type="none" w="med" len="med"/>
                    </a:lnR>
                    <a:lnT w="9525" cap="flat" cmpd="sng" algn="ctr">
                      <a:solidFill>
                        <a:srgbClr val="D8D3C8"/>
                      </a:solidFill>
                      <a:prstDash val="solid"/>
                      <a:round/>
                      <a:headEnd type="none" w="med" len="med"/>
                      <a:tailEnd type="none" w="med" len="med"/>
                    </a:lnT>
                    <a:lnB w="9525" cap="flat" cmpd="sng" algn="ctr">
                      <a:solidFill>
                        <a:srgbClr val="D8D3C8"/>
                      </a:solidFill>
                      <a:prstDash val="solid"/>
                      <a:round/>
                      <a:headEnd type="none" w="med" len="med"/>
                      <a:tailEnd type="none" w="med" len="med"/>
                    </a:lnB>
                    <a:solidFill>
                      <a:srgbClr val="EEF1F4"/>
                    </a:solidFill>
                  </a:tcPr>
                </a:tc>
                <a:tc>
                  <a:txBody>
                    <a:bodyPr/>
                    <a:lstStyle/>
                    <a:p>
                      <a:pPr indent="0" marL="0">
                        <a:buNone/>
                      </a:pPr>
                      <a:r>
                        <a:rPr lang="en-US" sz="1500" dirty="0">
                          <a:solidFill>
                            <a:srgbClr val="1F2A37"/>
                          </a:solidFill>
                          <a:latin typeface="Yu Gothic" pitchFamily="34" charset="0"/>
                          <a:ea typeface="Yu Gothic" pitchFamily="34" charset="-122"/>
                          <a:cs typeface="Yu Gothic" pitchFamily="34" charset="-120"/>
                        </a:rPr>
                        <a:t>データの収録が必要。競合研究がある</a:t>
                      </a:r>
                      <a:endParaRPr lang="en-US" sz="1500" dirty="0">
                        <a:latin typeface="Yu Gothic" charset="0"/>
                        <a:ea typeface="Yu Gothic" charset="0"/>
                        <a:cs typeface="Yu Gothic" charset="0"/>
                      </a:endParaRPr>
                    </a:p>
                  </a:txBody>
                  <a:tcPr marL="109728" marR="109728" marT="109728" marB="109728" anchor="ctr">
                    <a:lnL w="9525" cap="flat" cmpd="sng" algn="ctr">
                      <a:solidFill>
                        <a:srgbClr val="D8D3C8"/>
                      </a:solidFill>
                      <a:prstDash val="solid"/>
                      <a:round/>
                      <a:headEnd type="none" w="med" len="med"/>
                      <a:tailEnd type="none" w="med" len="med"/>
                    </a:lnL>
                    <a:lnR w="9525" cap="flat" cmpd="sng" algn="ctr">
                      <a:solidFill>
                        <a:srgbClr val="D8D3C8"/>
                      </a:solidFill>
                      <a:prstDash val="solid"/>
                      <a:round/>
                      <a:headEnd type="none" w="med" len="med"/>
                      <a:tailEnd type="none" w="med" len="med"/>
                    </a:lnR>
                    <a:lnT w="9525" cap="flat" cmpd="sng" algn="ctr">
                      <a:solidFill>
                        <a:srgbClr val="D8D3C8"/>
                      </a:solidFill>
                      <a:prstDash val="solid"/>
                      <a:round/>
                      <a:headEnd type="none" w="med" len="med"/>
                      <a:tailEnd type="none" w="med" len="med"/>
                    </a:lnT>
                    <a:lnB w="9525" cap="flat" cmpd="sng" algn="ctr">
                      <a:solidFill>
                        <a:srgbClr val="D8D3C8"/>
                      </a:solidFill>
                      <a:prstDash val="solid"/>
                      <a:round/>
                      <a:headEnd type="none" w="med" len="med"/>
                      <a:tailEnd type="none" w="med" len="med"/>
                    </a:lnB>
                    <a:solidFill>
                      <a:srgbClr val="EEF1F4"/>
                    </a:solidFill>
                  </a:tcPr>
                </a:tc>
              </a:tr>
              <a:tr h="868680">
                <a:tc>
                  <a:txBody>
                    <a:bodyPr/>
                    <a:lstStyle/>
                    <a:p>
                      <a:pPr indent="0" marL="0">
                        <a:buNone/>
                      </a:pPr>
                      <a:r>
                        <a:rPr lang="en-US" sz="1500" dirty="0">
                          <a:solidFill>
                            <a:srgbClr val="1F2A37"/>
                          </a:solidFill>
                          <a:latin typeface="Yu Gothic" pitchFamily="34" charset="0"/>
                          <a:ea typeface="Yu Gothic" pitchFamily="34" charset="-122"/>
                          <a:cs typeface="Yu Gothic" pitchFamily="34" charset="-120"/>
                        </a:rPr>
                        <a:t>入力側の適応とFTの比較（なぜ効くか）</a:t>
                      </a:r>
                      <a:endParaRPr lang="en-US" sz="1500" dirty="0">
                        <a:latin typeface="Yu Gothic" charset="0"/>
                        <a:ea typeface="Yu Gothic" charset="0"/>
                        <a:cs typeface="Yu Gothic" charset="0"/>
                      </a:endParaRPr>
                    </a:p>
                  </a:txBody>
                  <a:tcPr marL="109728" marR="109728" marT="109728" marB="109728" anchor="ctr">
                    <a:lnL w="9525" cap="flat" cmpd="sng" algn="ctr">
                      <a:solidFill>
                        <a:srgbClr val="D8D3C8"/>
                      </a:solidFill>
                      <a:prstDash val="solid"/>
                      <a:round/>
                      <a:headEnd type="none" w="med" len="med"/>
                      <a:tailEnd type="none" w="med" len="med"/>
                    </a:lnL>
                    <a:lnR w="9525" cap="flat" cmpd="sng" algn="ctr">
                      <a:solidFill>
                        <a:srgbClr val="D8D3C8"/>
                      </a:solidFill>
                      <a:prstDash val="solid"/>
                      <a:round/>
                      <a:headEnd type="none" w="med" len="med"/>
                      <a:tailEnd type="none" w="med" len="med"/>
                    </a:lnR>
                    <a:lnT w="9525" cap="flat" cmpd="sng" algn="ctr">
                      <a:solidFill>
                        <a:srgbClr val="D8D3C8"/>
                      </a:solidFill>
                      <a:prstDash val="solid"/>
                      <a:round/>
                      <a:headEnd type="none" w="med" len="med"/>
                      <a:tailEnd type="none" w="med" len="med"/>
                    </a:lnT>
                    <a:lnB w="9525" cap="flat" cmpd="sng" algn="ctr">
                      <a:solidFill>
                        <a:srgbClr val="D8D3C8"/>
                      </a:solidFill>
                      <a:prstDash val="solid"/>
                      <a:round/>
                      <a:headEnd type="none" w="med" len="med"/>
                      <a:tailEnd type="none" w="med" len="med"/>
                    </a:lnB>
                    <a:solidFill>
                      <a:srgbClr val="FBFAF7"/>
                    </a:solidFill>
                  </a:tcPr>
                </a:tc>
                <a:tc>
                  <a:txBody>
                    <a:bodyPr/>
                    <a:lstStyle/>
                    <a:p>
                      <a:pPr indent="0" marL="0">
                        <a:buNone/>
                      </a:pPr>
                      <a:r>
                        <a:rPr lang="en-US" sz="1500" dirty="0">
                          <a:solidFill>
                            <a:srgbClr val="1F2A37"/>
                          </a:solidFill>
                          <a:latin typeface="Yu Gothic" pitchFamily="34" charset="0"/>
                          <a:ea typeface="Yu Gothic" pitchFamily="34" charset="-122"/>
                          <a:cs typeface="Yu Gothic" pitchFamily="34" charset="-120"/>
                        </a:rPr>
                        <a:t>分析として面白い</a:t>
                      </a:r>
                      <a:endParaRPr lang="en-US" sz="1500" dirty="0">
                        <a:latin typeface="Yu Gothic" charset="0"/>
                        <a:ea typeface="Yu Gothic" charset="0"/>
                        <a:cs typeface="Yu Gothic" charset="0"/>
                      </a:endParaRPr>
                    </a:p>
                  </a:txBody>
                  <a:tcPr marL="109728" marR="109728" marT="109728" marB="109728" anchor="ctr">
                    <a:lnL w="9525" cap="flat" cmpd="sng" algn="ctr">
                      <a:solidFill>
                        <a:srgbClr val="D8D3C8"/>
                      </a:solidFill>
                      <a:prstDash val="solid"/>
                      <a:round/>
                      <a:headEnd type="none" w="med" len="med"/>
                      <a:tailEnd type="none" w="med" len="med"/>
                    </a:lnL>
                    <a:lnR w="9525" cap="flat" cmpd="sng" algn="ctr">
                      <a:solidFill>
                        <a:srgbClr val="D8D3C8"/>
                      </a:solidFill>
                      <a:prstDash val="solid"/>
                      <a:round/>
                      <a:headEnd type="none" w="med" len="med"/>
                      <a:tailEnd type="none" w="med" len="med"/>
                    </a:lnR>
                    <a:lnT w="9525" cap="flat" cmpd="sng" algn="ctr">
                      <a:solidFill>
                        <a:srgbClr val="D8D3C8"/>
                      </a:solidFill>
                      <a:prstDash val="solid"/>
                      <a:round/>
                      <a:headEnd type="none" w="med" len="med"/>
                      <a:tailEnd type="none" w="med" len="med"/>
                    </a:lnT>
                    <a:lnB w="9525" cap="flat" cmpd="sng" algn="ctr">
                      <a:solidFill>
                        <a:srgbClr val="D8D3C8"/>
                      </a:solidFill>
                      <a:prstDash val="solid"/>
                      <a:round/>
                      <a:headEnd type="none" w="med" len="med"/>
                      <a:tailEnd type="none" w="med" len="med"/>
                    </a:lnB>
                    <a:solidFill>
                      <a:srgbClr val="FBFAF7"/>
                    </a:solidFill>
                  </a:tcPr>
                </a:tc>
                <a:tc>
                  <a:txBody>
                    <a:bodyPr/>
                    <a:lstStyle/>
                    <a:p>
                      <a:pPr indent="0" marL="0">
                        <a:buNone/>
                      </a:pPr>
                      <a:r>
                        <a:rPr lang="en-US" sz="1500" dirty="0">
                          <a:solidFill>
                            <a:srgbClr val="1F2A37"/>
                          </a:solidFill>
                          <a:latin typeface="Yu Gothic" pitchFamily="34" charset="0"/>
                          <a:ea typeface="Yu Gothic" pitchFamily="34" charset="-122"/>
                          <a:cs typeface="Yu Gothic" pitchFamily="34" charset="-120"/>
                        </a:rPr>
                        <a:t>手法の提案にはならない</a:t>
                      </a:r>
                      <a:endParaRPr lang="en-US" sz="1500" dirty="0">
                        <a:latin typeface="Yu Gothic" charset="0"/>
                        <a:ea typeface="Yu Gothic" charset="0"/>
                        <a:cs typeface="Yu Gothic" charset="0"/>
                      </a:endParaRPr>
                    </a:p>
                  </a:txBody>
                  <a:tcPr marL="109728" marR="109728" marT="109728" marB="109728" anchor="ctr">
                    <a:lnL w="9525" cap="flat" cmpd="sng" algn="ctr">
                      <a:solidFill>
                        <a:srgbClr val="D8D3C8"/>
                      </a:solidFill>
                      <a:prstDash val="solid"/>
                      <a:round/>
                      <a:headEnd type="none" w="med" len="med"/>
                      <a:tailEnd type="none" w="med" len="med"/>
                    </a:lnL>
                    <a:lnR w="9525" cap="flat" cmpd="sng" algn="ctr">
                      <a:solidFill>
                        <a:srgbClr val="D8D3C8"/>
                      </a:solidFill>
                      <a:prstDash val="solid"/>
                      <a:round/>
                      <a:headEnd type="none" w="med" len="med"/>
                      <a:tailEnd type="none" w="med" len="med"/>
                    </a:lnR>
                    <a:lnT w="9525" cap="flat" cmpd="sng" algn="ctr">
                      <a:solidFill>
                        <a:srgbClr val="D8D3C8"/>
                      </a:solidFill>
                      <a:prstDash val="solid"/>
                      <a:round/>
                      <a:headEnd type="none" w="med" len="med"/>
                      <a:tailEnd type="none" w="med" len="med"/>
                    </a:lnT>
                    <a:lnB w="9525" cap="flat" cmpd="sng" algn="ctr">
                      <a:solidFill>
                        <a:srgbClr val="D8D3C8"/>
                      </a:solidFill>
                      <a:prstDash val="solid"/>
                      <a:round/>
                      <a:headEnd type="none" w="med" len="med"/>
                      <a:tailEnd type="none" w="med" len="med"/>
                    </a:lnB>
                    <a:solidFill>
                      <a:srgbClr val="FBFAF7"/>
                    </a:solidFill>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2026-09-24T00:14:35Z</dcterms:created>
  <dcterms:modified xsi:type="dcterms:W3CDTF">2026-09-24T00:14:35Z</dcterms:modified>
</cp:coreProperties>
</file>