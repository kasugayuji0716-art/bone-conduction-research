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よろしくお願いします。卒論の進捗を報告します。
タイトルは「ASR損失で学習した喉マイク音声強調の効果と汎化範囲」です。
今日の話は3つです。1つ目は、今やっている実験で何がわかったか。2つ目は、それを踏まえて、今のやり方を提案手法として押すのは正直行き詰まっている、という現状の評価。3つ目は、その先の方向について相談したいことです。
先に結論を言うと、卒論に必要な実験はほぼ揃っていて、論文も4ページの形になっています。ただ、途中で評価の方法に問題を見つけたので、数字を全部計算し直しました。その話も正直にします。
（目安：30秒）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まず問いと手法です。
（左側を指して）喉マイクは、喉の振動を直接拾うので騒音に強いのが利点です。ただ、今使っているTAPSという韓国語のデータセットでは、喉マイクの音は4kHz以上がもともと入っていません。そのため、普通の音声認識にかけると精度がかなり落ちます。
これを改善する方法は大きく2つあります。音声認識モデルそのものを喉マイクに合わせて学習し直すファインチューニングと、音声認識の前に音をきれいにする音声強調、SEです。精度だけならファインチューニングの方が強いことは予備実験でわかっています。それでもSEに注目しているのは、SEは前処理なので、どの音声認識にもつなげられるという利点があるからです。
（右側を指して）そこで今回は、TAPSの論文で公開されているSE-Conformerというモデルを、凍結したWhisper-smallの損失で追加学習しました。つまり「Whisperが正しく書き起こせる音」を出すようにSEを学習させています。
（問いを指して）問いは、こうやってASRの損失で学習したSEの改善が、学習に使っていない別のASRにも通用するのか、です。SEの利点が「どのASRにもつなげられること」なので、ここが本質的な問いだと考えてい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ASR損失の仕組みをもう少し詳しく説明します。
（上の図を左から指して）喉マイクの音をSEに入れて、出てきた強調音声をメルスペクトログラムに変換し、Whisper-smallに入れます。Whisperは、各トークンの予測確率を出します。
（真ん中のカードを指して）ここでCE損失、交差エントロピー損失を計算します。正解テキストをWhisperのトークン列にして、1つ前までの正解を与えたうえで、次のトークンを当てさせます。正解のトークンに高い確率を出せるほど損失は小さくなります。つまり、Whisperが正しく書き起こしやすい音ほど損失が小さい、という損失です。
（右のカードを指して）大事なのは、Whisperの重みは固定していて、更新するのはSEだけという点です。勾配はWhisperを通り抜けてSEまで戻ります。
（左のカードを指して）ASRの損失だけだと音が崩れてしまうので、同時に録った気導マイクの音との差、再構成損失も足しています。元のTAPSのSEはこの再構成損失だけで学習されています。
（下の式を指して）この2つを、重みλで足し合わせたものが全体の損失です。λは開発用データで選びました。
この仕組みだと、SEはWhisperという特定のモデルに合わせて最適化されます。これが次のスライドの結果につながります。
（目安：1分15秒）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わかったことです。細かい数字は省いて、傾向だけお話しします。比べている相手は、すべて元のTAPSのSEです。
（1行目）まず、学習に使ったWhisper-smallでは、CERは確かに改善しました。テスト用の10話者全員で改善しています。同じWhisper系列のmediumにも改善は持ち越されましたが、小さいbaseでははっきりした差が出ませんでした。
（2行目）一方で、Whisperとは作りが違うwav2vec2系の音声認識では改善しませんでした。XLS-Rでははっきり悪化し、MMSではほぼ変わりませんでした。
（3行目）それから、評価の途中で問題を見つけました。TAPSの正解テキストには句読点がないのですが、Whisperは普通、文末に句点を付けます。ASR損失で学習すると、SEはWhisperが句読点を出さなくなるような音を作るようになっていました。評価で句読点をそろえていなかったので、その分が改善として数えられていました。句読点をそろえて計算し直すと改善は小さくなりますが、それでも残ります。
（4行目）最後に出力の音です。STOIやPESQといった音の品質の指標は、むしろ下がっていました。さらに出力には、250Hz間隔で鋭いピークが並ぶ人工的な成分が現れていました。気導マイクの音にはない成分です。つまり、気導マイクらしい自然な音に近づけているのではなく、Whisperが読みやすい別の音を作っている、ということです。
（補足：聞かれたら）句読点をそろえたCERで、Whisper-smallはTAPSのSEの0.230から0.196、15%の改善です。改善幅のうち約3分の1が句読点によるものでした。XLS-Rは約26%悪化しています。
（目安：1分30秒）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ここからが、正直な現状の評価です。
この手法を「提案手法」として押す方向は、行き詰まっていると考えています。理由は3つあります。
（左のカード）1つ目は、新しさが小さいことです。凍結したWhisperの損失で前処理を学習する手法は、2024年のInterspeechで、Dissenらがすでに発表しています。さらに、ASR損失で学習したSEが学習に使っていないASRで悪化するという今回の発見についても、NTTのSatoらの2025年の論文と、ICLR 2023のD4AMという研究が、すでに同じ傾向を報告していました。これは今回の文献調査でわかったことです。
（真ん中のカード）2つ目は、精度でファインチューニングに届かないことです。Whisperに特化するのであれば、Whisper自体を喉マイクに合わせてファインチューニングする方が、明らかに精度が高いです。
（右のカード）3つ目が一番大きくて、SEの長所を失うことです。SEの売りは、どのASRにもつなげられることでした。ところがASR損失で学習すると、さっきの結果のとおり、他の系列のASRでは効かなくなります。
（下の文）まとめると、「Whisper用ならファインチューニング、汎用ならもともとのTAPSのSE」で済んでしまって、この手法の居場所がありません。損失の重みを変えたり損失を工夫したりしても、この構造自体は変わらないと思っています。
（目安：1分）
【想定質問】
Q. 学習をやり直せば改善するのでは？
A. λを大きくするほど、句読点の抑制や、出力に現れる人工的な成分が強くなりました。ASR損失の比重を上げるほどWhisperへの合わせ込みが進む、という構造的な問題だと考えています。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ただ、研究そのものが行き詰まったわけではないと考えています。
（左のカード）1つ目に、分析の成果としての価値があります。ASR損失で学習するとSEの汎用性が失われること、そしてこういうSEを評価するには、テキストの正規化と、学習に使っていない系列のASRでの評価が必要だということです。さっきお話ししたとおり、「汎用性を失う」こと自体は先行研究と同じ傾向です。新しいと言えるのは、4kHz以上が欠けた喉マイクという条件で確かめたこと、句読点による見かけの改善を定量化したこと、そして出力に現れる250Hz間隔の人工的な成分を分析したことです。卒論や学会発表としては、この分析でまとめられると考えています。
（右のカード）2つ目、こちらの方が大きいのですが、次に何を目指すべきかがはっきりしました。SEの長所である汎用性を保ったまま、ASRに効くSEをどう作るか、です。
（目安：1分）
【想定質問】
Q. 先行研究と同じ結論なら、卒論の新規性は？
A. 喉マイクへの適用と、句読点による見かけの改善の定量化、それに出力に現れる250Hz間隔の人工的な成分の分析が新しい部分です。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次の方向の本命として考えているのは、特定のASRに依存しない、喉マイク用のSEです。
（動機）実際の現場では、クラウドのAPIや、他のサービスと共用しているASRのように、重みを変えられないASRが多いです。その場合は、ファインチューニングも、今回のようなASR損失での学習もできません。つまり、ASRを選ばないSEしか選択肢がない。ここが、ファインチューニングに対するSEの本当の存在意義だと考えています。
（手がかり）手がかりは先行研究にあります。WavLMのような自己教師あり学習モデルの表現を損失に使ってSEを学習すると、学習に使っていないASRでも改善した、という報告があります。NTTのSatoらの2025年の論文や、Ravenscroftらの2024年の研究です。特定のASRの出力に合わせるのではなく、音声の表現そのものに近づける方向なので、汎用性を保てる可能性があります。
（評価の枠組み）評価については、学習に使っていない系列のASRで評価する、句読点をそろえる、といった枠組みを卒論で作ったので、それがそのまま使えます。
（目安：1分15秒）
【想定質問】
Q. 自分の実験で、表現に近づける損失は試していないのか？
A. 比較手法として、気導マイクの音をWhisperに入れたときの表現に近づける損失（Enc L1）を試しました。Whisper以外のASRで悪化はしませんでしたが、どのASRでも改善もせず、元のTAPS SEからほとんど変わりませんでした。なので、Whisperの表現ではなく、自己教師あり学習モデルの表現を使うところから試したいと考えています。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【台本】
本命以外にも、考えられる選択肢を3つ挙げます。
（1行目）1つ目は、複数のASRの損失を混ぜて学習する方法です。自然な発展ですが、平均的な結果になるだけで、学習に使っていない系列には効かない可能性があります。
（2行目）2つ目は、雑音のある環境で評価することです。今回の実験は雑音のない収録音声だけでした。喉マイクの本来の強みは騒音に強いことなので、それを活かせます。ただ、データを自分で収録する必要がありますし、競合する研究もあります。
（3行目）3つ目は、SEとファインチューニングが、それぞれ音声のどこを直しているのかを分析する方向です。分析としては面白いのですが、手法の提案にはなりません。
以上です。卒論は分析としてまとめ、この先は本命の方向に切り替えたいと考えています。（下の帯を指して）この本命の方向でよいか、また他に考えるべき選択肢があるか、ご意見をいただけるとありがたいです。ありがとうございました。
（目安：1分）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55448" cy="6858000"/>
          </a:xfrm>
          <a:prstGeom prst="rect">
            <a:avLst/>
          </a:prstGeom>
          <a:solidFill>
            <a:srgbClr val="D9772B"/>
          </a:solidFill>
          <a:ln w="12700">
            <a:solidFill>
              <a:srgbClr val="D9772B"/>
            </a:solidFill>
            <a:prstDash val="solid"/>
          </a:ln>
        </p:spPr>
      </p:sp>
      <p:sp>
        <p:nvSpPr>
          <p:cNvPr id="3" name="Text 1"/>
          <p:cNvSpPr/>
          <p:nvPr/>
        </p:nvSpPr>
        <p:spPr>
          <a:xfrm>
            <a:off x="813816" y="2011680"/>
            <a:ext cx="10564063" cy="36576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卒論 進捗報告</a:t>
            </a:r>
            <a:endParaRPr lang="en-US" sz="1500" dirty="0"/>
          </a:p>
        </p:txBody>
      </p:sp>
      <p:sp>
        <p:nvSpPr>
          <p:cNvPr id="4" name="Text 2"/>
          <p:cNvSpPr/>
          <p:nvPr/>
        </p:nvSpPr>
        <p:spPr>
          <a:xfrm>
            <a:off x="813816" y="2514600"/>
            <a:ext cx="10564063" cy="1737360"/>
          </a:xfrm>
          <a:prstGeom prst="rect">
            <a:avLst/>
          </a:prstGeom>
          <a:noFill/>
          <a:ln/>
        </p:spPr>
        <p:txBody>
          <a:bodyPr wrap="square" lIns="0" tIns="0" rIns="0" bIns="0" rtlCol="0" anchor="t"/>
          <a:lstStyle/>
          <a:p>
            <a:pPr indent="0" marL="0">
              <a:lnSpc>
                <a:spcPct val="110000"/>
              </a:lnSpc>
              <a:buNone/>
            </a:pPr>
            <a:r>
              <a:rPr lang="en-US" sz="4000" b="1" dirty="0">
                <a:solidFill>
                  <a:srgbClr val="1F2A37"/>
                </a:solidFill>
                <a:latin typeface="Yu Gothic" pitchFamily="34" charset="0"/>
                <a:ea typeface="Yu Gothic" pitchFamily="34" charset="-122"/>
                <a:cs typeface="Yu Gothic" pitchFamily="34" charset="-120"/>
              </a:rPr>
              <a:t>ASR損失で学習した</a:t>
            </a:r>
            <a:endParaRPr lang="en-US" sz="4000" dirty="0"/>
          </a:p>
          <a:p>
            <a:pPr indent="0" marL="0">
              <a:lnSpc>
                <a:spcPct val="110000"/>
              </a:lnSpc>
              <a:buNone/>
            </a:pPr>
            <a:r>
              <a:rPr lang="en-US" sz="4000" b="1" dirty="0">
                <a:solidFill>
                  <a:srgbClr val="1F2A37"/>
                </a:solidFill>
                <a:latin typeface="Yu Gothic" pitchFamily="34" charset="0"/>
                <a:ea typeface="Yu Gothic" pitchFamily="34" charset="-122"/>
                <a:cs typeface="Yu Gothic" pitchFamily="34" charset="-120"/>
              </a:rPr>
              <a:t>喉マイク音声強調の効果と汎化範囲</a:t>
            </a:r>
            <a:endParaRPr lang="en-US" sz="4000" dirty="0"/>
          </a:p>
        </p:txBody>
      </p:sp>
      <p:sp>
        <p:nvSpPr>
          <p:cNvPr id="5" name="Text 3"/>
          <p:cNvSpPr/>
          <p:nvPr/>
        </p:nvSpPr>
        <p:spPr>
          <a:xfrm>
            <a:off x="813816" y="4480560"/>
            <a:ext cx="10564063" cy="365760"/>
          </a:xfrm>
          <a:prstGeom prst="rect">
            <a:avLst/>
          </a:prstGeom>
          <a:noFill/>
          <a:ln/>
        </p:spPr>
        <p:txBody>
          <a:bodyPr wrap="square" lIns="0" tIns="0" rIns="0" bIns="0" rtlCol="0" anchor="t"/>
          <a:lstStyle/>
          <a:p>
            <a:pPr indent="0" marL="0">
              <a:buNone/>
            </a:pPr>
            <a:r>
              <a:rPr lang="en-US" sz="1500" dirty="0">
                <a:solidFill>
                  <a:srgbClr val="4A5568"/>
                </a:solidFill>
                <a:latin typeface="Yu Gothic" pitchFamily="34" charset="0"/>
                <a:ea typeface="Yu Gothic" pitchFamily="34" charset="-122"/>
                <a:cs typeface="Yu Gothic" pitchFamily="34" charset="-120"/>
              </a:rPr>
              <a:t>春日 裕次　／　2026年9月 ゼミ</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問いと手法</a:t>
            </a:r>
            <a:endParaRPr lang="en-US" sz="3000" dirty="0"/>
          </a:p>
        </p:txBody>
      </p:sp>
      <p:sp>
        <p:nvSpPr>
          <p:cNvPr id="3" name="Text 1"/>
          <p:cNvSpPr/>
          <p:nvPr/>
        </p:nvSpPr>
        <p:spPr>
          <a:xfrm>
            <a:off x="813816" y="1600200"/>
            <a:ext cx="5760720"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背景</a:t>
            </a:r>
            <a:endParaRPr lang="en-US" sz="1500" dirty="0"/>
          </a:p>
        </p:txBody>
      </p:sp>
      <p:sp>
        <p:nvSpPr>
          <p:cNvPr id="4" name="Text 2"/>
          <p:cNvSpPr/>
          <p:nvPr/>
        </p:nvSpPr>
        <p:spPr>
          <a:xfrm>
            <a:off x="813816" y="1965960"/>
            <a:ext cx="5760720" cy="1280160"/>
          </a:xfrm>
          <a:prstGeom prst="rect">
            <a:avLst/>
          </a:prstGeom>
          <a:noFill/>
          <a:ln/>
        </p:spPr>
        <p:txBody>
          <a:bodyPr wrap="square" lIns="0" tIns="0" rIns="0" bIns="0" rtlCol="0" anchor="t"/>
          <a:lstStyle/>
          <a:p>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喉マイクは騒音に強いが、4 kHz以上がなくASR精度が低い。対策は、ASR自体を学習し直す</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FT</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か、前処理で音を直す</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SE</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。精度はFTが上だが、SEは</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どのASRにもつなげられる</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のが利点。</a:t>
            </a:r>
            <a:endParaRPr lang="en-US" sz="1600" dirty="0"/>
          </a:p>
        </p:txBody>
      </p:sp>
      <p:sp>
        <p:nvSpPr>
          <p:cNvPr id="5" name="Text 3"/>
          <p:cNvSpPr/>
          <p:nvPr/>
        </p:nvSpPr>
        <p:spPr>
          <a:xfrm>
            <a:off x="813816" y="3657600"/>
            <a:ext cx="5760720"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問い</a:t>
            </a:r>
            <a:endParaRPr lang="en-US" sz="1500" dirty="0"/>
          </a:p>
        </p:txBody>
      </p:sp>
      <p:sp>
        <p:nvSpPr>
          <p:cNvPr id="6" name="Text 4"/>
          <p:cNvSpPr/>
          <p:nvPr/>
        </p:nvSpPr>
        <p:spPr>
          <a:xfrm>
            <a:off x="813816" y="4023360"/>
            <a:ext cx="5760720" cy="1188720"/>
          </a:xfrm>
          <a:prstGeom prst="rect">
            <a:avLst/>
          </a:prstGeom>
          <a:noFill/>
          <a:ln/>
        </p:spPr>
        <p:txBody>
          <a:bodyPr wrap="square" lIns="0" tIns="0" rIns="0" bIns="0" rtlCol="0" anchor="t"/>
          <a:lstStyle/>
          <a:p>
            <a:pPr indent="0" marL="0">
              <a:lnSpc>
                <a:spcPct val="130000"/>
              </a:lnSpc>
              <a:buNone/>
            </a:pPr>
            <a:r>
              <a:rPr lang="en-US" sz="2000" b="1" dirty="0">
                <a:solidFill>
                  <a:srgbClr val="1F2A37"/>
                </a:solidFill>
                <a:latin typeface="Yu Gothic" pitchFamily="34" charset="0"/>
                <a:ea typeface="Yu Gothic" pitchFamily="34" charset="-122"/>
                <a:cs typeface="Yu Gothic" pitchFamily="34" charset="-120"/>
              </a:rPr>
              <a:t>ASR損失で学習したSEの改善は、</a:t>
            </a:r>
            <a:endParaRPr lang="en-US" sz="2000" dirty="0"/>
          </a:p>
          <a:p>
            <a:pPr indent="0" marL="0">
              <a:lnSpc>
                <a:spcPct val="130000"/>
              </a:lnSpc>
              <a:buNone/>
            </a:pPr>
            <a:r>
              <a:rPr lang="en-US" sz="2000" b="1" dirty="0">
                <a:solidFill>
                  <a:srgbClr val="1F2A37"/>
                </a:solidFill>
                <a:latin typeface="Yu Gothic" pitchFamily="34" charset="0"/>
                <a:ea typeface="Yu Gothic" pitchFamily="34" charset="-122"/>
                <a:cs typeface="Yu Gothic" pitchFamily="34" charset="-120"/>
              </a:rPr>
              <a:t>別のASRにも通用するか？</a:t>
            </a:r>
            <a:endParaRPr lang="en-US" sz="2000" dirty="0"/>
          </a:p>
        </p:txBody>
      </p:sp>
      <p:sp>
        <p:nvSpPr>
          <p:cNvPr id="7" name="Shape 5"/>
          <p:cNvSpPr/>
          <p:nvPr/>
        </p:nvSpPr>
        <p:spPr>
          <a:xfrm>
            <a:off x="6894576" y="1600200"/>
            <a:ext cx="4483303" cy="4206240"/>
          </a:xfrm>
          <a:prstGeom prst="roundRect">
            <a:avLst>
              <a:gd name="adj" fmla="val 2174"/>
            </a:avLst>
          </a:prstGeom>
          <a:solidFill>
            <a:srgbClr val="FBFAF7"/>
          </a:solidFill>
          <a:ln w="12700">
            <a:solidFill>
              <a:srgbClr val="E2DED5"/>
            </a:solidFill>
            <a:prstDash val="solid"/>
          </a:ln>
        </p:spPr>
      </p:sp>
      <p:sp>
        <p:nvSpPr>
          <p:cNvPr id="8" name="Text 6"/>
          <p:cNvSpPr/>
          <p:nvPr/>
        </p:nvSpPr>
        <p:spPr>
          <a:xfrm>
            <a:off x="7196328" y="1874520"/>
            <a:ext cx="3879799" cy="320040"/>
          </a:xfrm>
          <a:prstGeom prst="rect">
            <a:avLst/>
          </a:prstGeom>
          <a:noFill/>
          <a:ln/>
        </p:spPr>
        <p:txBody>
          <a:bodyPr wrap="square" lIns="0" tIns="0" rIns="0" bIns="0" rtlCol="0" anchor="t"/>
          <a:lstStyle/>
          <a:p>
            <a:pPr indent="0" marL="0">
              <a:buNone/>
            </a:pPr>
            <a:r>
              <a:rPr lang="en-US" sz="1500" b="1" dirty="0">
                <a:solidFill>
                  <a:srgbClr val="B45F1E"/>
                </a:solidFill>
                <a:latin typeface="Yu Gothic" pitchFamily="34" charset="0"/>
                <a:ea typeface="Yu Gothic" pitchFamily="34" charset="-122"/>
                <a:cs typeface="Yu Gothic" pitchFamily="34" charset="-120"/>
              </a:rPr>
              <a:t>手法</a:t>
            </a:r>
            <a:endParaRPr lang="en-US" sz="1500" dirty="0"/>
          </a:p>
        </p:txBody>
      </p:sp>
      <p:sp>
        <p:nvSpPr>
          <p:cNvPr id="9" name="Text 7"/>
          <p:cNvSpPr/>
          <p:nvPr/>
        </p:nvSpPr>
        <p:spPr>
          <a:xfrm>
            <a:off x="7196328" y="2286000"/>
            <a:ext cx="3879799" cy="1005840"/>
          </a:xfrm>
          <a:prstGeom prst="rect">
            <a:avLst/>
          </a:prstGeom>
          <a:noFill/>
          <a:ln/>
        </p:spPr>
        <p:txBody>
          <a:bodyPr wrap="square" lIns="0" tIns="0" rIns="0" bIns="0" rtlCol="0" anchor="t"/>
          <a:lstStyle/>
          <a:p>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TAPSのSE-Conformerを、</a:t>
            </a:r>
            <a:pPr indent="0" marL="0">
              <a:lnSpc>
                <a:spcPct val="140000"/>
              </a:lnSpc>
              <a:buNone/>
            </a:pPr>
            <a:r>
              <a:rPr lang="en-US" sz="1600" b="1" dirty="0">
                <a:solidFill>
                  <a:srgbClr val="1F2A37"/>
                </a:solidFill>
                <a:latin typeface="Yu Gothic" pitchFamily="34" charset="0"/>
                <a:ea typeface="Yu Gothic" pitchFamily="34" charset="-122"/>
                <a:cs typeface="Yu Gothic" pitchFamily="34" charset="-120"/>
              </a:rPr>
              <a:t>凍結したWhisper-small</a:t>
            </a:r>
            <a:pPr indent="0" marL="0">
              <a:lnSpc>
                <a:spcPct val="140000"/>
              </a:lnSpc>
              <a:buNone/>
            </a:pPr>
            <a:r>
              <a:rPr lang="en-US" sz="1600" dirty="0">
                <a:solidFill>
                  <a:srgbClr val="1F2A37"/>
                </a:solidFill>
                <a:latin typeface="Yu Gothic" pitchFamily="34" charset="0"/>
                <a:ea typeface="Yu Gothic" pitchFamily="34" charset="-122"/>
                <a:cs typeface="Yu Gothic" pitchFamily="34" charset="-120"/>
              </a:rPr>
              <a:t>の交差エントロピー損失で追加学習</a:t>
            </a:r>
            <a:endParaRPr lang="en-US" sz="1600" dirty="0"/>
          </a:p>
        </p:txBody>
      </p:sp>
      <p:sp>
        <p:nvSpPr>
          <p:cNvPr id="10" name="Text 8"/>
          <p:cNvSpPr/>
          <p:nvPr/>
        </p:nvSpPr>
        <p:spPr>
          <a:xfrm>
            <a:off x="7196328" y="3520440"/>
            <a:ext cx="3879799" cy="2011680"/>
          </a:xfrm>
          <a:prstGeom prst="rect">
            <a:avLst/>
          </a:prstGeom>
          <a:noFill/>
          <a:ln/>
        </p:spPr>
        <p:txBody>
          <a:bodyPr wrap="square" lIns="0" tIns="0" rIns="0" bIns="0" rtlCol="0" anchor="t"/>
          <a:lstStyle/>
          <a:p>
            <a:pPr indent="0" marL="0">
              <a:lnSpc>
                <a:spcPct val="160000"/>
              </a:lnSpc>
              <a:buNone/>
            </a:pPr>
            <a:r>
              <a:rPr lang="en-US" sz="1300" b="1" dirty="0">
                <a:solidFill>
                  <a:srgbClr val="4A5568"/>
                </a:solidFill>
                <a:latin typeface="Yu Gothic" pitchFamily="34" charset="0"/>
                <a:ea typeface="Yu Gothic" pitchFamily="34" charset="-122"/>
                <a:cs typeface="Yu Gothic" pitchFamily="34" charset="-120"/>
              </a:rPr>
              <a:t>ベースライン：</a:t>
            </a:r>
            <a:pPr indent="0" marL="0">
              <a:lnSpc>
                <a:spcPct val="160000"/>
              </a:lnSpc>
              <a:buNone/>
            </a:pPr>
            <a:r>
              <a:rPr lang="en-US" sz="1300" dirty="0">
                <a:solidFill>
                  <a:srgbClr val="4A5568"/>
                </a:solidFill>
                <a:latin typeface="Yu Gothic" pitchFamily="34" charset="0"/>
                <a:ea typeface="Yu Gothic" pitchFamily="34" charset="-122"/>
                <a:cs typeface="Yu Gothic" pitchFamily="34" charset="-120"/>
              </a:rPr>
              <a:t>TAPS論文の学習済みSE（以下 TAPS SE）</a:t>
            </a:r>
            <a:endParaRPr lang="en-US" sz="1300" dirty="0"/>
          </a:p>
          <a:p>
            <a:pPr indent="0" marL="0">
              <a:lnSpc>
                <a:spcPct val="160000"/>
              </a:lnSpc>
              <a:buNone/>
            </a:pPr>
            <a:r>
              <a:rPr lang="en-US" sz="1300" b="1" dirty="0">
                <a:solidFill>
                  <a:srgbClr val="4A5568"/>
                </a:solidFill>
                <a:latin typeface="Yu Gothic" pitchFamily="34" charset="0"/>
                <a:ea typeface="Yu Gothic" pitchFamily="34" charset="-122"/>
                <a:cs typeface="Yu Gothic" pitchFamily="34" charset="-120"/>
              </a:rPr>
              <a:t>データ：</a:t>
            </a:r>
            <a:pPr indent="0" marL="0">
              <a:lnSpc>
                <a:spcPct val="160000"/>
              </a:lnSpc>
              <a:buNone/>
            </a:pPr>
            <a:r>
              <a:rPr lang="en-US" sz="1300" dirty="0">
                <a:solidFill>
                  <a:srgbClr val="4A5568"/>
                </a:solidFill>
                <a:latin typeface="Yu Gothic" pitchFamily="34" charset="0"/>
                <a:ea typeface="Yu Gothic" pitchFamily="34" charset="-122"/>
                <a:cs typeface="Yu Gothic" pitchFamily="34" charset="-120"/>
              </a:rPr>
              <a:t>韓国語TAPS（喉マイク／気導マイクの同時収録）</a:t>
            </a:r>
            <a:endParaRPr lang="en-US" sz="1300" dirty="0"/>
          </a:p>
          <a:p>
            <a:pPr indent="0" marL="0">
              <a:lnSpc>
                <a:spcPct val="160000"/>
              </a:lnSpc>
              <a:buNone/>
            </a:pPr>
            <a:r>
              <a:rPr lang="en-US" sz="1300" b="1" dirty="0">
                <a:solidFill>
                  <a:srgbClr val="4A5568"/>
                </a:solidFill>
                <a:latin typeface="Yu Gothic" pitchFamily="34" charset="0"/>
                <a:ea typeface="Yu Gothic" pitchFamily="34" charset="-122"/>
                <a:cs typeface="Yu Gothic" pitchFamily="34" charset="-120"/>
              </a:rPr>
              <a:t>評価：</a:t>
            </a:r>
            <a:pPr indent="0" marL="0">
              <a:lnSpc>
                <a:spcPct val="160000"/>
              </a:lnSpc>
              <a:buNone/>
            </a:pPr>
            <a:r>
              <a:rPr lang="en-US" sz="1300" dirty="0">
                <a:solidFill>
                  <a:srgbClr val="4A5568"/>
                </a:solidFill>
                <a:latin typeface="Yu Gothic" pitchFamily="34" charset="0"/>
                <a:ea typeface="Yu Gothic" pitchFamily="34" charset="-122"/>
                <a:cs typeface="Yu Gothic" pitchFamily="34" charset="-120"/>
              </a:rPr>
              <a:t>雑音のない収録音声、テスト話者10名</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ASR損失による学習のしくみ</a:t>
            </a:r>
            <a:endParaRPr lang="en-US" sz="3000" dirty="0"/>
          </a:p>
        </p:txBody>
      </p:sp>
      <p:sp>
        <p:nvSpPr>
          <p:cNvPr id="3" name="Shape 1"/>
          <p:cNvSpPr/>
          <p:nvPr/>
        </p:nvSpPr>
        <p:spPr>
          <a:xfrm>
            <a:off x="813816" y="1600200"/>
            <a:ext cx="1783080" cy="914400"/>
          </a:xfrm>
          <a:prstGeom prst="roundRect">
            <a:avLst>
              <a:gd name="adj" fmla="val 8000"/>
            </a:avLst>
          </a:prstGeom>
          <a:solidFill>
            <a:srgbClr val="FBFAF7"/>
          </a:solidFill>
          <a:ln w="12700">
            <a:solidFill>
              <a:srgbClr val="D8D3C8"/>
            </a:solidFill>
            <a:prstDash val="solid"/>
          </a:ln>
        </p:spPr>
      </p:sp>
      <p:sp>
        <p:nvSpPr>
          <p:cNvPr id="4" name="Text 2"/>
          <p:cNvSpPr/>
          <p:nvPr/>
        </p:nvSpPr>
        <p:spPr>
          <a:xfrm>
            <a:off x="813816"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喉マイク音声</a:t>
            </a:r>
            <a:endParaRPr lang="en-US" sz="1300" dirty="0"/>
          </a:p>
        </p:txBody>
      </p:sp>
      <p:sp>
        <p:nvSpPr>
          <p:cNvPr id="5" name="Shape 3"/>
          <p:cNvSpPr/>
          <p:nvPr/>
        </p:nvSpPr>
        <p:spPr>
          <a:xfrm>
            <a:off x="2670048" y="1938528"/>
            <a:ext cx="256032" cy="237744"/>
          </a:xfrm>
          <a:prstGeom prst="rightArrow">
            <a:avLst/>
          </a:prstGeom>
          <a:solidFill>
            <a:srgbClr val="8A94A3"/>
          </a:solidFill>
          <a:ln w="12700">
            <a:solidFill>
              <a:srgbClr val="8A94A3"/>
            </a:solidFill>
            <a:prstDash val="solid"/>
          </a:ln>
        </p:spPr>
      </p:sp>
      <p:sp>
        <p:nvSpPr>
          <p:cNvPr id="6" name="Shape 4"/>
          <p:cNvSpPr/>
          <p:nvPr/>
        </p:nvSpPr>
        <p:spPr>
          <a:xfrm>
            <a:off x="2999232" y="1600200"/>
            <a:ext cx="1783080" cy="914400"/>
          </a:xfrm>
          <a:prstGeom prst="roundRect">
            <a:avLst>
              <a:gd name="adj" fmla="val 8000"/>
            </a:avLst>
          </a:prstGeom>
          <a:solidFill>
            <a:srgbClr val="FBF1E7"/>
          </a:solidFill>
          <a:ln w="25400">
            <a:solidFill>
              <a:srgbClr val="D9772B"/>
            </a:solidFill>
            <a:prstDash val="solid"/>
          </a:ln>
        </p:spPr>
      </p:sp>
      <p:sp>
        <p:nvSpPr>
          <p:cNvPr id="7" name="Text 5"/>
          <p:cNvSpPr/>
          <p:nvPr/>
        </p:nvSpPr>
        <p:spPr>
          <a:xfrm>
            <a:off x="2999232"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SE-Conformer</a:t>
            </a:r>
            <a:endParaRPr lang="en-US" sz="1300" dirty="0"/>
          </a:p>
          <a:p>
            <a:pPr algn="ctr" indent="0" marL="0">
              <a:buNone/>
            </a:pPr>
            <a:r>
              <a:rPr lang="en-US" sz="1300" b="1" dirty="0">
                <a:solidFill>
                  <a:srgbClr val="B45F1E"/>
                </a:solidFill>
                <a:latin typeface="Yu Gothic" pitchFamily="34" charset="0"/>
                <a:ea typeface="Yu Gothic" pitchFamily="34" charset="-122"/>
                <a:cs typeface="Yu Gothic" pitchFamily="34" charset="-120"/>
              </a:rPr>
              <a:t>学習する</a:t>
            </a:r>
            <a:endParaRPr lang="en-US" sz="1300" dirty="0"/>
          </a:p>
        </p:txBody>
      </p:sp>
      <p:sp>
        <p:nvSpPr>
          <p:cNvPr id="8" name="Shape 6"/>
          <p:cNvSpPr/>
          <p:nvPr/>
        </p:nvSpPr>
        <p:spPr>
          <a:xfrm>
            <a:off x="4855464" y="1938528"/>
            <a:ext cx="256032" cy="237744"/>
          </a:xfrm>
          <a:prstGeom prst="rightArrow">
            <a:avLst/>
          </a:prstGeom>
          <a:solidFill>
            <a:srgbClr val="8A94A3"/>
          </a:solidFill>
          <a:ln w="12700">
            <a:solidFill>
              <a:srgbClr val="8A94A3"/>
            </a:solidFill>
            <a:prstDash val="solid"/>
          </a:ln>
        </p:spPr>
      </p:sp>
      <p:sp>
        <p:nvSpPr>
          <p:cNvPr id="9" name="Shape 7"/>
          <p:cNvSpPr/>
          <p:nvPr/>
        </p:nvSpPr>
        <p:spPr>
          <a:xfrm>
            <a:off x="5184648" y="1600200"/>
            <a:ext cx="1783080" cy="914400"/>
          </a:xfrm>
          <a:prstGeom prst="roundRect">
            <a:avLst>
              <a:gd name="adj" fmla="val 8000"/>
            </a:avLst>
          </a:prstGeom>
          <a:solidFill>
            <a:srgbClr val="FBFAF7"/>
          </a:solidFill>
          <a:ln w="12700">
            <a:solidFill>
              <a:srgbClr val="D8D3C8"/>
            </a:solidFill>
            <a:prstDash val="solid"/>
          </a:ln>
        </p:spPr>
      </p:sp>
      <p:sp>
        <p:nvSpPr>
          <p:cNvPr id="10" name="Text 8"/>
          <p:cNvSpPr/>
          <p:nvPr/>
        </p:nvSpPr>
        <p:spPr>
          <a:xfrm>
            <a:off x="5184648"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強調音声 ŝ</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 log-mel</a:t>
            </a:r>
            <a:endParaRPr lang="en-US" sz="1300" dirty="0"/>
          </a:p>
        </p:txBody>
      </p:sp>
      <p:sp>
        <p:nvSpPr>
          <p:cNvPr id="11" name="Shape 9"/>
          <p:cNvSpPr/>
          <p:nvPr/>
        </p:nvSpPr>
        <p:spPr>
          <a:xfrm>
            <a:off x="7040880" y="1938528"/>
            <a:ext cx="256032" cy="237744"/>
          </a:xfrm>
          <a:prstGeom prst="rightArrow">
            <a:avLst/>
          </a:prstGeom>
          <a:solidFill>
            <a:srgbClr val="8A94A3"/>
          </a:solidFill>
          <a:ln w="12700">
            <a:solidFill>
              <a:srgbClr val="8A94A3"/>
            </a:solidFill>
            <a:prstDash val="solid"/>
          </a:ln>
        </p:spPr>
      </p:sp>
      <p:sp>
        <p:nvSpPr>
          <p:cNvPr id="12" name="Shape 10"/>
          <p:cNvSpPr/>
          <p:nvPr/>
        </p:nvSpPr>
        <p:spPr>
          <a:xfrm>
            <a:off x="7370064" y="1600200"/>
            <a:ext cx="1783080" cy="914400"/>
          </a:xfrm>
          <a:prstGeom prst="roundRect">
            <a:avLst>
              <a:gd name="adj" fmla="val 8000"/>
            </a:avLst>
          </a:prstGeom>
          <a:solidFill>
            <a:srgbClr val="EEF1F4"/>
          </a:solidFill>
          <a:ln w="12700">
            <a:solidFill>
              <a:srgbClr val="8A94A3"/>
            </a:solidFill>
            <a:prstDash val="solid"/>
          </a:ln>
        </p:spPr>
      </p:sp>
      <p:sp>
        <p:nvSpPr>
          <p:cNvPr id="13" name="Text 11"/>
          <p:cNvSpPr/>
          <p:nvPr/>
        </p:nvSpPr>
        <p:spPr>
          <a:xfrm>
            <a:off x="7370064"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Whisper-small</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凍結</a:t>
            </a:r>
            <a:endParaRPr lang="en-US" sz="1300" dirty="0"/>
          </a:p>
        </p:txBody>
      </p:sp>
      <p:sp>
        <p:nvSpPr>
          <p:cNvPr id="14" name="Shape 12"/>
          <p:cNvSpPr/>
          <p:nvPr/>
        </p:nvSpPr>
        <p:spPr>
          <a:xfrm>
            <a:off x="9226296" y="1938528"/>
            <a:ext cx="256032" cy="237744"/>
          </a:xfrm>
          <a:prstGeom prst="rightArrow">
            <a:avLst/>
          </a:prstGeom>
          <a:solidFill>
            <a:srgbClr val="8A94A3"/>
          </a:solidFill>
          <a:ln w="12700">
            <a:solidFill>
              <a:srgbClr val="8A94A3"/>
            </a:solidFill>
            <a:prstDash val="solid"/>
          </a:ln>
        </p:spPr>
      </p:sp>
      <p:sp>
        <p:nvSpPr>
          <p:cNvPr id="15" name="Shape 13"/>
          <p:cNvSpPr/>
          <p:nvPr/>
        </p:nvSpPr>
        <p:spPr>
          <a:xfrm>
            <a:off x="9555480" y="1600200"/>
            <a:ext cx="1783080" cy="914400"/>
          </a:xfrm>
          <a:prstGeom prst="roundRect">
            <a:avLst>
              <a:gd name="adj" fmla="val 8000"/>
            </a:avLst>
          </a:prstGeom>
          <a:solidFill>
            <a:srgbClr val="FBFAF7"/>
          </a:solidFill>
          <a:ln w="12700">
            <a:solidFill>
              <a:srgbClr val="D8D3C8"/>
            </a:solidFill>
            <a:prstDash val="solid"/>
          </a:ln>
        </p:spPr>
      </p:sp>
      <p:sp>
        <p:nvSpPr>
          <p:cNvPr id="16" name="Text 14"/>
          <p:cNvSpPr/>
          <p:nvPr/>
        </p:nvSpPr>
        <p:spPr>
          <a:xfrm>
            <a:off x="9555480" y="1600200"/>
            <a:ext cx="1783080" cy="914400"/>
          </a:xfrm>
          <a:prstGeom prst="rect">
            <a:avLst/>
          </a:prstGeom>
          <a:noFill/>
          <a:ln/>
        </p:spPr>
        <p:txBody>
          <a:bodyPr wrap="square" lIns="0" tIns="0" rIns="0" bIns="0" rtlCol="0" anchor="ctr"/>
          <a:lstStyle/>
          <a:p>
            <a:pPr algn="ctr" indent="0" marL="0">
              <a:buNone/>
            </a:pPr>
            <a:r>
              <a:rPr lang="en-US" sz="1300" b="1" dirty="0">
                <a:solidFill>
                  <a:srgbClr val="1F2A37"/>
                </a:solidFill>
                <a:latin typeface="Yu Gothic" pitchFamily="34" charset="0"/>
                <a:ea typeface="Yu Gothic" pitchFamily="34" charset="-122"/>
                <a:cs typeface="Yu Gothic" pitchFamily="34" charset="-120"/>
              </a:rPr>
              <a:t>各トークンの</a:t>
            </a:r>
            <a:endParaRPr lang="en-US" sz="1300" dirty="0"/>
          </a:p>
          <a:p>
            <a:pPr algn="ctr" indent="0" marL="0">
              <a:buNone/>
            </a:pPr>
            <a:r>
              <a:rPr lang="en-US" sz="1300" b="1" dirty="0">
                <a:solidFill>
                  <a:srgbClr val="4A5568"/>
                </a:solidFill>
                <a:latin typeface="Yu Gothic" pitchFamily="34" charset="0"/>
                <a:ea typeface="Yu Gothic" pitchFamily="34" charset="-122"/>
                <a:cs typeface="Yu Gothic" pitchFamily="34" charset="-120"/>
              </a:rPr>
              <a:t>予測確率</a:t>
            </a:r>
            <a:endParaRPr lang="en-US" sz="1300" dirty="0"/>
          </a:p>
        </p:txBody>
      </p:sp>
      <p:sp>
        <p:nvSpPr>
          <p:cNvPr id="17" name="Shape 15"/>
          <p:cNvSpPr/>
          <p:nvPr/>
        </p:nvSpPr>
        <p:spPr>
          <a:xfrm>
            <a:off x="813816" y="2834640"/>
            <a:ext cx="3090395" cy="2331720"/>
          </a:xfrm>
          <a:prstGeom prst="rect">
            <a:avLst/>
          </a:prstGeom>
          <a:solidFill>
            <a:srgbClr val="FBFAF7"/>
          </a:solidFill>
          <a:ln w="12700">
            <a:solidFill>
              <a:srgbClr val="FBFAF7"/>
            </a:solidFill>
            <a:prstDash val="solid"/>
          </a:ln>
        </p:spPr>
      </p:sp>
      <p:sp>
        <p:nvSpPr>
          <p:cNvPr id="18" name="Shape 16"/>
          <p:cNvSpPr/>
          <p:nvPr/>
        </p:nvSpPr>
        <p:spPr>
          <a:xfrm>
            <a:off x="813816" y="2834640"/>
            <a:ext cx="3090395" cy="54864"/>
          </a:xfrm>
          <a:prstGeom prst="rect">
            <a:avLst/>
          </a:prstGeom>
          <a:solidFill>
            <a:srgbClr val="4A5568"/>
          </a:solidFill>
          <a:ln w="12700">
            <a:solidFill>
              <a:srgbClr val="4A5568"/>
            </a:solidFill>
            <a:prstDash val="solid"/>
          </a:ln>
        </p:spPr>
      </p:sp>
      <p:sp>
        <p:nvSpPr>
          <p:cNvPr id="19" name="Text 17"/>
          <p:cNvSpPr/>
          <p:nvPr/>
        </p:nvSpPr>
        <p:spPr>
          <a:xfrm>
            <a:off x="1014984" y="3017520"/>
            <a:ext cx="2688059" cy="365760"/>
          </a:xfrm>
          <a:prstGeom prst="rect">
            <a:avLst/>
          </a:prstGeom>
          <a:noFill/>
          <a:ln/>
        </p:spPr>
        <p:txBody>
          <a:bodyPr wrap="square" lIns="0" tIns="0" rIns="0" bIns="0" rtlCol="0" anchor="t"/>
          <a:lstStyle/>
          <a:p>
            <a:pPr indent="0" marL="0">
              <a:buNone/>
            </a:pPr>
            <a:r>
              <a:rPr lang="en-US" sz="1600" b="1" dirty="0">
                <a:solidFill>
                  <a:srgbClr val="1F2A37"/>
                </a:solidFill>
                <a:latin typeface="Yu Gothic" pitchFamily="34" charset="0"/>
                <a:ea typeface="Yu Gothic" pitchFamily="34" charset="-122"/>
                <a:cs typeface="Yu Gothic" pitchFamily="34" charset="-120"/>
              </a:rPr>
              <a:t>再構成損失</a:t>
            </a:r>
            <a:endParaRPr lang="en-US" sz="1600" dirty="0"/>
          </a:p>
        </p:txBody>
      </p:sp>
      <p:sp>
        <p:nvSpPr>
          <p:cNvPr id="20" name="Text 18"/>
          <p:cNvSpPr/>
          <p:nvPr/>
        </p:nvSpPr>
        <p:spPr>
          <a:xfrm>
            <a:off x="1014984" y="3474720"/>
            <a:ext cx="2688059"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ŝ と同時収録の気導音声の差（L1波形＋多解像度STFT）。音として崩れすぎないための歯止め。TAPS SEもこれだけで学習。</a:t>
            </a:r>
            <a:endParaRPr lang="en-US" sz="1300" dirty="0"/>
          </a:p>
        </p:txBody>
      </p:sp>
      <p:sp>
        <p:nvSpPr>
          <p:cNvPr id="21" name="Shape 19"/>
          <p:cNvSpPr/>
          <p:nvPr/>
        </p:nvSpPr>
        <p:spPr>
          <a:xfrm>
            <a:off x="4087091" y="2834640"/>
            <a:ext cx="4017513" cy="2331720"/>
          </a:xfrm>
          <a:prstGeom prst="rect">
            <a:avLst/>
          </a:prstGeom>
          <a:solidFill>
            <a:srgbClr val="FBFAF7"/>
          </a:solidFill>
          <a:ln w="12700">
            <a:solidFill>
              <a:srgbClr val="FBFAF7"/>
            </a:solidFill>
            <a:prstDash val="solid"/>
          </a:ln>
        </p:spPr>
      </p:sp>
      <p:sp>
        <p:nvSpPr>
          <p:cNvPr id="22" name="Shape 20"/>
          <p:cNvSpPr/>
          <p:nvPr/>
        </p:nvSpPr>
        <p:spPr>
          <a:xfrm>
            <a:off x="4087091" y="2834640"/>
            <a:ext cx="4017513" cy="54864"/>
          </a:xfrm>
          <a:prstGeom prst="rect">
            <a:avLst/>
          </a:prstGeom>
          <a:solidFill>
            <a:srgbClr val="D9772B"/>
          </a:solidFill>
          <a:ln w="12700">
            <a:solidFill>
              <a:srgbClr val="D9772B"/>
            </a:solidFill>
            <a:prstDash val="solid"/>
          </a:ln>
        </p:spPr>
      </p:sp>
      <p:sp>
        <p:nvSpPr>
          <p:cNvPr id="23" name="Text 21"/>
          <p:cNvSpPr/>
          <p:nvPr/>
        </p:nvSpPr>
        <p:spPr>
          <a:xfrm>
            <a:off x="4288259" y="3017520"/>
            <a:ext cx="3615177" cy="365760"/>
          </a:xfrm>
          <a:prstGeom prst="rect">
            <a:avLst/>
          </a:prstGeom>
          <a:noFill/>
          <a:ln/>
        </p:spPr>
        <p:txBody>
          <a:bodyPr wrap="square" lIns="0" tIns="0" rIns="0" bIns="0" rtlCol="0" anchor="t"/>
          <a:lstStyle/>
          <a:p>
            <a:pPr indent="0" marL="0">
              <a:buNone/>
            </a:pPr>
            <a:r>
              <a:rPr lang="en-US" sz="1600" b="1" dirty="0">
                <a:solidFill>
                  <a:srgbClr val="B45F1E"/>
                </a:solidFill>
                <a:latin typeface="Yu Gothic" pitchFamily="34" charset="0"/>
                <a:ea typeface="Yu Gothic" pitchFamily="34" charset="-122"/>
                <a:cs typeface="Yu Gothic" pitchFamily="34" charset="-120"/>
              </a:rPr>
              <a:t>CE損失（ASR損失）</a:t>
            </a:r>
            <a:endParaRPr lang="en-US" sz="1600" dirty="0"/>
          </a:p>
        </p:txBody>
      </p:sp>
      <p:sp>
        <p:nvSpPr>
          <p:cNvPr id="24" name="Text 22"/>
          <p:cNvSpPr/>
          <p:nvPr/>
        </p:nvSpPr>
        <p:spPr>
          <a:xfrm>
            <a:off x="4288259" y="3474720"/>
            <a:ext cx="3615177"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正解テキストをWhisperのトークン列にし、1つ前までの</a:t>
            </a:r>
            <a:pPr indent="0" marL="0">
              <a:lnSpc>
                <a:spcPct val="135000"/>
              </a:lnSpc>
              <a:buNone/>
            </a:pPr>
            <a:r>
              <a:rPr lang="en-US" sz="1300" b="1" dirty="0">
                <a:solidFill>
                  <a:srgbClr val="1F2A37"/>
                </a:solidFill>
                <a:latin typeface="Yu Gothic" pitchFamily="34" charset="0"/>
                <a:ea typeface="Yu Gothic" pitchFamily="34" charset="-122"/>
                <a:cs typeface="Yu Gothic" pitchFamily="34" charset="-120"/>
              </a:rPr>
              <a:t>正解</a:t>
            </a:r>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を与えて次のトークンを予測させる（teacher forcing）。正解トークンの確率の −log を全トークンで平均。</a:t>
            </a:r>
            <a:pPr indent="0" marL="0">
              <a:lnSpc>
                <a:spcPct val="135000"/>
              </a:lnSpc>
              <a:buNone/>
            </a:pPr>
            <a:r>
              <a:rPr lang="en-US" sz="1300" b="1" dirty="0">
                <a:solidFill>
                  <a:srgbClr val="1F2A37"/>
                </a:solidFill>
                <a:latin typeface="Yu Gothic" pitchFamily="34" charset="0"/>
                <a:ea typeface="Yu Gothic" pitchFamily="34" charset="-122"/>
                <a:cs typeface="Yu Gothic" pitchFamily="34" charset="-120"/>
              </a:rPr>
              <a:t>Whisperが正解を書き起こしやすい音</a:t>
            </a:r>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ほど小さい。</a:t>
            </a:r>
            <a:endParaRPr lang="en-US" sz="1300" dirty="0"/>
          </a:p>
        </p:txBody>
      </p:sp>
      <p:sp>
        <p:nvSpPr>
          <p:cNvPr id="25" name="Shape 23"/>
          <p:cNvSpPr/>
          <p:nvPr/>
        </p:nvSpPr>
        <p:spPr>
          <a:xfrm>
            <a:off x="8287484" y="2834640"/>
            <a:ext cx="3090395" cy="2331720"/>
          </a:xfrm>
          <a:prstGeom prst="rect">
            <a:avLst/>
          </a:prstGeom>
          <a:solidFill>
            <a:srgbClr val="FBFAF7"/>
          </a:solidFill>
          <a:ln w="12700">
            <a:solidFill>
              <a:srgbClr val="FBFAF7"/>
            </a:solidFill>
            <a:prstDash val="solid"/>
          </a:ln>
        </p:spPr>
      </p:sp>
      <p:sp>
        <p:nvSpPr>
          <p:cNvPr id="26" name="Shape 24"/>
          <p:cNvSpPr/>
          <p:nvPr/>
        </p:nvSpPr>
        <p:spPr>
          <a:xfrm>
            <a:off x="8287484" y="2834640"/>
            <a:ext cx="3090395" cy="54864"/>
          </a:xfrm>
          <a:prstGeom prst="rect">
            <a:avLst/>
          </a:prstGeom>
          <a:solidFill>
            <a:srgbClr val="2F6FB0"/>
          </a:solidFill>
          <a:ln w="12700">
            <a:solidFill>
              <a:srgbClr val="2F6FB0"/>
            </a:solidFill>
            <a:prstDash val="solid"/>
          </a:ln>
        </p:spPr>
      </p:sp>
      <p:sp>
        <p:nvSpPr>
          <p:cNvPr id="27" name="Text 25"/>
          <p:cNvSpPr/>
          <p:nvPr/>
        </p:nvSpPr>
        <p:spPr>
          <a:xfrm>
            <a:off x="8488652" y="3017520"/>
            <a:ext cx="2688059" cy="365760"/>
          </a:xfrm>
          <a:prstGeom prst="rect">
            <a:avLst/>
          </a:prstGeom>
          <a:noFill/>
          <a:ln/>
        </p:spPr>
        <p:txBody>
          <a:bodyPr wrap="square" lIns="0" tIns="0" rIns="0" bIns="0" rtlCol="0" anchor="t"/>
          <a:lstStyle/>
          <a:p>
            <a:pPr indent="0" marL="0">
              <a:buNone/>
            </a:pPr>
            <a:r>
              <a:rPr lang="en-US" sz="1600" b="1" dirty="0">
                <a:solidFill>
                  <a:srgbClr val="2F6FB0"/>
                </a:solidFill>
                <a:latin typeface="Yu Gothic" pitchFamily="34" charset="0"/>
                <a:ea typeface="Yu Gothic" pitchFamily="34" charset="-122"/>
                <a:cs typeface="Yu Gothic" pitchFamily="34" charset="-120"/>
              </a:rPr>
              <a:t>更新されるのはSEだけ</a:t>
            </a:r>
            <a:endParaRPr lang="en-US" sz="1600" dirty="0"/>
          </a:p>
        </p:txBody>
      </p:sp>
      <p:sp>
        <p:nvSpPr>
          <p:cNvPr id="28" name="Text 26"/>
          <p:cNvSpPr/>
          <p:nvPr/>
        </p:nvSpPr>
        <p:spPr>
          <a:xfrm>
            <a:off x="8488652" y="3474720"/>
            <a:ext cx="2688059" cy="1645920"/>
          </a:xfrm>
          <a:prstGeom prst="rect">
            <a:avLst/>
          </a:prstGeom>
          <a:noFill/>
          <a:ln/>
        </p:spPr>
        <p:txBody>
          <a:bodyPr wrap="square" lIns="0" tIns="0" rIns="0" bIns="0" rtlCol="0" anchor="t"/>
          <a:lstStyle/>
          <a:p>
            <a:pPr indent="0" marL="0">
              <a:lnSpc>
                <a:spcPct val="135000"/>
              </a:lnSpc>
              <a:buNone/>
            </a:pPr>
            <a:r>
              <a:rPr lang="en-US" sz="1300" dirty="0">
                <a:solidFill>
                  <a:srgbClr val="1F2A37"/>
                </a:solidFill>
                <a:latin typeface="Yu Gothic" pitchFamily="34" charset="0"/>
                <a:ea typeface="Yu Gothic" pitchFamily="34" charset="-122"/>
                <a:cs typeface="Yu Gothic" pitchFamily="34" charset="-120"/>
              </a:rPr>
              <a:t>勾配はWhisper → log-mel変換 → SEへ逆伝播。Whisperの重みは変えない。TAPS SEから初期化し追加学習。</a:t>
            </a:r>
            <a:endParaRPr lang="en-US" sz="1300" dirty="0"/>
          </a:p>
        </p:txBody>
      </p:sp>
      <p:sp>
        <p:nvSpPr>
          <p:cNvPr id="29" name="Shape 27"/>
          <p:cNvSpPr/>
          <p:nvPr/>
        </p:nvSpPr>
        <p:spPr>
          <a:xfrm>
            <a:off x="813816" y="5440680"/>
            <a:ext cx="10564063" cy="548640"/>
          </a:xfrm>
          <a:prstGeom prst="roundRect">
            <a:avLst>
              <a:gd name="adj" fmla="val 13333"/>
            </a:avLst>
          </a:prstGeom>
          <a:solidFill>
            <a:srgbClr val="EEF1F4"/>
          </a:solidFill>
          <a:ln w="12700">
            <a:solidFill>
              <a:srgbClr val="EEF1F4"/>
            </a:solidFill>
            <a:prstDash val="solid"/>
          </a:ln>
        </p:spPr>
      </p:sp>
      <p:sp>
        <p:nvSpPr>
          <p:cNvPr id="30" name="Text 28"/>
          <p:cNvSpPr/>
          <p:nvPr/>
        </p:nvSpPr>
        <p:spPr>
          <a:xfrm>
            <a:off x="996696" y="5440680"/>
            <a:ext cx="10198303" cy="548640"/>
          </a:xfrm>
          <a:prstGeom prst="rect">
            <a:avLst/>
          </a:prstGeom>
          <a:noFill/>
          <a:ln/>
        </p:spPr>
        <p:txBody>
          <a:bodyPr wrap="square" lIns="0" tIns="0" rIns="0" bIns="0" rtlCol="0" anchor="ctr"/>
          <a:lstStyle/>
          <a:p>
            <a:pPr indent="0" marL="0">
              <a:buNone/>
            </a:pPr>
            <a:r>
              <a:rPr lang="en-US" sz="1500" b="1" dirty="0">
                <a:solidFill>
                  <a:srgbClr val="1F2A37"/>
                </a:solidFill>
                <a:latin typeface="Yu Gothic" pitchFamily="34" charset="0"/>
                <a:ea typeface="Yu Gothic" pitchFamily="34" charset="-122"/>
                <a:cs typeface="Yu Gothic" pitchFamily="34" charset="-120"/>
              </a:rPr>
              <a:t>L = 再構成損失 ＋ λ × CE損失　（λ：損失の重み、devで選択）</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わかったこと</a:t>
            </a:r>
            <a:endParaRPr lang="en-US" sz="3000" dirty="0"/>
          </a:p>
        </p:txBody>
      </p:sp>
      <p:sp>
        <p:nvSpPr>
          <p:cNvPr id="3" name="Text 1"/>
          <p:cNvSpPr/>
          <p:nvPr/>
        </p:nvSpPr>
        <p:spPr>
          <a:xfrm>
            <a:off x="813816" y="1188720"/>
            <a:ext cx="10564063" cy="320040"/>
          </a:xfrm>
          <a:prstGeom prst="rect">
            <a:avLst/>
          </a:prstGeom>
          <a:noFill/>
          <a:ln/>
        </p:spPr>
        <p:txBody>
          <a:bodyPr wrap="square" lIns="0" tIns="0" rIns="0" bIns="0" rtlCol="0" anchor="t"/>
          <a:lstStyle/>
          <a:p>
            <a:pPr indent="0" marL="0">
              <a:buNone/>
            </a:pPr>
            <a:r>
              <a:rPr lang="en-US" sz="1300" dirty="0">
                <a:solidFill>
                  <a:srgbClr val="4A5568"/>
                </a:solidFill>
                <a:latin typeface="Yu Gothic" pitchFamily="34" charset="0"/>
                <a:ea typeface="Yu Gothic" pitchFamily="34" charset="-122"/>
                <a:cs typeface="Yu Gothic" pitchFamily="34" charset="-120"/>
              </a:rPr>
              <a:t>比較の相手はすべて TAPS SE（ASR損失なしで学習した元のSE）</a:t>
            </a:r>
            <a:endParaRPr lang="en-US" sz="1300" dirty="0"/>
          </a:p>
        </p:txBody>
      </p:sp>
      <p:sp>
        <p:nvSpPr>
          <p:cNvPr id="4" name="Shape 2"/>
          <p:cNvSpPr/>
          <p:nvPr/>
        </p:nvSpPr>
        <p:spPr>
          <a:xfrm>
            <a:off x="813816" y="1600200"/>
            <a:ext cx="10564063" cy="0"/>
          </a:xfrm>
          <a:prstGeom prst="line">
            <a:avLst/>
          </a:prstGeom>
          <a:noFill/>
          <a:ln w="12700">
            <a:solidFill>
              <a:srgbClr val="D8D3C8"/>
            </a:solidFill>
            <a:prstDash val="solid"/>
          </a:ln>
        </p:spPr>
      </p:sp>
      <p:sp>
        <p:nvSpPr>
          <p:cNvPr id="5" name="Text 3"/>
          <p:cNvSpPr/>
          <p:nvPr/>
        </p:nvSpPr>
        <p:spPr>
          <a:xfrm>
            <a:off x="813816" y="1709928"/>
            <a:ext cx="2743200" cy="804672"/>
          </a:xfrm>
          <a:prstGeom prst="rect">
            <a:avLst/>
          </a:prstGeom>
          <a:noFill/>
          <a:ln/>
        </p:spPr>
        <p:txBody>
          <a:bodyPr wrap="square" lIns="0" tIns="0" rIns="0" bIns="0" rtlCol="0" anchor="ctr"/>
          <a:lstStyle/>
          <a:p>
            <a:pPr indent="0" marL="0">
              <a:buNone/>
            </a:pPr>
            <a:r>
              <a:rPr lang="en-US" sz="1700" b="1" dirty="0">
                <a:solidFill>
                  <a:srgbClr val="2F6FB0"/>
                </a:solidFill>
                <a:latin typeface="Yu Gothic" pitchFamily="34" charset="0"/>
                <a:ea typeface="Yu Gothic" pitchFamily="34" charset="-122"/>
                <a:cs typeface="Yu Gothic" pitchFamily="34" charset="-120"/>
              </a:rPr>
              <a:t>学習に使ったWhisper</a:t>
            </a:r>
            <a:endParaRPr lang="en-US" sz="1700" dirty="0"/>
          </a:p>
        </p:txBody>
      </p:sp>
      <p:sp>
        <p:nvSpPr>
          <p:cNvPr id="6" name="Text 4"/>
          <p:cNvSpPr/>
          <p:nvPr/>
        </p:nvSpPr>
        <p:spPr>
          <a:xfrm>
            <a:off x="3739896" y="1709928"/>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CERは</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改善する</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。Whisper-mediumにも持ち越されるが、baseでははっきりしない</a:t>
            </a:r>
            <a:endParaRPr lang="en-US" sz="1700" dirty="0"/>
          </a:p>
        </p:txBody>
      </p:sp>
      <p:sp>
        <p:nvSpPr>
          <p:cNvPr id="7" name="Shape 5"/>
          <p:cNvSpPr/>
          <p:nvPr/>
        </p:nvSpPr>
        <p:spPr>
          <a:xfrm>
            <a:off x="813816" y="2624328"/>
            <a:ext cx="10564063" cy="0"/>
          </a:xfrm>
          <a:prstGeom prst="line">
            <a:avLst/>
          </a:prstGeom>
          <a:noFill/>
          <a:ln w="12700">
            <a:solidFill>
              <a:srgbClr val="D8D3C8"/>
            </a:solidFill>
            <a:prstDash val="solid"/>
          </a:ln>
        </p:spPr>
      </p:sp>
      <p:sp>
        <p:nvSpPr>
          <p:cNvPr id="8" name="Text 6"/>
          <p:cNvSpPr/>
          <p:nvPr/>
        </p:nvSpPr>
        <p:spPr>
          <a:xfrm>
            <a:off x="813816" y="2734056"/>
            <a:ext cx="2743200" cy="804672"/>
          </a:xfrm>
          <a:prstGeom prst="rect">
            <a:avLst/>
          </a:prstGeom>
          <a:noFill/>
          <a:ln/>
        </p:spPr>
        <p:txBody>
          <a:bodyPr wrap="square" lIns="0" tIns="0" rIns="0" bIns="0" rtlCol="0" anchor="ctr"/>
          <a:lstStyle/>
          <a:p>
            <a:pPr indent="0" marL="0">
              <a:buNone/>
            </a:pPr>
            <a:r>
              <a:rPr lang="en-US" sz="1700" b="1" dirty="0">
                <a:solidFill>
                  <a:srgbClr val="B45F1E"/>
                </a:solidFill>
                <a:latin typeface="Yu Gothic" pitchFamily="34" charset="0"/>
                <a:ea typeface="Yu Gothic" pitchFamily="34" charset="-122"/>
                <a:cs typeface="Yu Gothic" pitchFamily="34" charset="-120"/>
              </a:rPr>
              <a:t>Whisper以外のASR</a:t>
            </a:r>
            <a:endParaRPr lang="en-US" sz="1700" dirty="0"/>
          </a:p>
        </p:txBody>
      </p:sp>
      <p:sp>
        <p:nvSpPr>
          <p:cNvPr id="9" name="Text 7"/>
          <p:cNvSpPr/>
          <p:nvPr/>
        </p:nvSpPr>
        <p:spPr>
          <a:xfrm>
            <a:off x="3739896" y="2734056"/>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wav2vec2系では</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改善しない</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。XLS-Rでははっきり悪化、MMSではほぼ変わらない</a:t>
            </a:r>
            <a:endParaRPr lang="en-US" sz="1700" dirty="0"/>
          </a:p>
        </p:txBody>
      </p:sp>
      <p:sp>
        <p:nvSpPr>
          <p:cNvPr id="10" name="Shape 8"/>
          <p:cNvSpPr/>
          <p:nvPr/>
        </p:nvSpPr>
        <p:spPr>
          <a:xfrm>
            <a:off x="813816" y="3648456"/>
            <a:ext cx="10564063" cy="0"/>
          </a:xfrm>
          <a:prstGeom prst="line">
            <a:avLst/>
          </a:prstGeom>
          <a:noFill/>
          <a:ln w="12700">
            <a:solidFill>
              <a:srgbClr val="D8D3C8"/>
            </a:solidFill>
            <a:prstDash val="solid"/>
          </a:ln>
        </p:spPr>
      </p:sp>
      <p:sp>
        <p:nvSpPr>
          <p:cNvPr id="11" name="Text 9"/>
          <p:cNvSpPr/>
          <p:nvPr/>
        </p:nvSpPr>
        <p:spPr>
          <a:xfrm>
            <a:off x="813816" y="3758184"/>
            <a:ext cx="2743200" cy="804672"/>
          </a:xfrm>
          <a:prstGeom prst="rect">
            <a:avLst/>
          </a:prstGeom>
          <a:noFill/>
          <a:ln/>
        </p:spPr>
        <p:txBody>
          <a:bodyPr wrap="square" lIns="0" tIns="0" rIns="0" bIns="0" rtlCol="0" anchor="ctr"/>
          <a:lstStyle/>
          <a:p>
            <a:pPr indent="0" marL="0">
              <a:buNone/>
            </a:pPr>
            <a:r>
              <a:rPr lang="en-US" sz="1700" b="1" dirty="0">
                <a:solidFill>
                  <a:srgbClr val="1F2A37"/>
                </a:solidFill>
                <a:latin typeface="Yu Gothic" pitchFamily="34" charset="0"/>
                <a:ea typeface="Yu Gothic" pitchFamily="34" charset="-122"/>
                <a:cs typeface="Yu Gothic" pitchFamily="34" charset="-120"/>
              </a:rPr>
              <a:t>改善の中身</a:t>
            </a:r>
            <a:endParaRPr lang="en-US" sz="1700" dirty="0"/>
          </a:p>
        </p:txBody>
      </p:sp>
      <p:sp>
        <p:nvSpPr>
          <p:cNvPr id="12" name="Text 10"/>
          <p:cNvSpPr/>
          <p:nvPr/>
        </p:nvSpPr>
        <p:spPr>
          <a:xfrm>
            <a:off x="3739896" y="3758184"/>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一部は、Whisperが</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句読点を出さなくなった</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だけ（正解テキストに句読点がないため）。評価をそろえると改善は小さくなるが、残る</a:t>
            </a:r>
            <a:endParaRPr lang="en-US" sz="1700" dirty="0"/>
          </a:p>
        </p:txBody>
      </p:sp>
      <p:sp>
        <p:nvSpPr>
          <p:cNvPr id="13" name="Shape 11"/>
          <p:cNvSpPr/>
          <p:nvPr/>
        </p:nvSpPr>
        <p:spPr>
          <a:xfrm>
            <a:off x="813816" y="4672584"/>
            <a:ext cx="10564063" cy="0"/>
          </a:xfrm>
          <a:prstGeom prst="line">
            <a:avLst/>
          </a:prstGeom>
          <a:noFill/>
          <a:ln w="12700">
            <a:solidFill>
              <a:srgbClr val="D8D3C8"/>
            </a:solidFill>
            <a:prstDash val="solid"/>
          </a:ln>
        </p:spPr>
      </p:sp>
      <p:sp>
        <p:nvSpPr>
          <p:cNvPr id="14" name="Text 12"/>
          <p:cNvSpPr/>
          <p:nvPr/>
        </p:nvSpPr>
        <p:spPr>
          <a:xfrm>
            <a:off x="813816" y="4782312"/>
            <a:ext cx="2743200" cy="804672"/>
          </a:xfrm>
          <a:prstGeom prst="rect">
            <a:avLst/>
          </a:prstGeom>
          <a:noFill/>
          <a:ln/>
        </p:spPr>
        <p:txBody>
          <a:bodyPr wrap="square" lIns="0" tIns="0" rIns="0" bIns="0" rtlCol="0" anchor="ctr"/>
          <a:lstStyle/>
          <a:p>
            <a:pPr indent="0" marL="0">
              <a:buNone/>
            </a:pPr>
            <a:r>
              <a:rPr lang="en-US" sz="1700" b="1" dirty="0">
                <a:solidFill>
                  <a:srgbClr val="1F2A37"/>
                </a:solidFill>
                <a:latin typeface="Yu Gothic" pitchFamily="34" charset="0"/>
                <a:ea typeface="Yu Gothic" pitchFamily="34" charset="-122"/>
                <a:cs typeface="Yu Gothic" pitchFamily="34" charset="-120"/>
              </a:rPr>
              <a:t>出力の音</a:t>
            </a:r>
            <a:endParaRPr lang="en-US" sz="1700" dirty="0"/>
          </a:p>
        </p:txBody>
      </p:sp>
      <p:sp>
        <p:nvSpPr>
          <p:cNvPr id="15" name="Text 13"/>
          <p:cNvSpPr/>
          <p:nvPr/>
        </p:nvSpPr>
        <p:spPr>
          <a:xfrm>
            <a:off x="3739896" y="4782312"/>
            <a:ext cx="7637983" cy="804672"/>
          </a:xfrm>
          <a:prstGeom prst="rect">
            <a:avLst/>
          </a:prstGeom>
          <a:noFill/>
          <a:ln/>
        </p:spPr>
        <p:txBody>
          <a:bodyPr wrap="square" lIns="0" tIns="0" rIns="0" bIns="0" rtlCol="0" anchor="ctr"/>
          <a:lstStyle/>
          <a:p>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STOI・PESQは下がり、250 Hz間隔の人工的な成分が現れる。気導音声らしい音ではなく、</a:t>
            </a:r>
            <a:pPr indent="0" marL="0">
              <a:lnSpc>
                <a:spcPct val="130000"/>
              </a:lnSpc>
              <a:buNone/>
            </a:pPr>
            <a:r>
              <a:rPr lang="en-US" sz="1700" b="1" dirty="0">
                <a:solidFill>
                  <a:srgbClr val="1F2A37"/>
                </a:solidFill>
                <a:latin typeface="Yu Gothic" pitchFamily="34" charset="0"/>
                <a:ea typeface="Yu Gothic" pitchFamily="34" charset="-122"/>
                <a:cs typeface="Yu Gothic" pitchFamily="34" charset="-120"/>
              </a:rPr>
              <a:t>Whisperが読みやすい音</a:t>
            </a:r>
            <a:pPr indent="0" marL="0">
              <a:lnSpc>
                <a:spcPct val="130000"/>
              </a:lnSpc>
              <a:buNone/>
            </a:pPr>
            <a:r>
              <a:rPr lang="en-US" sz="1700" dirty="0">
                <a:solidFill>
                  <a:srgbClr val="1F2A37"/>
                </a:solidFill>
                <a:latin typeface="Yu Gothic" pitchFamily="34" charset="0"/>
                <a:ea typeface="Yu Gothic" pitchFamily="34" charset="-122"/>
                <a:cs typeface="Yu Gothic" pitchFamily="34" charset="-120"/>
              </a:rPr>
              <a:t>を作っている</a:t>
            </a:r>
            <a:endParaRPr lang="en-US" sz="1700" dirty="0"/>
          </a:p>
        </p:txBody>
      </p:sp>
      <p:sp>
        <p:nvSpPr>
          <p:cNvPr id="16" name="Shape 14"/>
          <p:cNvSpPr/>
          <p:nvPr/>
        </p:nvSpPr>
        <p:spPr>
          <a:xfrm>
            <a:off x="813816" y="5696712"/>
            <a:ext cx="10564063" cy="0"/>
          </a:xfrm>
          <a:prstGeom prst="line">
            <a:avLst/>
          </a:prstGeom>
          <a:noFill/>
          <a:ln w="12700">
            <a:solidFill>
              <a:srgbClr val="D8D3C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2A37"/>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E8A365"/>
                </a:solidFill>
                <a:latin typeface="Yu Gothic" pitchFamily="34" charset="0"/>
                <a:ea typeface="Yu Gothic" pitchFamily="34" charset="-122"/>
                <a:cs typeface="Yu Gothic" pitchFamily="34" charset="-120"/>
              </a:rPr>
              <a:t>現状の評価</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200" b="1" dirty="0">
                <a:solidFill>
                  <a:srgbClr val="F7F6F2"/>
                </a:solidFill>
                <a:latin typeface="Yu Gothic" pitchFamily="34" charset="0"/>
                <a:ea typeface="Yu Gothic" pitchFamily="34" charset="-122"/>
                <a:cs typeface="Yu Gothic" pitchFamily="34" charset="-120"/>
              </a:rPr>
              <a:t>提案手法として押す方向は、行き詰まっている</a:t>
            </a:r>
            <a:endParaRPr lang="en-US" sz="3200" dirty="0"/>
          </a:p>
        </p:txBody>
      </p:sp>
      <p:sp>
        <p:nvSpPr>
          <p:cNvPr id="4" name="Shape 2"/>
          <p:cNvSpPr/>
          <p:nvPr/>
        </p:nvSpPr>
        <p:spPr>
          <a:xfrm>
            <a:off x="813816" y="2148840"/>
            <a:ext cx="3387242" cy="2377440"/>
          </a:xfrm>
          <a:prstGeom prst="roundRect">
            <a:avLst>
              <a:gd name="adj" fmla="val 3846"/>
            </a:avLst>
          </a:prstGeom>
          <a:solidFill>
            <a:srgbClr val="2A3747"/>
          </a:solidFill>
          <a:ln w="12700">
            <a:solidFill>
              <a:srgbClr val="2A3747"/>
            </a:solidFill>
            <a:prstDash val="solid"/>
          </a:ln>
        </p:spPr>
      </p:sp>
      <p:sp>
        <p:nvSpPr>
          <p:cNvPr id="5" name="Text 3"/>
          <p:cNvSpPr/>
          <p:nvPr/>
        </p:nvSpPr>
        <p:spPr>
          <a:xfrm>
            <a:off x="1069848"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新しさが小さい</a:t>
            </a:r>
            <a:endParaRPr lang="en-US" sz="1800" dirty="0"/>
          </a:p>
        </p:txBody>
      </p:sp>
      <p:sp>
        <p:nvSpPr>
          <p:cNvPr id="6" name="Text 4"/>
          <p:cNvSpPr/>
          <p:nvPr/>
        </p:nvSpPr>
        <p:spPr>
          <a:xfrm>
            <a:off x="1069848"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凍結Whisperの損失で前処理を学習する手法はDissen 2024が既出。ASR損失で学習したSEが他のASRで悪化することも、Sato 2025・D4AM 2023が報告済み</a:t>
            </a:r>
            <a:endParaRPr lang="en-US" sz="1400" dirty="0"/>
          </a:p>
        </p:txBody>
      </p:sp>
      <p:sp>
        <p:nvSpPr>
          <p:cNvPr id="7" name="Shape 5"/>
          <p:cNvSpPr/>
          <p:nvPr/>
        </p:nvSpPr>
        <p:spPr>
          <a:xfrm>
            <a:off x="4402226" y="2148840"/>
            <a:ext cx="3387242" cy="2377440"/>
          </a:xfrm>
          <a:prstGeom prst="roundRect">
            <a:avLst>
              <a:gd name="adj" fmla="val 3846"/>
            </a:avLst>
          </a:prstGeom>
          <a:solidFill>
            <a:srgbClr val="2A3747"/>
          </a:solidFill>
          <a:ln w="12700">
            <a:solidFill>
              <a:srgbClr val="2A3747"/>
            </a:solidFill>
            <a:prstDash val="solid"/>
          </a:ln>
        </p:spPr>
      </p:sp>
      <p:sp>
        <p:nvSpPr>
          <p:cNvPr id="8" name="Text 6"/>
          <p:cNvSpPr/>
          <p:nvPr/>
        </p:nvSpPr>
        <p:spPr>
          <a:xfrm>
            <a:off x="4658258"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精度でFTに届かない</a:t>
            </a:r>
            <a:endParaRPr lang="en-US" sz="1800" dirty="0"/>
          </a:p>
        </p:txBody>
      </p:sp>
      <p:sp>
        <p:nvSpPr>
          <p:cNvPr id="9" name="Text 7"/>
          <p:cNvSpPr/>
          <p:nvPr/>
        </p:nvSpPr>
        <p:spPr>
          <a:xfrm>
            <a:off x="4658258"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Whisperに特化するなら、Whisper自体を適応させる（FT・Adapter）ほうが明らかに上</a:t>
            </a:r>
            <a:endParaRPr lang="en-US" sz="1400" dirty="0"/>
          </a:p>
        </p:txBody>
      </p:sp>
      <p:sp>
        <p:nvSpPr>
          <p:cNvPr id="10" name="Shape 8"/>
          <p:cNvSpPr/>
          <p:nvPr/>
        </p:nvSpPr>
        <p:spPr>
          <a:xfrm>
            <a:off x="7990637" y="2148840"/>
            <a:ext cx="3387242" cy="2377440"/>
          </a:xfrm>
          <a:prstGeom prst="roundRect">
            <a:avLst>
              <a:gd name="adj" fmla="val 3846"/>
            </a:avLst>
          </a:prstGeom>
          <a:solidFill>
            <a:srgbClr val="2A3747"/>
          </a:solidFill>
          <a:ln w="12700">
            <a:solidFill>
              <a:srgbClr val="2A3747"/>
            </a:solidFill>
            <a:prstDash val="solid"/>
          </a:ln>
        </p:spPr>
      </p:sp>
      <p:sp>
        <p:nvSpPr>
          <p:cNvPr id="11" name="Text 9"/>
          <p:cNvSpPr/>
          <p:nvPr/>
        </p:nvSpPr>
        <p:spPr>
          <a:xfrm>
            <a:off x="8246669" y="2377440"/>
            <a:ext cx="2875178" cy="411480"/>
          </a:xfrm>
          <a:prstGeom prst="rect">
            <a:avLst/>
          </a:prstGeom>
          <a:noFill/>
          <a:ln/>
        </p:spPr>
        <p:txBody>
          <a:bodyPr wrap="square" lIns="0" tIns="0" rIns="0" bIns="0" rtlCol="0" anchor="t"/>
          <a:lstStyle/>
          <a:p>
            <a:pPr indent="0" marL="0">
              <a:buNone/>
            </a:pPr>
            <a:r>
              <a:rPr lang="en-US" sz="1800" b="1" dirty="0">
                <a:solidFill>
                  <a:srgbClr val="E8A365"/>
                </a:solidFill>
                <a:latin typeface="Yu Gothic" pitchFamily="34" charset="0"/>
                <a:ea typeface="Yu Gothic" pitchFamily="34" charset="-122"/>
                <a:cs typeface="Yu Gothic" pitchFamily="34" charset="-120"/>
              </a:rPr>
              <a:t>SEの長所を失う</a:t>
            </a:r>
            <a:endParaRPr lang="en-US" sz="1800" dirty="0"/>
          </a:p>
        </p:txBody>
      </p:sp>
      <p:sp>
        <p:nvSpPr>
          <p:cNvPr id="12" name="Text 10"/>
          <p:cNvSpPr/>
          <p:nvPr/>
        </p:nvSpPr>
        <p:spPr>
          <a:xfrm>
            <a:off x="8246669" y="2926080"/>
            <a:ext cx="2875178" cy="1463040"/>
          </a:xfrm>
          <a:prstGeom prst="rect">
            <a:avLst/>
          </a:prstGeom>
          <a:noFill/>
          <a:ln/>
        </p:spPr>
        <p:txBody>
          <a:bodyPr wrap="square" lIns="0" tIns="0" rIns="0" bIns="0" rtlCol="0" anchor="t"/>
          <a:lstStyle/>
          <a:p>
            <a:pPr indent="0" marL="0">
              <a:lnSpc>
                <a:spcPct val="140000"/>
              </a:lnSpc>
              <a:buNone/>
            </a:pPr>
            <a:r>
              <a:rPr lang="en-US" sz="1400" dirty="0">
                <a:solidFill>
                  <a:srgbClr val="DCE2E9"/>
                </a:solidFill>
                <a:latin typeface="Yu Gothic" pitchFamily="34" charset="0"/>
                <a:ea typeface="Yu Gothic" pitchFamily="34" charset="-122"/>
                <a:cs typeface="Yu Gothic" pitchFamily="34" charset="-120"/>
              </a:rPr>
              <a:t>SEの売りは「どのASRにも使える」こと。ASR損失で学習すると、それが消える</a:t>
            </a:r>
            <a:endParaRPr lang="en-US" sz="1400" dirty="0"/>
          </a:p>
        </p:txBody>
      </p:sp>
      <p:sp>
        <p:nvSpPr>
          <p:cNvPr id="13" name="Text 11"/>
          <p:cNvSpPr/>
          <p:nvPr/>
        </p:nvSpPr>
        <p:spPr>
          <a:xfrm>
            <a:off x="813816" y="4892040"/>
            <a:ext cx="10564063" cy="731520"/>
          </a:xfrm>
          <a:prstGeom prst="rect">
            <a:avLst/>
          </a:prstGeom>
          <a:noFill/>
          <a:ln/>
        </p:spPr>
        <p:txBody>
          <a:bodyPr wrap="square" lIns="0" tIns="0" rIns="0" bIns="0" rtlCol="0" anchor="t"/>
          <a:lstStyle/>
          <a:p>
            <a:pPr indent="0" marL="0">
              <a:lnSpc>
                <a:spcPct val="140000"/>
              </a:lnSpc>
              <a:buNone/>
            </a:pPr>
            <a:r>
              <a:rPr lang="en-US" sz="1600" dirty="0">
                <a:solidFill>
                  <a:srgbClr val="DCE2E9"/>
                </a:solidFill>
                <a:latin typeface="Yu Gothic" pitchFamily="34" charset="0"/>
                <a:ea typeface="Yu Gothic" pitchFamily="34" charset="-122"/>
                <a:cs typeface="Yu Gothic" pitchFamily="34" charset="-120"/>
              </a:rPr>
              <a:t>「Whisper用ならFT、汎用ならベースラインのSE」で済んでしまい、この手法の居場所がない。</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F1F4"/>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2F6FB0"/>
                </a:solidFill>
                <a:latin typeface="Yu Gothic" pitchFamily="34" charset="0"/>
                <a:ea typeface="Yu Gothic" pitchFamily="34" charset="-122"/>
                <a:cs typeface="Yu Gothic" pitchFamily="34" charset="-120"/>
              </a:rPr>
              <a:t>行き詰まっていない部分</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わかったことには価値がある</a:t>
            </a:r>
            <a:endParaRPr lang="en-US" sz="3000" dirty="0"/>
          </a:p>
        </p:txBody>
      </p:sp>
      <p:sp>
        <p:nvSpPr>
          <p:cNvPr id="4" name="Shape 2"/>
          <p:cNvSpPr/>
          <p:nvPr/>
        </p:nvSpPr>
        <p:spPr>
          <a:xfrm>
            <a:off x="813816" y="2103120"/>
            <a:ext cx="5181448" cy="2926080"/>
          </a:xfrm>
          <a:prstGeom prst="rect">
            <a:avLst/>
          </a:prstGeom>
          <a:solidFill>
            <a:srgbClr val="FBFAF7"/>
          </a:solidFill>
          <a:ln w="12700">
            <a:solidFill>
              <a:srgbClr val="FBFAF7"/>
            </a:solidFill>
            <a:prstDash val="solid"/>
          </a:ln>
        </p:spPr>
      </p:sp>
      <p:sp>
        <p:nvSpPr>
          <p:cNvPr id="5" name="Shape 3"/>
          <p:cNvSpPr/>
          <p:nvPr/>
        </p:nvSpPr>
        <p:spPr>
          <a:xfrm>
            <a:off x="813816" y="2103120"/>
            <a:ext cx="5181448" cy="54864"/>
          </a:xfrm>
          <a:prstGeom prst="rect">
            <a:avLst/>
          </a:prstGeom>
          <a:solidFill>
            <a:srgbClr val="2F6FB0"/>
          </a:solidFill>
          <a:ln w="12700">
            <a:solidFill>
              <a:srgbClr val="2F6FB0"/>
            </a:solidFill>
            <a:prstDash val="solid"/>
          </a:ln>
        </p:spPr>
      </p:sp>
      <p:sp>
        <p:nvSpPr>
          <p:cNvPr id="6" name="Text 4"/>
          <p:cNvSpPr/>
          <p:nvPr/>
        </p:nvSpPr>
        <p:spPr>
          <a:xfrm>
            <a:off x="1088136" y="2377440"/>
            <a:ext cx="4632808" cy="457200"/>
          </a:xfrm>
          <a:prstGeom prst="rect">
            <a:avLst/>
          </a:prstGeom>
          <a:noFill/>
          <a:ln/>
        </p:spPr>
        <p:txBody>
          <a:bodyPr wrap="square" lIns="0" tIns="0" rIns="0" bIns="0" rtlCol="0" anchor="t"/>
          <a:lstStyle/>
          <a:p>
            <a:pPr indent="0" marL="0">
              <a:buNone/>
            </a:pPr>
            <a:r>
              <a:rPr lang="en-US" sz="1800" b="1" dirty="0">
                <a:solidFill>
                  <a:srgbClr val="1F2A37"/>
                </a:solidFill>
                <a:latin typeface="Yu Gothic" pitchFamily="34" charset="0"/>
                <a:ea typeface="Yu Gothic" pitchFamily="34" charset="-122"/>
                <a:cs typeface="Yu Gothic" pitchFamily="34" charset="-120"/>
              </a:rPr>
              <a:t>分析の成果</a:t>
            </a:r>
            <a:endParaRPr lang="en-US" sz="1800" dirty="0"/>
          </a:p>
        </p:txBody>
      </p:sp>
      <p:sp>
        <p:nvSpPr>
          <p:cNvPr id="7" name="Text 5"/>
          <p:cNvSpPr/>
          <p:nvPr/>
        </p:nvSpPr>
        <p:spPr>
          <a:xfrm>
            <a:off x="1088136" y="2971800"/>
            <a:ext cx="4632808" cy="1280160"/>
          </a:xfrm>
          <a:prstGeom prst="rect">
            <a:avLst/>
          </a:prstGeom>
          <a:noFill/>
          <a:ln/>
        </p:spPr>
        <p:txBody>
          <a:bodyPr wrap="square" lIns="0" tIns="0" rIns="0" bIns="0" rtlCol="0" anchor="t"/>
          <a:lstStyle/>
          <a:p>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「汎用性を失う」は先行研究と同じ傾向。</a:t>
            </a:r>
            <a:pPr indent="0" marL="0">
              <a:lnSpc>
                <a:spcPct val="140000"/>
              </a:lnSpc>
              <a:buNone/>
            </a:pPr>
            <a:r>
              <a:rPr lang="en-US" sz="1500" b="1" dirty="0">
                <a:solidFill>
                  <a:srgbClr val="1F2A37"/>
                </a:solidFill>
                <a:latin typeface="Yu Gothic" pitchFamily="34" charset="0"/>
                <a:ea typeface="Yu Gothic" pitchFamily="34" charset="-122"/>
                <a:cs typeface="Yu Gothic" pitchFamily="34" charset="-120"/>
              </a:rPr>
              <a:t>新しいのは</a:t>
            </a:r>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、帯域が欠けた喉マイクでの確認、句読点による見かけの改善の定量化、250 Hz間隔の人工成分の分析</a:t>
            </a:r>
            <a:endParaRPr lang="en-US" sz="1500" dirty="0"/>
          </a:p>
        </p:txBody>
      </p:sp>
      <p:sp>
        <p:nvSpPr>
          <p:cNvPr id="8" name="Text 6"/>
          <p:cNvSpPr/>
          <p:nvPr/>
        </p:nvSpPr>
        <p:spPr>
          <a:xfrm>
            <a:off x="1088136" y="4343400"/>
            <a:ext cx="4632808" cy="457200"/>
          </a:xfrm>
          <a:prstGeom prst="rect">
            <a:avLst/>
          </a:prstGeom>
          <a:noFill/>
          <a:ln/>
        </p:spPr>
        <p:txBody>
          <a:bodyPr wrap="square" lIns="0" tIns="0" rIns="0" bIns="0" rtlCol="0" anchor="t"/>
          <a:lstStyle/>
          <a:p>
            <a:pPr indent="0" marL="0">
              <a:buNone/>
            </a:pPr>
            <a:r>
              <a:rPr lang="en-US" sz="1400" dirty="0">
                <a:solidFill>
                  <a:srgbClr val="4A5568"/>
                </a:solidFill>
                <a:latin typeface="Yu Gothic" pitchFamily="34" charset="0"/>
                <a:ea typeface="Yu Gothic" pitchFamily="34" charset="-122"/>
                <a:cs typeface="Yu Gothic" pitchFamily="34" charset="-120"/>
              </a:rPr>
              <a:t>→ 卒論・学会発表には十分</a:t>
            </a:r>
            <a:endParaRPr lang="en-US" sz="1400" dirty="0"/>
          </a:p>
        </p:txBody>
      </p:sp>
      <p:sp>
        <p:nvSpPr>
          <p:cNvPr id="9" name="Shape 7"/>
          <p:cNvSpPr/>
          <p:nvPr/>
        </p:nvSpPr>
        <p:spPr>
          <a:xfrm>
            <a:off x="6196432" y="2103120"/>
            <a:ext cx="5181448" cy="2926080"/>
          </a:xfrm>
          <a:prstGeom prst="rect">
            <a:avLst/>
          </a:prstGeom>
          <a:solidFill>
            <a:srgbClr val="FBFAF7"/>
          </a:solidFill>
          <a:ln w="12700">
            <a:solidFill>
              <a:srgbClr val="FBFAF7"/>
            </a:solidFill>
            <a:prstDash val="solid"/>
          </a:ln>
        </p:spPr>
      </p:sp>
      <p:sp>
        <p:nvSpPr>
          <p:cNvPr id="10" name="Shape 8"/>
          <p:cNvSpPr/>
          <p:nvPr/>
        </p:nvSpPr>
        <p:spPr>
          <a:xfrm>
            <a:off x="6196432" y="2103120"/>
            <a:ext cx="5181448" cy="54864"/>
          </a:xfrm>
          <a:prstGeom prst="rect">
            <a:avLst/>
          </a:prstGeom>
          <a:solidFill>
            <a:srgbClr val="D9772B"/>
          </a:solidFill>
          <a:ln w="12700">
            <a:solidFill>
              <a:srgbClr val="D9772B"/>
            </a:solidFill>
            <a:prstDash val="solid"/>
          </a:ln>
        </p:spPr>
      </p:sp>
      <p:sp>
        <p:nvSpPr>
          <p:cNvPr id="11" name="Text 9"/>
          <p:cNvSpPr/>
          <p:nvPr/>
        </p:nvSpPr>
        <p:spPr>
          <a:xfrm>
            <a:off x="6470752" y="2377440"/>
            <a:ext cx="4632808" cy="457200"/>
          </a:xfrm>
          <a:prstGeom prst="rect">
            <a:avLst/>
          </a:prstGeom>
          <a:noFill/>
          <a:ln/>
        </p:spPr>
        <p:txBody>
          <a:bodyPr wrap="square" lIns="0" tIns="0" rIns="0" bIns="0" rtlCol="0" anchor="t"/>
          <a:lstStyle/>
          <a:p>
            <a:pPr indent="0" marL="0">
              <a:buNone/>
            </a:pPr>
            <a:r>
              <a:rPr lang="en-US" sz="1800" b="1" dirty="0">
                <a:solidFill>
                  <a:srgbClr val="B45F1E"/>
                </a:solidFill>
                <a:latin typeface="Yu Gothic" pitchFamily="34" charset="0"/>
                <a:ea typeface="Yu Gothic" pitchFamily="34" charset="-122"/>
                <a:cs typeface="Yu Gothic" pitchFamily="34" charset="-120"/>
              </a:rPr>
              <a:t>次の目標がはっきりした</a:t>
            </a:r>
            <a:endParaRPr lang="en-US" sz="1800" dirty="0"/>
          </a:p>
        </p:txBody>
      </p:sp>
      <p:sp>
        <p:nvSpPr>
          <p:cNvPr id="12" name="Text 10"/>
          <p:cNvSpPr/>
          <p:nvPr/>
        </p:nvSpPr>
        <p:spPr>
          <a:xfrm>
            <a:off x="6470752" y="2971800"/>
            <a:ext cx="4632808" cy="1280160"/>
          </a:xfrm>
          <a:prstGeom prst="rect">
            <a:avLst/>
          </a:prstGeom>
          <a:noFill/>
          <a:ln/>
        </p:spPr>
        <p:txBody>
          <a:bodyPr wrap="square" lIns="0" tIns="0" rIns="0" bIns="0" rtlCol="0" anchor="t"/>
          <a:lstStyle/>
          <a:p>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SEの長所（汎用性）を</a:t>
            </a:r>
            <a:pPr indent="0" marL="0">
              <a:lnSpc>
                <a:spcPct val="140000"/>
              </a:lnSpc>
              <a:buNone/>
            </a:pPr>
            <a:r>
              <a:rPr lang="en-US" sz="1500" b="1" dirty="0">
                <a:solidFill>
                  <a:srgbClr val="1F2A37"/>
                </a:solidFill>
                <a:latin typeface="Yu Gothic" pitchFamily="34" charset="0"/>
                <a:ea typeface="Yu Gothic" pitchFamily="34" charset="-122"/>
                <a:cs typeface="Yu Gothic" pitchFamily="34" charset="-120"/>
              </a:rPr>
              <a:t>保ったまま</a:t>
            </a:r>
            <a:pPr indent="0" marL="0">
              <a:lnSpc>
                <a:spcPct val="140000"/>
              </a:lnSpc>
              <a:buNone/>
            </a:pPr>
            <a:r>
              <a:rPr lang="en-US" sz="1500" dirty="0">
                <a:solidFill>
                  <a:srgbClr val="1F2A37"/>
                </a:solidFill>
                <a:latin typeface="Yu Gothic" pitchFamily="34" charset="0"/>
                <a:ea typeface="Yu Gothic" pitchFamily="34" charset="-122"/>
                <a:cs typeface="Yu Gothic" pitchFamily="34" charset="-120"/>
              </a:rPr>
              <a:t>、ASRに効くSEをどう作るか</a:t>
            </a:r>
            <a:endParaRPr lang="en-US" sz="1500" dirty="0"/>
          </a:p>
        </p:txBody>
      </p:sp>
      <p:sp>
        <p:nvSpPr>
          <p:cNvPr id="13" name="Text 11"/>
          <p:cNvSpPr/>
          <p:nvPr/>
        </p:nvSpPr>
        <p:spPr>
          <a:xfrm>
            <a:off x="6470752" y="4343400"/>
            <a:ext cx="4632808" cy="457200"/>
          </a:xfrm>
          <a:prstGeom prst="rect">
            <a:avLst/>
          </a:prstGeom>
          <a:noFill/>
          <a:ln/>
        </p:spPr>
        <p:txBody>
          <a:bodyPr wrap="square" lIns="0" tIns="0" rIns="0" bIns="0" rtlCol="0" anchor="t"/>
          <a:lstStyle/>
          <a:p>
            <a:pPr indent="0" marL="0">
              <a:buNone/>
            </a:pPr>
            <a:r>
              <a:rPr lang="en-US" sz="1400" dirty="0">
                <a:solidFill>
                  <a:srgbClr val="4A5568"/>
                </a:solidFill>
                <a:latin typeface="Yu Gothic" pitchFamily="34" charset="0"/>
                <a:ea typeface="Yu Gothic" pitchFamily="34" charset="-122"/>
                <a:cs typeface="Yu Gothic" pitchFamily="34" charset="-120"/>
              </a:rPr>
              <a:t>→ これが一番大きな収穫</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次の方向の候補：本命</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特定のASRに依存しない、喉マイク用のSE</a:t>
            </a:r>
            <a:endParaRPr lang="en-US" sz="3000" dirty="0"/>
          </a:p>
        </p:txBody>
      </p:sp>
      <p:sp>
        <p:nvSpPr>
          <p:cNvPr id="4" name="Shape 2"/>
          <p:cNvSpPr/>
          <p:nvPr/>
        </p:nvSpPr>
        <p:spPr>
          <a:xfrm>
            <a:off x="813816" y="2011680"/>
            <a:ext cx="10564063" cy="1170432"/>
          </a:xfrm>
          <a:prstGeom prst="rect">
            <a:avLst/>
          </a:prstGeom>
          <a:solidFill>
            <a:srgbClr val="FBFAF7"/>
          </a:solidFill>
          <a:ln w="12700">
            <a:solidFill>
              <a:srgbClr val="FBFAF7"/>
            </a:solidFill>
            <a:prstDash val="solid"/>
          </a:ln>
        </p:spPr>
      </p:sp>
      <p:sp>
        <p:nvSpPr>
          <p:cNvPr id="5" name="Shape 3"/>
          <p:cNvSpPr/>
          <p:nvPr/>
        </p:nvSpPr>
        <p:spPr>
          <a:xfrm>
            <a:off x="813816" y="2011680"/>
            <a:ext cx="54864" cy="1170432"/>
          </a:xfrm>
          <a:prstGeom prst="rect">
            <a:avLst/>
          </a:prstGeom>
          <a:solidFill>
            <a:srgbClr val="D9772B"/>
          </a:solidFill>
          <a:ln w="12700">
            <a:solidFill>
              <a:srgbClr val="D9772B"/>
            </a:solidFill>
            <a:prstDash val="solid"/>
          </a:ln>
        </p:spPr>
      </p:sp>
      <p:sp>
        <p:nvSpPr>
          <p:cNvPr id="6" name="Text 4"/>
          <p:cNvSpPr/>
          <p:nvPr/>
        </p:nvSpPr>
        <p:spPr>
          <a:xfrm>
            <a:off x="1088136" y="2011680"/>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動機</a:t>
            </a:r>
            <a:endParaRPr lang="en-US" sz="1600" dirty="0"/>
          </a:p>
        </p:txBody>
      </p:sp>
      <p:sp>
        <p:nvSpPr>
          <p:cNvPr id="7" name="Text 5"/>
          <p:cNvSpPr/>
          <p:nvPr/>
        </p:nvSpPr>
        <p:spPr>
          <a:xfrm>
            <a:off x="3191256" y="2103120"/>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現場には</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重みを変えられないASR</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が多い（クラウドAPI、共用のASR）。FTもASR損失の学習もできないので、</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ASRを選ばないSEしか選択肢がない</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。ここがSEの本当の存在意義</a:t>
            </a:r>
            <a:endParaRPr lang="en-US" sz="1400" dirty="0"/>
          </a:p>
        </p:txBody>
      </p:sp>
      <p:sp>
        <p:nvSpPr>
          <p:cNvPr id="8" name="Shape 6"/>
          <p:cNvSpPr/>
          <p:nvPr/>
        </p:nvSpPr>
        <p:spPr>
          <a:xfrm>
            <a:off x="813816" y="3310128"/>
            <a:ext cx="10564063" cy="1170432"/>
          </a:xfrm>
          <a:prstGeom prst="rect">
            <a:avLst/>
          </a:prstGeom>
          <a:solidFill>
            <a:srgbClr val="FBFAF7"/>
          </a:solidFill>
          <a:ln w="12700">
            <a:solidFill>
              <a:srgbClr val="FBFAF7"/>
            </a:solidFill>
            <a:prstDash val="solid"/>
          </a:ln>
        </p:spPr>
      </p:sp>
      <p:sp>
        <p:nvSpPr>
          <p:cNvPr id="9" name="Shape 7"/>
          <p:cNvSpPr/>
          <p:nvPr/>
        </p:nvSpPr>
        <p:spPr>
          <a:xfrm>
            <a:off x="813816" y="3310128"/>
            <a:ext cx="54864" cy="1170432"/>
          </a:xfrm>
          <a:prstGeom prst="rect">
            <a:avLst/>
          </a:prstGeom>
          <a:solidFill>
            <a:srgbClr val="D9772B"/>
          </a:solidFill>
          <a:ln w="12700">
            <a:solidFill>
              <a:srgbClr val="D9772B"/>
            </a:solidFill>
            <a:prstDash val="solid"/>
          </a:ln>
        </p:spPr>
      </p:sp>
      <p:sp>
        <p:nvSpPr>
          <p:cNvPr id="10" name="Text 8"/>
          <p:cNvSpPr/>
          <p:nvPr/>
        </p:nvSpPr>
        <p:spPr>
          <a:xfrm>
            <a:off x="1088136" y="3310128"/>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手がかり</a:t>
            </a:r>
            <a:endParaRPr lang="en-US" sz="1600" dirty="0"/>
          </a:p>
        </p:txBody>
      </p:sp>
      <p:sp>
        <p:nvSpPr>
          <p:cNvPr id="11" name="Text 9"/>
          <p:cNvSpPr/>
          <p:nvPr/>
        </p:nvSpPr>
        <p:spPr>
          <a:xfrm>
            <a:off x="3191256" y="3401568"/>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自己教師あり表現（WavLMなど）を損失に使うと、</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学習に使っていないASRでも改善した</a:t>
            </a:r>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という報告がある（Sato 2025、Ravenscroft 2024）。特定のASRの出力ではなく、「音声の表現」に近づける方向</a:t>
            </a:r>
            <a:endParaRPr lang="en-US" sz="1400" dirty="0"/>
          </a:p>
        </p:txBody>
      </p:sp>
      <p:sp>
        <p:nvSpPr>
          <p:cNvPr id="12" name="Shape 10"/>
          <p:cNvSpPr/>
          <p:nvPr/>
        </p:nvSpPr>
        <p:spPr>
          <a:xfrm>
            <a:off x="813816" y="4608576"/>
            <a:ext cx="10564063" cy="1170432"/>
          </a:xfrm>
          <a:prstGeom prst="rect">
            <a:avLst/>
          </a:prstGeom>
          <a:solidFill>
            <a:srgbClr val="FBFAF7"/>
          </a:solidFill>
          <a:ln w="12700">
            <a:solidFill>
              <a:srgbClr val="FBFAF7"/>
            </a:solidFill>
            <a:prstDash val="solid"/>
          </a:ln>
        </p:spPr>
      </p:sp>
      <p:sp>
        <p:nvSpPr>
          <p:cNvPr id="13" name="Shape 11"/>
          <p:cNvSpPr/>
          <p:nvPr/>
        </p:nvSpPr>
        <p:spPr>
          <a:xfrm>
            <a:off x="813816" y="4608576"/>
            <a:ext cx="54864" cy="1170432"/>
          </a:xfrm>
          <a:prstGeom prst="rect">
            <a:avLst/>
          </a:prstGeom>
          <a:solidFill>
            <a:srgbClr val="D9772B"/>
          </a:solidFill>
          <a:ln w="12700">
            <a:solidFill>
              <a:srgbClr val="D9772B"/>
            </a:solidFill>
            <a:prstDash val="solid"/>
          </a:ln>
        </p:spPr>
      </p:sp>
      <p:sp>
        <p:nvSpPr>
          <p:cNvPr id="14" name="Text 12"/>
          <p:cNvSpPr/>
          <p:nvPr/>
        </p:nvSpPr>
        <p:spPr>
          <a:xfrm>
            <a:off x="1088136" y="4608576"/>
            <a:ext cx="2011680" cy="1170432"/>
          </a:xfrm>
          <a:prstGeom prst="rect">
            <a:avLst/>
          </a:prstGeom>
          <a:noFill/>
          <a:ln/>
        </p:spPr>
        <p:txBody>
          <a:bodyPr wrap="square" lIns="0" tIns="0" rIns="0" bIns="0" rtlCol="0" anchor="ctr"/>
          <a:lstStyle/>
          <a:p>
            <a:pPr indent="0" marL="0">
              <a:buNone/>
            </a:pPr>
            <a:r>
              <a:rPr lang="en-US" sz="1600" b="1" dirty="0">
                <a:solidFill>
                  <a:srgbClr val="1F2A37"/>
                </a:solidFill>
                <a:latin typeface="Yu Gothic" pitchFamily="34" charset="0"/>
                <a:ea typeface="Yu Gothic" pitchFamily="34" charset="-122"/>
                <a:cs typeface="Yu Gothic" pitchFamily="34" charset="-120"/>
              </a:rPr>
              <a:t>評価の枠組み</a:t>
            </a:r>
            <a:endParaRPr lang="en-US" sz="1600" dirty="0"/>
          </a:p>
        </p:txBody>
      </p:sp>
      <p:sp>
        <p:nvSpPr>
          <p:cNvPr id="15" name="Text 13"/>
          <p:cNvSpPr/>
          <p:nvPr/>
        </p:nvSpPr>
        <p:spPr>
          <a:xfrm>
            <a:off x="3191256" y="4700016"/>
            <a:ext cx="7958023" cy="987552"/>
          </a:xfrm>
          <a:prstGeom prst="rect">
            <a:avLst/>
          </a:prstGeom>
          <a:noFill/>
          <a:ln/>
        </p:spPr>
        <p:txBody>
          <a:bodyPr wrap="square" lIns="0" tIns="0" rIns="0" bIns="0" rtlCol="0" anchor="ctr"/>
          <a:lstStyle/>
          <a:p>
            <a:pPr indent="0" marL="0">
              <a:lnSpc>
                <a:spcPct val="135000"/>
              </a:lnSpc>
              <a:buNone/>
            </a:pPr>
            <a:r>
              <a:rPr lang="en-US" sz="1400" dirty="0">
                <a:solidFill>
                  <a:srgbClr val="1F2A37"/>
                </a:solidFill>
                <a:latin typeface="Yu Gothic" pitchFamily="34" charset="0"/>
                <a:ea typeface="Yu Gothic" pitchFamily="34" charset="-122"/>
                <a:cs typeface="Yu Gothic" pitchFamily="34" charset="-120"/>
              </a:rPr>
              <a:t>学習に使っていない系列のASRで評価する、句読点をそろえる。</a:t>
            </a:r>
            <a:pPr indent="0" marL="0">
              <a:lnSpc>
                <a:spcPct val="135000"/>
              </a:lnSpc>
              <a:buNone/>
            </a:pPr>
            <a:r>
              <a:rPr lang="en-US" sz="1400" b="1" dirty="0">
                <a:solidFill>
                  <a:srgbClr val="1F2A37"/>
                </a:solidFill>
                <a:latin typeface="Yu Gothic" pitchFamily="34" charset="0"/>
                <a:ea typeface="Yu Gothic" pitchFamily="34" charset="-122"/>
                <a:cs typeface="Yu Gothic" pitchFamily="34" charset="-120"/>
              </a:rPr>
              <a:t>卒論で作ったものがそのまま使える</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Text 0"/>
          <p:cNvSpPr/>
          <p:nvPr/>
        </p:nvSpPr>
        <p:spPr>
          <a:xfrm>
            <a:off x="813816" y="640080"/>
            <a:ext cx="10564063" cy="320040"/>
          </a:xfrm>
          <a:prstGeom prst="rect">
            <a:avLst/>
          </a:prstGeom>
          <a:noFill/>
          <a:ln/>
        </p:spPr>
        <p:txBody>
          <a:bodyPr wrap="square" lIns="0" tIns="0" rIns="0" bIns="0" rtlCol="0" anchor="t"/>
          <a:lstStyle/>
          <a:p>
            <a:pPr indent="0" marL="0">
              <a:buNone/>
            </a:pPr>
            <a:r>
              <a:rPr lang="en-US" sz="1500" b="1" spc="200" kern="0" dirty="0">
                <a:solidFill>
                  <a:srgbClr val="B45F1E"/>
                </a:solidFill>
                <a:latin typeface="Yu Gothic" pitchFamily="34" charset="0"/>
                <a:ea typeface="Yu Gothic" pitchFamily="34" charset="-122"/>
                <a:cs typeface="Yu Gothic" pitchFamily="34" charset="-120"/>
              </a:rPr>
              <a:t>次の方向の候補：その他</a:t>
            </a:r>
            <a:endParaRPr lang="en-US" sz="1500" dirty="0"/>
          </a:p>
        </p:txBody>
      </p:sp>
      <p:sp>
        <p:nvSpPr>
          <p:cNvPr id="3" name="Text 1"/>
          <p:cNvSpPr/>
          <p:nvPr/>
        </p:nvSpPr>
        <p:spPr>
          <a:xfrm>
            <a:off x="813816" y="1051560"/>
            <a:ext cx="10564063" cy="731520"/>
          </a:xfrm>
          <a:prstGeom prst="rect">
            <a:avLst/>
          </a:prstGeom>
          <a:noFill/>
          <a:ln/>
        </p:spPr>
        <p:txBody>
          <a:bodyPr wrap="square" lIns="0" tIns="0" rIns="0" bIns="0" rtlCol="0" anchor="t"/>
          <a:lstStyle/>
          <a:p>
            <a:pPr indent="0" marL="0">
              <a:buNone/>
            </a:pPr>
            <a:r>
              <a:rPr lang="en-US" sz="3000" b="1" dirty="0">
                <a:solidFill>
                  <a:srgbClr val="1F2A37"/>
                </a:solidFill>
                <a:latin typeface="Yu Gothic" pitchFamily="34" charset="0"/>
                <a:ea typeface="Yu Gothic" pitchFamily="34" charset="-122"/>
                <a:cs typeface="Yu Gothic" pitchFamily="34" charset="-120"/>
              </a:rPr>
              <a:t>ほかに考えられる選択肢</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564063" cy="914400"/>
        </p:xfrm>
        <a:graphic>
          <a:graphicData uri="http://schemas.openxmlformats.org/drawingml/2006/table">
            <a:tbl>
              <a:tblPr/>
              <a:tblGrid>
                <a:gridCol w="3591781"/>
                <a:gridCol w="3486141"/>
                <a:gridCol w="3486141"/>
              </a:tblGrid>
              <a:tr h="502920">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方向</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見込み</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c>
                  <a:txBody>
                    <a:bodyPr/>
                    <a:lstStyle/>
                    <a:p>
                      <a:pPr indent="0" marL="0">
                        <a:buNone/>
                      </a:pPr>
                      <a:r>
                        <a:rPr lang="en-US" sz="1500" b="1" dirty="0">
                          <a:solidFill>
                            <a:srgbClr val="F7F6F2"/>
                          </a:solidFill>
                          <a:latin typeface="Yu Gothic" pitchFamily="34" charset="0"/>
                          <a:ea typeface="Yu Gothic" pitchFamily="34" charset="-122"/>
                          <a:cs typeface="Yu Gothic" pitchFamily="34" charset="-120"/>
                        </a:rPr>
                        <a:t>懸念</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1F2A37"/>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複数のASRの損失を混ぜて学習</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自然な発展</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平均的になるだけかも。学習に使っていない系列には効かない可能性</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雑音のある環境で評価（今回は雑音なし）</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喉マイク本来の強み（騒音に強い）を活かせる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データの収録が必要。競合研究がある</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EEF1F4"/>
                    </a:solidFill>
                  </a:tcPr>
                </a:tc>
              </a:tr>
              <a:tr h="868680">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SEとFTがそれぞれ何を直しているかの分析</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分析として面白い</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c>
                  <a:txBody>
                    <a:bodyPr/>
                    <a:lstStyle/>
                    <a:p>
                      <a:pPr indent="0" marL="0">
                        <a:buNone/>
                      </a:pPr>
                      <a:r>
                        <a:rPr lang="en-US" sz="1500" dirty="0">
                          <a:solidFill>
                            <a:srgbClr val="1F2A37"/>
                          </a:solidFill>
                          <a:latin typeface="Yu Gothic" pitchFamily="34" charset="0"/>
                          <a:ea typeface="Yu Gothic" pitchFamily="34" charset="-122"/>
                          <a:cs typeface="Yu Gothic" pitchFamily="34" charset="-120"/>
                        </a:rPr>
                        <a:t>手法の提案にはならない</a:t>
                      </a:r>
                      <a:endParaRPr lang="en-US" sz="1500" dirty="0">
                        <a:latin typeface="Yu Gothic" charset="0"/>
                        <a:ea typeface="Yu Gothic" charset="0"/>
                        <a:cs typeface="Yu Gothic" charset="0"/>
                      </a:endParaRPr>
                    </a:p>
                  </a:txBody>
                  <a:tcPr marL="109728" marR="109728" marT="109728" marB="109728" anchor="ctr">
                    <a:lnL w="9525" cap="flat" cmpd="sng" algn="ctr">
                      <a:solidFill>
                        <a:srgbClr val="D8D3C8"/>
                      </a:solidFill>
                      <a:prstDash val="solid"/>
                      <a:round/>
                      <a:headEnd type="none" w="med" len="med"/>
                      <a:tailEnd type="none" w="med" len="med"/>
                    </a:lnL>
                    <a:lnR w="9525" cap="flat" cmpd="sng" algn="ctr">
                      <a:solidFill>
                        <a:srgbClr val="D8D3C8"/>
                      </a:solidFill>
                      <a:prstDash val="solid"/>
                      <a:round/>
                      <a:headEnd type="none" w="med" len="med"/>
                      <a:tailEnd type="none" w="med" len="med"/>
                    </a:lnR>
                    <a:lnT w="9525" cap="flat" cmpd="sng" algn="ctr">
                      <a:solidFill>
                        <a:srgbClr val="D8D3C8"/>
                      </a:solidFill>
                      <a:prstDash val="solid"/>
                      <a:round/>
                      <a:headEnd type="none" w="med" len="med"/>
                      <a:tailEnd type="none" w="med" len="med"/>
                    </a:lnT>
                    <a:lnB w="9525" cap="flat" cmpd="sng" algn="ctr">
                      <a:solidFill>
                        <a:srgbClr val="D8D3C8"/>
                      </a:solidFill>
                      <a:prstDash val="solid"/>
                      <a:round/>
                      <a:headEnd type="none" w="med" len="med"/>
                      <a:tailEnd type="none" w="med" len="med"/>
                    </a:lnB>
                    <a:solidFill>
                      <a:srgbClr val="FBFAF7"/>
                    </a:solidFill>
                  </a:tcPr>
                </a:tc>
              </a:tr>
            </a:tbl>
          </a:graphicData>
        </a:graphic>
      </p:graphicFrame>
      <p:sp>
        <p:nvSpPr>
          <p:cNvPr id="5" name="Shape 2"/>
          <p:cNvSpPr/>
          <p:nvPr/>
        </p:nvSpPr>
        <p:spPr>
          <a:xfrm>
            <a:off x="813816" y="5440680"/>
            <a:ext cx="10564063" cy="594360"/>
          </a:xfrm>
          <a:prstGeom prst="roundRect">
            <a:avLst>
              <a:gd name="adj" fmla="val 12308"/>
            </a:avLst>
          </a:prstGeom>
          <a:solidFill>
            <a:srgbClr val="1F2A37"/>
          </a:solidFill>
          <a:ln w="12700">
            <a:solidFill>
              <a:srgbClr val="1F2A37"/>
            </a:solidFill>
            <a:prstDash val="solid"/>
          </a:ln>
        </p:spPr>
      </p:sp>
      <p:sp>
        <p:nvSpPr>
          <p:cNvPr id="6" name="Text 3"/>
          <p:cNvSpPr/>
          <p:nvPr/>
        </p:nvSpPr>
        <p:spPr>
          <a:xfrm>
            <a:off x="1042416" y="5440680"/>
            <a:ext cx="10106863" cy="594360"/>
          </a:xfrm>
          <a:prstGeom prst="rect">
            <a:avLst/>
          </a:prstGeom>
          <a:noFill/>
          <a:ln/>
        </p:spPr>
        <p:txBody>
          <a:bodyPr wrap="square" lIns="0" tIns="0" rIns="0" bIns="0" rtlCol="0" anchor="ctr"/>
          <a:lstStyle/>
          <a:p>
            <a:pPr indent="0" marL="0">
              <a:buNone/>
            </a:pPr>
            <a:r>
              <a:rPr lang="en-US" sz="1600" b="1" dirty="0">
                <a:solidFill>
                  <a:srgbClr val="F7F6F2"/>
                </a:solidFill>
                <a:latin typeface="Yu Gothic" pitchFamily="34" charset="0"/>
                <a:ea typeface="Yu Gothic" pitchFamily="34" charset="-122"/>
                <a:cs typeface="Yu Gothic" pitchFamily="34" charset="-120"/>
              </a:rPr>
              <a:t>ご意見をいただきたい点：本命の方向でよいか ／ ほかに検討すべき選択肢はあるか</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2026-09-24T00:29:30Z</dcterms:created>
  <dcterms:modified xsi:type="dcterms:W3CDTF">2026-09-24T00:29:30Z</dcterms:modified>
</cp:coreProperties>
</file>