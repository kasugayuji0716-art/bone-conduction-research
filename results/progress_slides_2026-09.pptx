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先に結論を言うと、卒論に必要な実験はほぼ揃っていて、論文も4ページの形になっています。ただ、途中で評価の方法に問題を見つけたので、数字を全部計算し直しました。その話も正直にします。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それから、評価の途中で問題を見つけました。TAPSの正解テキストには句読点がないのですが、Whisperは普通、文末に句点を付けます。ASR損失で学習すると、SEはWhisperが句読点を出さなくなるような音を作るようになっていました。評価で句読点をそろえていなかったので、その分が改善として数えられていました。句読点をそろえて計算し直すと改善は小さくなりますが、それでも残ります。
（4行目）最後に、STOIやPESQといった音の品質の指標は、むしろ下がっていました。つまり、気導マイクらしい自然な音に近づけているのではなく、Whisperが読みやすい別の音を作っている、ということです。
（補足：聞かれたら）句読点をそろえたCERで、Whisper-smallはTAPSのSEの0.230から0.196、15%の改善です。改善幅のうち約3分の1が句読点によるものでした。XLS-Rは約26%悪化しています。
（目安：1分30秒）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句読点による見かけの改善を定量化したこと、そして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喉マイクへの適用と、句読点による見かけの改善の定量化、それに出力に現れる250Hz間隔の人工的な成分の分析が新しい部分です。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もあります。今回、比較手法として、気導マイクの音の表現に近づける損失でも学習しました。こちらは改善は小さかったのですが、Whisper以外のASRでも悪化しませんでした。汎用性を保てるのは、特定のASRの出力に合わせる方向ではなく、音声の表現そのものに近づける方向だと考えています。実際、WavLMのような自己教師あり学習モデルの表現を損失に使うと、学習に使っていないASRでも改善したという報告があります。
（評価の枠組み）評価については、学習に使っていない系列のASRで評価する、句読点をそろえる、といった枠組みを卒論で作ったので、それがそのまま使えます。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（2行目）2つ目は、実際の騒音環境で評価することです。喉マイクの本来の強みは騒音に強いことなので、それを活かせます。ただ、データを自分で収録する必要がありますし、競合する研究もあります。
（3行目）3つ目は、入力側での適応とファインチューニングを比べて、なぜ効くのかを分析する方向です。分析としては面白いのですが、手法の提案にはなりません。
以上です。卒論は分析としてまとめ、この先は本命の方向に切り替えたいと考えています。こ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18872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どのASRにも前処理としてつなげる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33756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370332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Shape 8"/>
          <p:cNvSpPr/>
          <p:nvPr/>
        </p:nvSpPr>
        <p:spPr>
          <a:xfrm>
            <a:off x="7196328" y="3429000"/>
            <a:ext cx="3879799" cy="1005840"/>
          </a:xfrm>
          <a:prstGeom prst="roundRect">
            <a:avLst>
              <a:gd name="adj" fmla="val 7273"/>
            </a:avLst>
          </a:prstGeom>
          <a:solidFill>
            <a:srgbClr val="EEF1F4"/>
          </a:solidFill>
          <a:ln w="12700">
            <a:solidFill>
              <a:srgbClr val="EEF1F4"/>
            </a:solidFill>
            <a:prstDash val="solid"/>
          </a:ln>
        </p:spPr>
      </p:sp>
      <p:sp>
        <p:nvSpPr>
          <p:cNvPr id="11" name="Text 9"/>
          <p:cNvSpPr/>
          <p:nvPr/>
        </p:nvSpPr>
        <p:spPr>
          <a:xfrm>
            <a:off x="7351776" y="3520440"/>
            <a:ext cx="3568903" cy="822960"/>
          </a:xfrm>
          <a:prstGeom prst="rect">
            <a:avLst/>
          </a:prstGeom>
          <a:noFill/>
          <a:ln/>
        </p:spPr>
        <p:txBody>
          <a:bodyPr wrap="square" lIns="0" tIns="0" rIns="0" bIns="0" rtlCol="0" anchor="ctr"/>
          <a:lstStyle/>
          <a:p>
            <a:pPr indent="0" marL="0">
              <a:buNone/>
            </a:pPr>
            <a:r>
              <a:rPr lang="en-US" sz="1500" dirty="0">
                <a:solidFill>
                  <a:srgbClr val="1F2A37"/>
                </a:solidFill>
                <a:latin typeface="Yu Gothic" pitchFamily="34" charset="0"/>
                <a:ea typeface="Yu Gothic" pitchFamily="34" charset="-122"/>
                <a:cs typeface="Yu Gothic" pitchFamily="34" charset="-120"/>
              </a:rPr>
              <a:t>L = 再構成損失 + λ × CE(Whisper(SE出力), 正解)</a:t>
            </a:r>
            <a:endParaRPr lang="en-US" sz="1500" dirty="0"/>
          </a:p>
        </p:txBody>
      </p:sp>
      <p:sp>
        <p:nvSpPr>
          <p:cNvPr id="12" name="Text 10"/>
          <p:cNvSpPr/>
          <p:nvPr/>
        </p:nvSpPr>
        <p:spPr>
          <a:xfrm>
            <a:off x="7196328" y="4663440"/>
            <a:ext cx="3879799" cy="5486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データ：韓国語TAPS（喉マイク／気導マイクの同時収録）</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Shape 1"/>
          <p:cNvSpPr/>
          <p:nvPr/>
        </p:nvSpPr>
        <p:spPr>
          <a:xfrm>
            <a:off x="813816" y="1600200"/>
            <a:ext cx="10564063" cy="0"/>
          </a:xfrm>
          <a:prstGeom prst="line">
            <a:avLst/>
          </a:prstGeom>
          <a:noFill/>
          <a:ln w="12700">
            <a:solidFill>
              <a:srgbClr val="D8D3C8"/>
            </a:solidFill>
            <a:prstDash val="solid"/>
          </a:ln>
        </p:spPr>
      </p:sp>
      <p:sp>
        <p:nvSpPr>
          <p:cNvPr id="4" name="Text 2"/>
          <p:cNvSpPr/>
          <p:nvPr/>
        </p:nvSpPr>
        <p:spPr>
          <a:xfrm>
            <a:off x="813816" y="1709928"/>
            <a:ext cx="2743200" cy="804672"/>
          </a:xfrm>
          <a:prstGeom prst="rect">
            <a:avLst/>
          </a:prstGeom>
          <a:noFill/>
          <a:ln/>
        </p:spPr>
        <p:txBody>
          <a:bodyPr wrap="square" lIns="0" tIns="0" rIns="0" bIns="0" rtlCol="0" anchor="ctr"/>
          <a:lstStyle/>
          <a:p>
            <a:pPr indent="0" marL="0">
              <a:buNone/>
            </a:pPr>
            <a:r>
              <a:rPr lang="en-US" sz="1700" b="1" dirty="0">
                <a:solidFill>
                  <a:srgbClr val="2F6FB0"/>
                </a:solidFill>
                <a:latin typeface="Yu Gothic" pitchFamily="34" charset="0"/>
                <a:ea typeface="Yu Gothic" pitchFamily="34" charset="-122"/>
                <a:cs typeface="Yu Gothic" pitchFamily="34" charset="-120"/>
              </a:rPr>
              <a:t>学習に使ったWhisper</a:t>
            </a:r>
            <a:endParaRPr lang="en-US" sz="1700" dirty="0"/>
          </a:p>
        </p:txBody>
      </p:sp>
      <p:sp>
        <p:nvSpPr>
          <p:cNvPr id="5" name="Text 3"/>
          <p:cNvSpPr/>
          <p:nvPr/>
        </p:nvSpPr>
        <p:spPr>
          <a:xfrm>
            <a:off x="3739896" y="1709928"/>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CERは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改善する</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700" dirty="0"/>
          </a:p>
        </p:txBody>
      </p:sp>
      <p:sp>
        <p:nvSpPr>
          <p:cNvPr id="6" name="Shape 4"/>
          <p:cNvSpPr/>
          <p:nvPr/>
        </p:nvSpPr>
        <p:spPr>
          <a:xfrm>
            <a:off x="813816" y="2624328"/>
            <a:ext cx="10564063" cy="0"/>
          </a:xfrm>
          <a:prstGeom prst="line">
            <a:avLst/>
          </a:prstGeom>
          <a:noFill/>
          <a:ln w="12700">
            <a:solidFill>
              <a:srgbClr val="D8D3C8"/>
            </a:solidFill>
            <a:prstDash val="solid"/>
          </a:ln>
        </p:spPr>
      </p:sp>
      <p:sp>
        <p:nvSpPr>
          <p:cNvPr id="7" name="Text 5"/>
          <p:cNvSpPr/>
          <p:nvPr/>
        </p:nvSpPr>
        <p:spPr>
          <a:xfrm>
            <a:off x="813816" y="2734056"/>
            <a:ext cx="2743200" cy="804672"/>
          </a:xfrm>
          <a:prstGeom prst="rect">
            <a:avLst/>
          </a:prstGeom>
          <a:noFill/>
          <a:ln/>
        </p:spPr>
        <p:txBody>
          <a:bodyPr wrap="square" lIns="0" tIns="0" rIns="0" bIns="0" rtlCol="0" anchor="ctr"/>
          <a:lstStyle/>
          <a:p>
            <a:pPr indent="0" marL="0">
              <a:buNone/>
            </a:pPr>
            <a:r>
              <a:rPr lang="en-US" sz="1700" b="1" dirty="0">
                <a:solidFill>
                  <a:srgbClr val="B45F1E"/>
                </a:solidFill>
                <a:latin typeface="Yu Gothic" pitchFamily="34" charset="0"/>
                <a:ea typeface="Yu Gothic" pitchFamily="34" charset="-122"/>
                <a:cs typeface="Yu Gothic" pitchFamily="34" charset="-120"/>
              </a:rPr>
              <a:t>Whisper以外のASR</a:t>
            </a:r>
            <a:endParaRPr lang="en-US" sz="1700" dirty="0"/>
          </a:p>
        </p:txBody>
      </p:sp>
      <p:sp>
        <p:nvSpPr>
          <p:cNvPr id="8" name="Text 6"/>
          <p:cNvSpPr/>
          <p:nvPr/>
        </p:nvSpPr>
        <p:spPr>
          <a:xfrm>
            <a:off x="3739896" y="2734056"/>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wav2vec2系では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改善しない</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700" dirty="0"/>
          </a:p>
        </p:txBody>
      </p:sp>
      <p:sp>
        <p:nvSpPr>
          <p:cNvPr id="9" name="Shape 7"/>
          <p:cNvSpPr/>
          <p:nvPr/>
        </p:nvSpPr>
        <p:spPr>
          <a:xfrm>
            <a:off x="813816" y="3648456"/>
            <a:ext cx="10564063" cy="0"/>
          </a:xfrm>
          <a:prstGeom prst="line">
            <a:avLst/>
          </a:prstGeom>
          <a:noFill/>
          <a:ln w="12700">
            <a:solidFill>
              <a:srgbClr val="D8D3C8"/>
            </a:solidFill>
            <a:prstDash val="solid"/>
          </a:ln>
        </p:spPr>
      </p:sp>
      <p:sp>
        <p:nvSpPr>
          <p:cNvPr id="10" name="Text 8"/>
          <p:cNvSpPr/>
          <p:nvPr/>
        </p:nvSpPr>
        <p:spPr>
          <a:xfrm>
            <a:off x="813816" y="3758184"/>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改善の中身</a:t>
            </a:r>
            <a:endParaRPr lang="en-US" sz="1700" dirty="0"/>
          </a:p>
        </p:txBody>
      </p:sp>
      <p:sp>
        <p:nvSpPr>
          <p:cNvPr id="11" name="Text 9"/>
          <p:cNvSpPr/>
          <p:nvPr/>
        </p:nvSpPr>
        <p:spPr>
          <a:xfrm>
            <a:off x="3739896" y="3758184"/>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一部は、Whisperが</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句読点を出さなくなった</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だけ（正解テキストに句読点がないため）。評価をそろえると改善は小さくなるが、残る</a:t>
            </a:r>
            <a:endParaRPr lang="en-US" sz="1700" dirty="0"/>
          </a:p>
        </p:txBody>
      </p:sp>
      <p:sp>
        <p:nvSpPr>
          <p:cNvPr id="12" name="Shape 10"/>
          <p:cNvSpPr/>
          <p:nvPr/>
        </p:nvSpPr>
        <p:spPr>
          <a:xfrm>
            <a:off x="813816" y="4672584"/>
            <a:ext cx="10564063" cy="0"/>
          </a:xfrm>
          <a:prstGeom prst="line">
            <a:avLst/>
          </a:prstGeom>
          <a:noFill/>
          <a:ln w="12700">
            <a:solidFill>
              <a:srgbClr val="D8D3C8"/>
            </a:solidFill>
            <a:prstDash val="solid"/>
          </a:ln>
        </p:spPr>
      </p:sp>
      <p:sp>
        <p:nvSpPr>
          <p:cNvPr id="13" name="Text 11"/>
          <p:cNvSpPr/>
          <p:nvPr/>
        </p:nvSpPr>
        <p:spPr>
          <a:xfrm>
            <a:off x="813816" y="4782312"/>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知覚品質</a:t>
            </a:r>
            <a:endParaRPr lang="en-US" sz="1700" dirty="0"/>
          </a:p>
        </p:txBody>
      </p:sp>
      <p:sp>
        <p:nvSpPr>
          <p:cNvPr id="14" name="Text 12"/>
          <p:cNvSpPr/>
          <p:nvPr/>
        </p:nvSpPr>
        <p:spPr>
          <a:xfrm>
            <a:off x="3739896" y="4782312"/>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STOI・PESQは下がる。気導音声らしい音ではなく、</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Whisperが読みやすい音</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を作っている</a:t>
            </a:r>
            <a:endParaRPr lang="en-US" sz="1700" dirty="0"/>
          </a:p>
        </p:txBody>
      </p:sp>
      <p:sp>
        <p:nvSpPr>
          <p:cNvPr id="15" name="Shape 13"/>
          <p:cNvSpPr/>
          <p:nvPr/>
        </p:nvSpPr>
        <p:spPr>
          <a:xfrm>
            <a:off x="813816" y="5696712"/>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新しいのは</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、帯域が欠けた喉マイクでの確認、句読点による見かけの改善の定量化、250 Hz間隔の人工成分の分析</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気導音声の表現に近づける損失（Enc L1）は、Whisper以外でも悪化しなかった。汎用性を保てるのは「特定のASRの出力」ではなく</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「音声の表現」に近づける</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方向（自己教師あり表現を損失に使う研究もある）</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学習に使っていない系列のASRで評価する、句読点をそろえる。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実際の雑音環境で評価</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入力側の適応とFTの比較（なぜ効くか）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2026-09-24T00:18:41Z</dcterms:created>
  <dcterms:modified xsi:type="dcterms:W3CDTF">2026-09-24T00:18:41Z</dcterms:modified>
</cp:coreProperties>
</file>