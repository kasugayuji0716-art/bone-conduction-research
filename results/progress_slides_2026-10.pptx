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誤りが減った</c:v>
                </c:pt>
              </c:strCache>
            </c:strRef>
          </c:tx>
          <c:spPr>
            <a:solidFill>
              <a:srgbClr val="2E75B6"/>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Sheet1!$B$2:$B$5</c:f>
              <c:numCache>
                <c:formatCode>General</c:formatCode>
                <c:ptCount val="4"/>
                <c:pt idx="0">
                  <c:v>-15</c:v>
                </c:pt>
                <c:pt idx="1">
                  <c:v>-16</c:v>
                </c:pt>
                <c:pt idx="2">
                  <c:v>0</c:v>
                </c:pt>
                <c:pt idx="3">
                  <c:v>0</c:v>
                </c:pt>
              </c:numCache>
            </c:numRef>
          </c:val>
        </c:ser>
        <c:ser>
          <c:idx val="1"/>
          <c:order val="1"/>
          <c:tx>
            <c:strRef>
              <c:f>Sheet1!$C$1</c:f>
              <c:strCache>
                <c:ptCount val="1"/>
                <c:pt idx="0">
                  <c:v>誤りが増えた</c:v>
                </c:pt>
              </c:strCache>
            </c:strRef>
          </c:tx>
          <c:spPr>
            <a:solidFill>
              <a:srgbClr val="C55A11"/>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Sheet1!$C$2:$C$5</c:f>
              <c:numCache>
                <c:formatCode>General</c:formatCode>
                <c:ptCount val="4"/>
                <c:pt idx="0">
                  <c:v>0</c:v>
                </c:pt>
                <c:pt idx="1">
                  <c:v>0</c:v>
                </c:pt>
                <c:pt idx="2">
                  <c:v>26</c:v>
                </c:pt>
                <c:pt idx="3">
                  <c:v>46</c:v>
                </c:pt>
              </c:numCache>
            </c:numRef>
          </c:val>
        </c:ser>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55"/>
          <c:min val="-2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【台本】（約10秒）
進捗を報告します。今日は、予備実験の結果と課題、これからの方針を中心に話します。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【台本】（約50秒）
喉マイクは騒音に強い一方、こもった音になるので、音声認識の誤りが多くなります。そこで、認識の前に音を直す「音声強調」を研究しています。
卒論では、Whisperが正しく書き起こせるように音声強調を学習しました。Whisperや、Whisperと同じ入力を使う認識器では誤りが15%ほど減りましたが、入力の作りが違う認識器では、逆に26〜46%増えました。
そこで目標を、クラウドのような作り直せない認識器にも使える、どの音声認識でも誤りが減る前処理にしました。
【補足】数値は CE-SE（λ=10）の TAPS SE-Conformer 比（test、句読点除去CER）。MMS はほぼ±0。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【台本】（約50秒）
そこで、音声認識を一切使わない方法として、生成モデルを使いました。
（左）NVIDIAが公開している、大量の音声で事前学習されたモデルです。音の一部を隠して描き直す練習をしていて、自然な声がどういう形かを知っています。
（中央）これを、TAPSの同時録音4,000組で、喉マイクの音から普通のマイクの音を描くように追加学習しました。
（右）使うときは、ランダムな状態から出発して、喉マイクの音を手がかりに20段階で少しずつ描き直します。
音声認識を使わないので特定の認識器に合わせ込まず、喉マイクで欠けている高い音や子音も、事前学習で覚えた自然な声から補えるのが狙いです。
【補足】画像生成AIと同じ仕組み（flow matching）。ランダムな出発点を変えると毎回少し違う音になる。学習の損失は生成モデル本来のもの（ASR損失なし）。fp32、2万ステップ、約8.5時間。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結果です。（図を指して）これは9つの音声認識の文字の誤り率で、灰色が元の音声強調、紺色が生成モデルです。すべての認識器で誤りが15〜24%減り、テストの10人全員で改善しました。入力の違う認識器でも減っていて、Whisper系でも、卒論のWhisperに合わせた音声強調より良い結果です。ただし、この結果はテストデータで1回生成した分だけで、再現性は確認中です。
【想定質問】
Q. 作り話（ありもしない内容）をしていないか？
A. Whisper-smallで確認した範囲では、崩れた発話は0、出力の長さも変わらず、置き換え・挿入の誤りはむしろ減っている。
Q. Qwen3＋生成モデル（10.4%）は、学習し直したWhisper（SEなし13.8%）より良いのでは？
A. Qwen3は元の音声強調でも13.6%で、差の大半は認識器の強さ。公平に言えるのは「学習し直したWhisper自身も13.8→11.0%に下がる」こと。
Q. 元の音声強調とは？
A. TAPSデータセットの論文で公開されている SE-Conformer（1200万パラメータ）。
Q. ほかの方法は？
A. 複数の認識器の損失で学習 → 学習外の Zipformer で悪化。Sato ら型（WavLM 表現の損失）→ 開発データの4認識器で −7〜−13%（同じ条件での比較はこれから）。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【台本】（約50秒）
課題は4つです。
①なぜ効いたのかが、まだ分かっていません。大量の音声での事前学習が効いたのか、単にモデルが大きいからなのかを切り分ける必要があります。
②結果が確かかどうか。今の結果はテストデータで1回生成しただけなので、開発データや生成し直した場合でも同じになるか、先行研究の方法と同じ条件で比べる必要があります。
③他のデータでも効くか。今は韓国語のTAPSという1つのデータセットでしか確かめていません。
④一番大きいのがこれで、今は公開されているモデルを調整しただけなので、手法としての新しさがありません。
【補足】生成モデル：4.3億パラメータ、非商用ライセンス（CC-BY-NC-SA）。元の音声強調は1200万パラメータ。1発話の変換に20段階の計算。事前学習なしの対照実験は研究室PCの停止で中断中。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【台本】（約55秒）
これからの方針です。
まず、課題①②の確認として、事前学習なしの同じモデルと比べ、生成し直しや開発データ、別のデータセットでも同じ結果になるかを確かめます。
そのうえで中心にしたいのが、認識に向いた生成のさせ方です。今は、砂嵐のようなランダムな状態から1回だけ描き直していて、描くたびに少しずつ違う音になります。誤りが増えた発話も、音の取り違えでした。そこで、何回か生成して平均したり、互いに一番似た候補を選んだり、砂嵐ではなく元の音声強調の出力から描き始めたりして、内容を取り違えにくくします。どれも今のモデルのまま、認識器を使わずに試せます。
最後に、見つけた出し方の出力を正解にして、軽い音声強調へ蒸留し、実用的な速さにしたいと考えています。以上です。
【補足】互いに一番似た候補を選ぶ＝最小ベイズリスク選択（類似度は認識器に依存しない音声特徴で測る）。蒸留の正解は、生成モデルが学習で見ていない喉マイク音声（VibraVox のラベルなし約9時間）で作る（以前、学習データの丸暗記で蒸留が失敗したため）。VibraVox は結果の確認に使うだけで、マイクへの適応はしない。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ここまでに試した方法をまとめます。普通のマイク向けの音声強調をそのまま使うと誤りが増え、Whisperに合わせて学習するとWhisper系だけ、複数の認識器に合わせても、学習に使っていない認識器ではやはり悪化しました。
認識器に頼らない方法として、4つの音声強調の出力を平均する方法と、先行研究の方法は、どの認識器でも改善しましたが、改善は小さめでした。
その中で、生成モデルを調整した方法だけが、全部の認識器で大きく改善しました。次で詳しく見ます。
【補足】4つの平均：TAPS SE-Conformer・Demucs・TSTNN・再構成のみで再学習したSEの振幅を平均（推論は約1秒/発話と重い）。複数の認識器に合わせる：Whisper の損失＋XLS-R の損失で学習し、Zipformer で +9〜15%。Sato ら型：WavLM の内部表現を普通のマイクの音に近づける損失。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関連研究です。一番近いのは、今回の音響学会で東大の山中さんたちが発表した研究で、同じTAPSのデータを使っています。声質変換などで喉マイクの音を普通のマイクの音に近づけていて、聞こえは良くなりますが、音声認識の誤りはどの方法でも増えていました。一方、向こうは別の喉マイクや日本語でも確かめていて、同時録音のデータも要りません。ここは私に足りない点です。
喉マイクで、入力の違う複数の音声認識で誤りが減るかを確かめた例は、調べた範囲では見当たりません。
【補足】山中ら：無処理0.233、Sidon 0.308、Kanade(ft) 0.550。和田ら（神戸大・三菱電機）：喉マイクの感情認識でも汎用の雑音除去で悪化。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011680"/>
            <a:ext cx="11094415" cy="1737360"/>
          </a:xfrm>
          <a:prstGeom prst="rect">
            <a:avLst/>
          </a:prstGeom>
          <a:noFill/>
          <a:ln/>
        </p:spPr>
        <p:txBody>
          <a:bodyPr wrap="square" lIns="0" tIns="0" rIns="0" bIns="0" rtlCol="0" anchor="t"/>
          <a:lstStyle/>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喉マイクの音声を</a:t>
            </a:r>
            <a:endParaRPr lang="en-US" sz="3800" dirty="0"/>
          </a:p>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「どの音声認識でも読める音」に直す</a:t>
            </a:r>
            <a:endParaRPr lang="en-US" sz="3800" dirty="0"/>
          </a:p>
        </p:txBody>
      </p:sp>
      <p:sp>
        <p:nvSpPr>
          <p:cNvPr id="3" name="Text 1"/>
          <p:cNvSpPr/>
          <p:nvPr/>
        </p:nvSpPr>
        <p:spPr>
          <a:xfrm>
            <a:off x="548640" y="3886200"/>
            <a:ext cx="11094415" cy="457200"/>
          </a:xfrm>
          <a:prstGeom prst="rect">
            <a:avLst/>
          </a:prstGeom>
          <a:noFill/>
          <a:ln/>
        </p:spPr>
        <p:txBody>
          <a:bodyPr wrap="square" lIns="0" tIns="0" rIns="0" bIns="0" rtlCol="0" anchor="t"/>
          <a:lstStyle/>
          <a:p>
            <a:pPr indent="0" marL="0">
              <a:buNone/>
            </a:pPr>
            <a:r>
              <a:rPr lang="en-US" sz="2000" dirty="0">
                <a:solidFill>
                  <a:srgbClr val="2D2D2D"/>
                </a:solidFill>
                <a:latin typeface="Yu Gothic" pitchFamily="34" charset="0"/>
                <a:ea typeface="Yu Gothic" pitchFamily="34" charset="-122"/>
                <a:cs typeface="Yu Gothic" pitchFamily="34" charset="-120"/>
              </a:rPr>
              <a:t>生成モデルの予備実験・課題・今後の方針</a:t>
            </a:r>
            <a:endParaRPr lang="en-US" sz="2000" dirty="0"/>
          </a:p>
        </p:txBody>
      </p:sp>
      <p:sp>
        <p:nvSpPr>
          <p:cNvPr id="4" name="Text 2"/>
          <p:cNvSpPr/>
          <p:nvPr/>
        </p:nvSpPr>
        <p:spPr>
          <a:xfrm>
            <a:off x="548640" y="4572000"/>
            <a:ext cx="11094415" cy="365760"/>
          </a:xfrm>
          <a:prstGeom prst="rect">
            <a:avLst/>
          </a:prstGeom>
          <a:noFill/>
          <a:ln/>
        </p:spPr>
        <p:txBody>
          <a:bodyPr wrap="square" lIns="0" tIns="0" rIns="0" bIns="0" rtlCol="0" anchor="t"/>
          <a:lstStyle/>
          <a:p>
            <a:pPr indent="0" marL="0">
              <a:buNone/>
            </a:pPr>
            <a:r>
              <a:rPr lang="en-US" sz="1600" dirty="0">
                <a:solidFill>
                  <a:srgbClr val="777777"/>
                </a:solidFill>
                <a:latin typeface="Yu Gothic" pitchFamily="34" charset="0"/>
                <a:ea typeface="Yu Gothic" pitchFamily="34" charset="-122"/>
                <a:cs typeface="Yu Gothic" pitchFamily="34" charset="-120"/>
              </a:rPr>
              <a:t>春日 裕次　ゼミ進捗報告　2026年10月1日</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Whisperに合わせた音声強調は、入力の違う認識器では逆効果だった</a:t>
            </a:r>
            <a:endParaRPr lang="en-US" sz="2800" dirty="0"/>
          </a:p>
        </p:txBody>
      </p:sp>
      <p:graphicFrame>
        <p:nvGraphicFramePr>
          <p:cNvPr id="3" name="Chart 0" descr=""/>
          <p:cNvGraphicFramePr/>
          <p:nvPr/>
        </p:nvGraphicFramePr>
        <p:xfrm>
          <a:off x="548640" y="146304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48640" y="5715000"/>
            <a:ext cx="6400800" cy="32004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文字誤り率の相対的な増減（元の音声強調と比べて）</a:t>
            </a:r>
            <a:endParaRPr lang="en-US" sz="1400" dirty="0"/>
          </a:p>
        </p:txBody>
      </p:sp>
      <p:sp>
        <p:nvSpPr>
          <p:cNvPr id="5" name="Text 2"/>
          <p:cNvSpPr/>
          <p:nvPr/>
        </p:nvSpPr>
        <p:spPr>
          <a:xfrm>
            <a:off x="7315200" y="1645920"/>
            <a:ext cx="4327855" cy="402336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Whisperと</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同じ入力</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（音の特徴の作り方）の認識器では誤りが減る</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入力が違う認識器（波形をそのまま入れる等）では</a:t>
            </a:r>
            <a:pPr indent="0" marL="0">
              <a:lnSpc>
                <a:spcPct val="120000"/>
              </a:lnSpc>
              <a:spcAft>
                <a:spcPts val="1800"/>
              </a:spcAft>
              <a:buNone/>
            </a:pPr>
            <a:r>
              <a:rPr lang="en-US" sz="2000" b="1" dirty="0">
                <a:solidFill>
                  <a:srgbClr val="C55A11"/>
                </a:solidFill>
                <a:latin typeface="Yu Gothic" pitchFamily="34" charset="0"/>
                <a:ea typeface="Yu Gothic" pitchFamily="34" charset="-122"/>
                <a:cs typeface="Yu Gothic" pitchFamily="34" charset="-120"/>
              </a:rPr>
              <a:t>誤りが増える</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目標：</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どの音声認識でも誤りが減る前処理</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（クラウドなど作り直せない認識器にも使える）</a:t>
            </a:r>
            <a:endParaRPr lang="en-US" sz="2000" dirty="0"/>
          </a:p>
        </p:txBody>
      </p:sp>
      <p:sp>
        <p:nvSpPr>
          <p:cNvPr id="6" name="Text 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データ: TAPS（喉マイクと普通のマイクの同時録音、韓国語）。元の音声強調 = TAPS 公開の SE-Conformer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そこで、音声認識を使わず、生成モデルで音そのものを作り直す</a:t>
            </a:r>
            <a:endParaRPr lang="en-US" sz="2800" dirty="0"/>
          </a:p>
        </p:txBody>
      </p:sp>
      <p:sp>
        <p:nvSpPr>
          <p:cNvPr id="3" name="Shape 1"/>
          <p:cNvSpPr/>
          <p:nvPr/>
        </p:nvSpPr>
        <p:spPr>
          <a:xfrm>
            <a:off x="548640" y="1600200"/>
            <a:ext cx="3246120" cy="2011680"/>
          </a:xfrm>
          <a:prstGeom prst="rect">
            <a:avLst/>
          </a:prstGeom>
          <a:solidFill>
            <a:srgbClr val="FFFFFF"/>
          </a:solidFill>
          <a:ln w="12700">
            <a:solidFill>
              <a:srgbClr val="CCCCCC"/>
            </a:solidFill>
            <a:prstDash val="solid"/>
          </a:ln>
        </p:spPr>
      </p:sp>
      <p:sp>
        <p:nvSpPr>
          <p:cNvPr id="4" name="Text 2"/>
          <p:cNvSpPr/>
          <p:nvPr/>
        </p:nvSpPr>
        <p:spPr>
          <a:xfrm>
            <a:off x="73152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① 事前学習済みモデル</a:t>
            </a:r>
            <a:endParaRPr lang="en-US" sz="1800" dirty="0"/>
          </a:p>
        </p:txBody>
      </p:sp>
      <p:sp>
        <p:nvSpPr>
          <p:cNvPr id="5" name="Text 3"/>
          <p:cNvSpPr/>
          <p:nvPr/>
        </p:nvSpPr>
        <p:spPr>
          <a:xfrm>
            <a:off x="73152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NVIDIA 公開。大量の英語音声（約6万時間）で、隠した部分を描き直す練習をしたモデル</a:t>
            </a:r>
            <a:endParaRPr lang="en-US" sz="1600" dirty="0"/>
          </a:p>
        </p:txBody>
      </p:sp>
      <p:sp>
        <p:nvSpPr>
          <p:cNvPr id="6" name="Shape 4"/>
          <p:cNvSpPr/>
          <p:nvPr/>
        </p:nvSpPr>
        <p:spPr>
          <a:xfrm>
            <a:off x="3886200" y="2514600"/>
            <a:ext cx="274320" cy="292608"/>
          </a:xfrm>
          <a:prstGeom prst="rightArrow">
            <a:avLst/>
          </a:prstGeom>
          <a:solidFill>
            <a:srgbClr val="A6A6A6"/>
          </a:solidFill>
          <a:ln w="12700">
            <a:solidFill>
              <a:srgbClr val="A6A6A6"/>
            </a:solidFill>
            <a:prstDash val="solid"/>
          </a:ln>
        </p:spPr>
      </p:sp>
      <p:sp>
        <p:nvSpPr>
          <p:cNvPr id="7" name="Shape 5"/>
          <p:cNvSpPr/>
          <p:nvPr/>
        </p:nvSpPr>
        <p:spPr>
          <a:xfrm>
            <a:off x="4251960" y="1600200"/>
            <a:ext cx="3246120" cy="2011680"/>
          </a:xfrm>
          <a:prstGeom prst="rect">
            <a:avLst/>
          </a:prstGeom>
          <a:solidFill>
            <a:srgbClr val="FFFFFF"/>
          </a:solidFill>
          <a:ln w="25400">
            <a:solidFill>
              <a:srgbClr val="1F4E79"/>
            </a:solidFill>
            <a:prstDash val="solid"/>
          </a:ln>
        </p:spPr>
      </p:sp>
      <p:sp>
        <p:nvSpPr>
          <p:cNvPr id="8" name="Text 6"/>
          <p:cNvSpPr/>
          <p:nvPr/>
        </p:nvSpPr>
        <p:spPr>
          <a:xfrm>
            <a:off x="443484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② 喉マイク用に調整</a:t>
            </a:r>
            <a:endParaRPr lang="en-US" sz="1800" dirty="0"/>
          </a:p>
        </p:txBody>
      </p:sp>
      <p:sp>
        <p:nvSpPr>
          <p:cNvPr id="9" name="Text 7"/>
          <p:cNvSpPr/>
          <p:nvPr/>
        </p:nvSpPr>
        <p:spPr>
          <a:xfrm>
            <a:off x="443484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本研究。TAPS の同時録音 4,000組で、喉マイクの音から普通のマイクの音を描くよう追加学習</a:t>
            </a:r>
            <a:endParaRPr lang="en-US" sz="1600" dirty="0"/>
          </a:p>
        </p:txBody>
      </p:sp>
      <p:sp>
        <p:nvSpPr>
          <p:cNvPr id="10" name="Shape 8"/>
          <p:cNvSpPr/>
          <p:nvPr/>
        </p:nvSpPr>
        <p:spPr>
          <a:xfrm>
            <a:off x="7589520" y="2514600"/>
            <a:ext cx="274320" cy="292608"/>
          </a:xfrm>
          <a:prstGeom prst="rightArrow">
            <a:avLst/>
          </a:prstGeom>
          <a:solidFill>
            <a:srgbClr val="A6A6A6"/>
          </a:solidFill>
          <a:ln w="12700">
            <a:solidFill>
              <a:srgbClr val="A6A6A6"/>
            </a:solidFill>
            <a:prstDash val="solid"/>
          </a:ln>
        </p:spPr>
      </p:sp>
      <p:sp>
        <p:nvSpPr>
          <p:cNvPr id="11" name="Shape 9"/>
          <p:cNvSpPr/>
          <p:nvPr/>
        </p:nvSpPr>
        <p:spPr>
          <a:xfrm>
            <a:off x="7955280" y="1600200"/>
            <a:ext cx="3246120" cy="2011680"/>
          </a:xfrm>
          <a:prstGeom prst="rect">
            <a:avLst/>
          </a:prstGeom>
          <a:solidFill>
            <a:srgbClr val="FFFFFF"/>
          </a:solidFill>
          <a:ln w="12700">
            <a:solidFill>
              <a:srgbClr val="CCCCCC"/>
            </a:solidFill>
            <a:prstDash val="solid"/>
          </a:ln>
        </p:spPr>
      </p:sp>
      <p:sp>
        <p:nvSpPr>
          <p:cNvPr id="12" name="Text 10"/>
          <p:cNvSpPr/>
          <p:nvPr/>
        </p:nvSpPr>
        <p:spPr>
          <a:xfrm>
            <a:off x="813816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③ 使うとき</a:t>
            </a:r>
            <a:endParaRPr lang="en-US" sz="1800" dirty="0"/>
          </a:p>
        </p:txBody>
      </p:sp>
      <p:sp>
        <p:nvSpPr>
          <p:cNvPr id="13" name="Text 11"/>
          <p:cNvSpPr/>
          <p:nvPr/>
        </p:nvSpPr>
        <p:spPr>
          <a:xfrm>
            <a:off x="813816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ランダムな状態から、喉マイクの音を手がかりに20段階で描き直す → 各認識器へ</a:t>
            </a:r>
            <a:endParaRPr lang="en-US" sz="1600" dirty="0"/>
          </a:p>
        </p:txBody>
      </p:sp>
      <p:sp>
        <p:nvSpPr>
          <p:cNvPr id="14" name="Text 12"/>
          <p:cNvSpPr/>
          <p:nvPr/>
        </p:nvSpPr>
        <p:spPr>
          <a:xfrm>
            <a:off x="548640" y="4160520"/>
            <a:ext cx="11094415" cy="1280160"/>
          </a:xfrm>
          <a:prstGeom prst="rect">
            <a:avLst/>
          </a:prstGeom>
          <a:noFill/>
          <a:ln/>
        </p:spPr>
        <p:txBody>
          <a:bodyPr wrap="square" lIns="0" tIns="0" rIns="0" bIns="0" rtlCol="0" anchor="t"/>
          <a:lstStyle/>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音声認識を学習に一切使わない</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 → 特定の認識器に合わせ込まない</a:t>
            </a:r>
            <a:endParaRPr lang="en-US" sz="2000" dirty="0"/>
          </a:p>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欠けた高い音や子音</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も、事前学習で覚えた「自然な声」から補える</a:t>
            </a:r>
            <a:endParaRPr lang="en-US" sz="2000" dirty="0"/>
          </a:p>
        </p:txBody>
      </p:sp>
      <p:sp>
        <p:nvSpPr>
          <p:cNvPr id="15" name="Text 1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生成モデル: NVIDIA NeMo flow matching（4.3億パラメータ、Ku et al., arXiv:2409.16117）。元の音声強調は1200万パラメータ</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生成モデルの調整で、9つの音声認識すべての誤りが減った</a:t>
            </a:r>
            <a:endParaRPr lang="en-US" sz="2800" dirty="0"/>
          </a:p>
        </p:txBody>
      </p:sp>
      <p:sp>
        <p:nvSpPr>
          <p:cNvPr id="3" name="Shape 1"/>
          <p:cNvSpPr/>
          <p:nvPr/>
        </p:nvSpPr>
        <p:spPr>
          <a:xfrm>
            <a:off x="3429000" y="1691640"/>
            <a:ext cx="0" cy="3831336"/>
          </a:xfrm>
          <a:prstGeom prst="line">
            <a:avLst/>
          </a:prstGeom>
          <a:noFill/>
          <a:ln w="12700">
            <a:solidFill>
              <a:srgbClr val="E6E6E6"/>
            </a:solidFill>
            <a:prstDash val="solid"/>
          </a:ln>
        </p:spPr>
      </p:sp>
      <p:sp>
        <p:nvSpPr>
          <p:cNvPr id="4" name="Text 2"/>
          <p:cNvSpPr/>
          <p:nvPr/>
        </p:nvSpPr>
        <p:spPr>
          <a:xfrm>
            <a:off x="310896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0%</a:t>
            </a:r>
            <a:endParaRPr lang="en-US" sz="1400" dirty="0"/>
          </a:p>
        </p:txBody>
      </p:sp>
      <p:sp>
        <p:nvSpPr>
          <p:cNvPr id="5" name="Shape 3"/>
          <p:cNvSpPr/>
          <p:nvPr/>
        </p:nvSpPr>
        <p:spPr>
          <a:xfrm>
            <a:off x="4770120" y="1691640"/>
            <a:ext cx="0" cy="3831336"/>
          </a:xfrm>
          <a:prstGeom prst="line">
            <a:avLst/>
          </a:prstGeom>
          <a:noFill/>
          <a:ln w="12700">
            <a:solidFill>
              <a:srgbClr val="E6E6E6"/>
            </a:solidFill>
            <a:prstDash val="solid"/>
          </a:ln>
        </p:spPr>
      </p:sp>
      <p:sp>
        <p:nvSpPr>
          <p:cNvPr id="6" name="Text 4"/>
          <p:cNvSpPr/>
          <p:nvPr/>
        </p:nvSpPr>
        <p:spPr>
          <a:xfrm>
            <a:off x="445008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20%</a:t>
            </a:r>
            <a:endParaRPr lang="en-US" sz="1400" dirty="0"/>
          </a:p>
        </p:txBody>
      </p:sp>
      <p:sp>
        <p:nvSpPr>
          <p:cNvPr id="7" name="Shape 5"/>
          <p:cNvSpPr/>
          <p:nvPr/>
        </p:nvSpPr>
        <p:spPr>
          <a:xfrm>
            <a:off x="6111240" y="1691640"/>
            <a:ext cx="0" cy="3831336"/>
          </a:xfrm>
          <a:prstGeom prst="line">
            <a:avLst/>
          </a:prstGeom>
          <a:noFill/>
          <a:ln w="12700">
            <a:solidFill>
              <a:srgbClr val="E6E6E6"/>
            </a:solidFill>
            <a:prstDash val="solid"/>
          </a:ln>
        </p:spPr>
      </p:sp>
      <p:sp>
        <p:nvSpPr>
          <p:cNvPr id="8" name="Text 6"/>
          <p:cNvSpPr/>
          <p:nvPr/>
        </p:nvSpPr>
        <p:spPr>
          <a:xfrm>
            <a:off x="579120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40%</a:t>
            </a:r>
            <a:endParaRPr lang="en-US" sz="1400" dirty="0"/>
          </a:p>
        </p:txBody>
      </p:sp>
      <p:sp>
        <p:nvSpPr>
          <p:cNvPr id="9" name="Shape 7"/>
          <p:cNvSpPr/>
          <p:nvPr/>
        </p:nvSpPr>
        <p:spPr>
          <a:xfrm>
            <a:off x="7452360" y="1691640"/>
            <a:ext cx="0" cy="3831336"/>
          </a:xfrm>
          <a:prstGeom prst="line">
            <a:avLst/>
          </a:prstGeom>
          <a:noFill/>
          <a:ln w="12700">
            <a:solidFill>
              <a:srgbClr val="E6E6E6"/>
            </a:solidFill>
            <a:prstDash val="solid"/>
          </a:ln>
        </p:spPr>
      </p:sp>
      <p:sp>
        <p:nvSpPr>
          <p:cNvPr id="10" name="Text 8"/>
          <p:cNvSpPr/>
          <p:nvPr/>
        </p:nvSpPr>
        <p:spPr>
          <a:xfrm>
            <a:off x="713232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60%</a:t>
            </a:r>
            <a:endParaRPr lang="en-US" sz="1400" dirty="0"/>
          </a:p>
        </p:txBody>
      </p:sp>
      <p:sp>
        <p:nvSpPr>
          <p:cNvPr id="11" name="Text 9"/>
          <p:cNvSpPr/>
          <p:nvPr/>
        </p:nvSpPr>
        <p:spPr>
          <a:xfrm>
            <a:off x="548640" y="1783080"/>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Zipformer</a:t>
            </a:r>
            <a:endParaRPr lang="en-US" sz="1500" dirty="0"/>
          </a:p>
        </p:txBody>
      </p:sp>
      <p:sp>
        <p:nvSpPr>
          <p:cNvPr id="12" name="Shape 10"/>
          <p:cNvSpPr/>
          <p:nvPr/>
        </p:nvSpPr>
        <p:spPr>
          <a:xfrm>
            <a:off x="6453226" y="1920240"/>
            <a:ext cx="610210" cy="0"/>
          </a:xfrm>
          <a:prstGeom prst="line">
            <a:avLst/>
          </a:prstGeom>
          <a:noFill/>
          <a:ln w="31750">
            <a:solidFill>
              <a:srgbClr val="CCCCCC"/>
            </a:solidFill>
            <a:prstDash val="solid"/>
          </a:ln>
        </p:spPr>
      </p:sp>
      <p:sp>
        <p:nvSpPr>
          <p:cNvPr id="13" name="Shape 11"/>
          <p:cNvSpPr/>
          <p:nvPr/>
        </p:nvSpPr>
        <p:spPr>
          <a:xfrm>
            <a:off x="6981139" y="1837944"/>
            <a:ext cx="164592" cy="164592"/>
          </a:xfrm>
          <a:prstGeom prst="ellipse">
            <a:avLst/>
          </a:prstGeom>
          <a:solidFill>
            <a:srgbClr val="A6A6A6"/>
          </a:solidFill>
          <a:ln w="12700">
            <a:solidFill>
              <a:srgbClr val="A6A6A6"/>
            </a:solidFill>
            <a:prstDash val="solid"/>
          </a:ln>
        </p:spPr>
      </p:sp>
      <p:sp>
        <p:nvSpPr>
          <p:cNvPr id="14" name="Shape 12"/>
          <p:cNvSpPr/>
          <p:nvPr/>
        </p:nvSpPr>
        <p:spPr>
          <a:xfrm>
            <a:off x="6361786" y="1828800"/>
            <a:ext cx="182880" cy="182880"/>
          </a:xfrm>
          <a:prstGeom prst="ellipse">
            <a:avLst/>
          </a:prstGeom>
          <a:solidFill>
            <a:srgbClr val="1F4E79"/>
          </a:solidFill>
          <a:ln w="12700">
            <a:solidFill>
              <a:srgbClr val="1F4E79"/>
            </a:solidFill>
            <a:prstDash val="solid"/>
          </a:ln>
        </p:spPr>
      </p:sp>
      <p:sp>
        <p:nvSpPr>
          <p:cNvPr id="15" name="Text 13"/>
          <p:cNvSpPr/>
          <p:nvPr/>
        </p:nvSpPr>
        <p:spPr>
          <a:xfrm>
            <a:off x="548640" y="2203704"/>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MMS-1B</a:t>
            </a:r>
            <a:endParaRPr lang="en-US" sz="1500" dirty="0"/>
          </a:p>
        </p:txBody>
      </p:sp>
      <p:sp>
        <p:nvSpPr>
          <p:cNvPr id="16" name="Shape 14"/>
          <p:cNvSpPr/>
          <p:nvPr/>
        </p:nvSpPr>
        <p:spPr>
          <a:xfrm>
            <a:off x="5420563" y="2340864"/>
            <a:ext cx="355397" cy="0"/>
          </a:xfrm>
          <a:prstGeom prst="line">
            <a:avLst/>
          </a:prstGeom>
          <a:noFill/>
          <a:ln w="31750">
            <a:solidFill>
              <a:srgbClr val="CCCCCC"/>
            </a:solidFill>
            <a:prstDash val="solid"/>
          </a:ln>
        </p:spPr>
      </p:sp>
      <p:sp>
        <p:nvSpPr>
          <p:cNvPr id="17" name="Shape 15"/>
          <p:cNvSpPr/>
          <p:nvPr/>
        </p:nvSpPr>
        <p:spPr>
          <a:xfrm>
            <a:off x="5693664" y="2258568"/>
            <a:ext cx="164592" cy="164592"/>
          </a:xfrm>
          <a:prstGeom prst="ellipse">
            <a:avLst/>
          </a:prstGeom>
          <a:solidFill>
            <a:srgbClr val="A6A6A6"/>
          </a:solidFill>
          <a:ln w="12700">
            <a:solidFill>
              <a:srgbClr val="A6A6A6"/>
            </a:solidFill>
            <a:prstDash val="solid"/>
          </a:ln>
        </p:spPr>
      </p:sp>
      <p:sp>
        <p:nvSpPr>
          <p:cNvPr id="18" name="Shape 16"/>
          <p:cNvSpPr/>
          <p:nvPr/>
        </p:nvSpPr>
        <p:spPr>
          <a:xfrm>
            <a:off x="5329123" y="2249424"/>
            <a:ext cx="182880" cy="182880"/>
          </a:xfrm>
          <a:prstGeom prst="ellipse">
            <a:avLst/>
          </a:prstGeom>
          <a:solidFill>
            <a:srgbClr val="1F4E79"/>
          </a:solidFill>
          <a:ln w="12700">
            <a:solidFill>
              <a:srgbClr val="1F4E79"/>
            </a:solidFill>
            <a:prstDash val="solid"/>
          </a:ln>
        </p:spPr>
      </p:sp>
      <p:sp>
        <p:nvSpPr>
          <p:cNvPr id="19" name="Text 17"/>
          <p:cNvSpPr/>
          <p:nvPr/>
        </p:nvSpPr>
        <p:spPr>
          <a:xfrm>
            <a:off x="548640" y="262432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Whisper-base</a:t>
            </a:r>
            <a:endParaRPr lang="en-US" sz="1500" dirty="0"/>
          </a:p>
        </p:txBody>
      </p:sp>
      <p:sp>
        <p:nvSpPr>
          <p:cNvPr id="20" name="Shape 18"/>
          <p:cNvSpPr/>
          <p:nvPr/>
        </p:nvSpPr>
        <p:spPr>
          <a:xfrm>
            <a:off x="4890821" y="2761488"/>
            <a:ext cx="368808" cy="0"/>
          </a:xfrm>
          <a:prstGeom prst="line">
            <a:avLst/>
          </a:prstGeom>
          <a:noFill/>
          <a:ln w="31750">
            <a:solidFill>
              <a:srgbClr val="CCCCCC"/>
            </a:solidFill>
            <a:prstDash val="solid"/>
          </a:ln>
        </p:spPr>
      </p:sp>
      <p:sp>
        <p:nvSpPr>
          <p:cNvPr id="21" name="Shape 19"/>
          <p:cNvSpPr/>
          <p:nvPr/>
        </p:nvSpPr>
        <p:spPr>
          <a:xfrm>
            <a:off x="5177333" y="2679192"/>
            <a:ext cx="164592" cy="164592"/>
          </a:xfrm>
          <a:prstGeom prst="ellipse">
            <a:avLst/>
          </a:prstGeom>
          <a:solidFill>
            <a:srgbClr val="A6A6A6"/>
          </a:solidFill>
          <a:ln w="12700">
            <a:solidFill>
              <a:srgbClr val="A6A6A6"/>
            </a:solidFill>
            <a:prstDash val="solid"/>
          </a:ln>
        </p:spPr>
      </p:sp>
      <p:sp>
        <p:nvSpPr>
          <p:cNvPr id="22" name="Shape 20"/>
          <p:cNvSpPr/>
          <p:nvPr/>
        </p:nvSpPr>
        <p:spPr>
          <a:xfrm>
            <a:off x="4799381" y="2670048"/>
            <a:ext cx="182880" cy="182880"/>
          </a:xfrm>
          <a:prstGeom prst="ellipse">
            <a:avLst/>
          </a:prstGeom>
          <a:solidFill>
            <a:srgbClr val="1F4E79"/>
          </a:solidFill>
          <a:ln w="12700">
            <a:solidFill>
              <a:srgbClr val="1F4E79"/>
            </a:solidFill>
            <a:prstDash val="solid"/>
          </a:ln>
        </p:spPr>
      </p:sp>
      <p:sp>
        <p:nvSpPr>
          <p:cNvPr id="23" name="Text 21"/>
          <p:cNvSpPr/>
          <p:nvPr/>
        </p:nvSpPr>
        <p:spPr>
          <a:xfrm>
            <a:off x="548640" y="304495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Whisper-small</a:t>
            </a:r>
            <a:endParaRPr lang="en-US" sz="1500" dirty="0"/>
          </a:p>
        </p:txBody>
      </p:sp>
      <p:sp>
        <p:nvSpPr>
          <p:cNvPr id="24" name="Shape 22"/>
          <p:cNvSpPr/>
          <p:nvPr/>
        </p:nvSpPr>
        <p:spPr>
          <a:xfrm>
            <a:off x="4636008" y="3182112"/>
            <a:ext cx="335280" cy="0"/>
          </a:xfrm>
          <a:prstGeom prst="line">
            <a:avLst/>
          </a:prstGeom>
          <a:noFill/>
          <a:ln w="31750">
            <a:solidFill>
              <a:srgbClr val="CCCCCC"/>
            </a:solidFill>
            <a:prstDash val="solid"/>
          </a:ln>
        </p:spPr>
      </p:sp>
      <p:sp>
        <p:nvSpPr>
          <p:cNvPr id="25" name="Shape 23"/>
          <p:cNvSpPr/>
          <p:nvPr/>
        </p:nvSpPr>
        <p:spPr>
          <a:xfrm>
            <a:off x="4888992" y="3099816"/>
            <a:ext cx="164592" cy="164592"/>
          </a:xfrm>
          <a:prstGeom prst="ellipse">
            <a:avLst/>
          </a:prstGeom>
          <a:solidFill>
            <a:srgbClr val="A6A6A6"/>
          </a:solidFill>
          <a:ln w="12700">
            <a:solidFill>
              <a:srgbClr val="A6A6A6"/>
            </a:solidFill>
            <a:prstDash val="solid"/>
          </a:ln>
        </p:spPr>
      </p:sp>
      <p:sp>
        <p:nvSpPr>
          <p:cNvPr id="26" name="Shape 24"/>
          <p:cNvSpPr/>
          <p:nvPr/>
        </p:nvSpPr>
        <p:spPr>
          <a:xfrm>
            <a:off x="4544568" y="3090672"/>
            <a:ext cx="182880" cy="182880"/>
          </a:xfrm>
          <a:prstGeom prst="ellipse">
            <a:avLst/>
          </a:prstGeom>
          <a:solidFill>
            <a:srgbClr val="1F4E79"/>
          </a:solidFill>
          <a:ln w="12700">
            <a:solidFill>
              <a:srgbClr val="1F4E79"/>
            </a:solidFill>
            <a:prstDash val="solid"/>
          </a:ln>
        </p:spPr>
      </p:sp>
      <p:sp>
        <p:nvSpPr>
          <p:cNvPr id="27" name="Text 25"/>
          <p:cNvSpPr/>
          <p:nvPr/>
        </p:nvSpPr>
        <p:spPr>
          <a:xfrm>
            <a:off x="548640" y="3465576"/>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XLS-R</a:t>
            </a:r>
            <a:endParaRPr lang="en-US" sz="1500" dirty="0"/>
          </a:p>
        </p:txBody>
      </p:sp>
      <p:sp>
        <p:nvSpPr>
          <p:cNvPr id="28" name="Shape 26"/>
          <p:cNvSpPr/>
          <p:nvPr/>
        </p:nvSpPr>
        <p:spPr>
          <a:xfrm>
            <a:off x="4562246" y="3602736"/>
            <a:ext cx="355397" cy="0"/>
          </a:xfrm>
          <a:prstGeom prst="line">
            <a:avLst/>
          </a:prstGeom>
          <a:noFill/>
          <a:ln w="31750">
            <a:solidFill>
              <a:srgbClr val="CCCCCC"/>
            </a:solidFill>
            <a:prstDash val="solid"/>
          </a:ln>
        </p:spPr>
      </p:sp>
      <p:sp>
        <p:nvSpPr>
          <p:cNvPr id="29" name="Shape 27"/>
          <p:cNvSpPr/>
          <p:nvPr/>
        </p:nvSpPr>
        <p:spPr>
          <a:xfrm>
            <a:off x="4835347" y="3520440"/>
            <a:ext cx="164592" cy="164592"/>
          </a:xfrm>
          <a:prstGeom prst="ellipse">
            <a:avLst/>
          </a:prstGeom>
          <a:solidFill>
            <a:srgbClr val="A6A6A6"/>
          </a:solidFill>
          <a:ln w="12700">
            <a:solidFill>
              <a:srgbClr val="A6A6A6"/>
            </a:solidFill>
            <a:prstDash val="solid"/>
          </a:ln>
        </p:spPr>
      </p:sp>
      <p:sp>
        <p:nvSpPr>
          <p:cNvPr id="30" name="Shape 28"/>
          <p:cNvSpPr/>
          <p:nvPr/>
        </p:nvSpPr>
        <p:spPr>
          <a:xfrm>
            <a:off x="4470806" y="3511296"/>
            <a:ext cx="182880" cy="182880"/>
          </a:xfrm>
          <a:prstGeom prst="ellipse">
            <a:avLst/>
          </a:prstGeom>
          <a:solidFill>
            <a:srgbClr val="1F4E79"/>
          </a:solidFill>
          <a:ln w="12700">
            <a:solidFill>
              <a:srgbClr val="1F4E79"/>
            </a:solidFill>
            <a:prstDash val="solid"/>
          </a:ln>
        </p:spPr>
      </p:sp>
      <p:sp>
        <p:nvSpPr>
          <p:cNvPr id="31" name="Text 29"/>
          <p:cNvSpPr/>
          <p:nvPr/>
        </p:nvSpPr>
        <p:spPr>
          <a:xfrm>
            <a:off x="548640" y="3886200"/>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Whisper-medium</a:t>
            </a:r>
            <a:endParaRPr lang="en-US" sz="1500" dirty="0"/>
          </a:p>
        </p:txBody>
      </p:sp>
      <p:sp>
        <p:nvSpPr>
          <p:cNvPr id="32" name="Shape 30"/>
          <p:cNvSpPr/>
          <p:nvPr/>
        </p:nvSpPr>
        <p:spPr>
          <a:xfrm>
            <a:off x="4495190" y="4023360"/>
            <a:ext cx="248107" cy="0"/>
          </a:xfrm>
          <a:prstGeom prst="line">
            <a:avLst/>
          </a:prstGeom>
          <a:noFill/>
          <a:ln w="31750">
            <a:solidFill>
              <a:srgbClr val="CCCCCC"/>
            </a:solidFill>
            <a:prstDash val="solid"/>
          </a:ln>
        </p:spPr>
      </p:sp>
      <p:sp>
        <p:nvSpPr>
          <p:cNvPr id="33" name="Shape 31"/>
          <p:cNvSpPr/>
          <p:nvPr/>
        </p:nvSpPr>
        <p:spPr>
          <a:xfrm>
            <a:off x="4661002" y="3941064"/>
            <a:ext cx="164592" cy="164592"/>
          </a:xfrm>
          <a:prstGeom prst="ellipse">
            <a:avLst/>
          </a:prstGeom>
          <a:solidFill>
            <a:srgbClr val="A6A6A6"/>
          </a:solidFill>
          <a:ln w="12700">
            <a:solidFill>
              <a:srgbClr val="A6A6A6"/>
            </a:solidFill>
            <a:prstDash val="solid"/>
          </a:ln>
        </p:spPr>
      </p:sp>
      <p:sp>
        <p:nvSpPr>
          <p:cNvPr id="34" name="Shape 32"/>
          <p:cNvSpPr/>
          <p:nvPr/>
        </p:nvSpPr>
        <p:spPr>
          <a:xfrm>
            <a:off x="4403750" y="3931920"/>
            <a:ext cx="182880" cy="182880"/>
          </a:xfrm>
          <a:prstGeom prst="ellipse">
            <a:avLst/>
          </a:prstGeom>
          <a:solidFill>
            <a:srgbClr val="1F4E79"/>
          </a:solidFill>
          <a:ln w="12700">
            <a:solidFill>
              <a:srgbClr val="1F4E79"/>
            </a:solidFill>
            <a:prstDash val="solid"/>
          </a:ln>
        </p:spPr>
      </p:sp>
      <p:sp>
        <p:nvSpPr>
          <p:cNvPr id="35" name="Text 33"/>
          <p:cNvSpPr/>
          <p:nvPr/>
        </p:nvSpPr>
        <p:spPr>
          <a:xfrm>
            <a:off x="548640" y="4306824"/>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Whisper-large-v3-turbo</a:t>
            </a:r>
            <a:endParaRPr lang="en-US" sz="1500" dirty="0"/>
          </a:p>
        </p:txBody>
      </p:sp>
      <p:sp>
        <p:nvSpPr>
          <p:cNvPr id="36" name="Shape 34"/>
          <p:cNvSpPr/>
          <p:nvPr/>
        </p:nvSpPr>
        <p:spPr>
          <a:xfrm>
            <a:off x="4347667" y="4443984"/>
            <a:ext cx="221285" cy="0"/>
          </a:xfrm>
          <a:prstGeom prst="line">
            <a:avLst/>
          </a:prstGeom>
          <a:noFill/>
          <a:ln w="31750">
            <a:solidFill>
              <a:srgbClr val="CCCCCC"/>
            </a:solidFill>
            <a:prstDash val="solid"/>
          </a:ln>
        </p:spPr>
      </p:sp>
      <p:sp>
        <p:nvSpPr>
          <p:cNvPr id="37" name="Shape 35"/>
          <p:cNvSpPr/>
          <p:nvPr/>
        </p:nvSpPr>
        <p:spPr>
          <a:xfrm>
            <a:off x="4486656" y="4361688"/>
            <a:ext cx="164592" cy="164592"/>
          </a:xfrm>
          <a:prstGeom prst="ellipse">
            <a:avLst/>
          </a:prstGeom>
          <a:solidFill>
            <a:srgbClr val="A6A6A6"/>
          </a:solidFill>
          <a:ln w="12700">
            <a:solidFill>
              <a:srgbClr val="A6A6A6"/>
            </a:solidFill>
            <a:prstDash val="solid"/>
          </a:ln>
        </p:spPr>
      </p:sp>
      <p:sp>
        <p:nvSpPr>
          <p:cNvPr id="38" name="Shape 36"/>
          <p:cNvSpPr/>
          <p:nvPr/>
        </p:nvSpPr>
        <p:spPr>
          <a:xfrm>
            <a:off x="4256227" y="4352544"/>
            <a:ext cx="182880" cy="182880"/>
          </a:xfrm>
          <a:prstGeom prst="ellipse">
            <a:avLst/>
          </a:prstGeom>
          <a:solidFill>
            <a:srgbClr val="1F4E79"/>
          </a:solidFill>
          <a:ln w="12700">
            <a:solidFill>
              <a:srgbClr val="1F4E79"/>
            </a:solidFill>
            <a:prstDash val="solid"/>
          </a:ln>
        </p:spPr>
      </p:sp>
      <p:sp>
        <p:nvSpPr>
          <p:cNvPr id="39" name="Text 37"/>
          <p:cNvSpPr/>
          <p:nvPr/>
        </p:nvSpPr>
        <p:spPr>
          <a:xfrm>
            <a:off x="548640" y="472744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Whisper（喉マイクで再学習）</a:t>
            </a:r>
            <a:endParaRPr lang="en-US" sz="1500" dirty="0"/>
          </a:p>
        </p:txBody>
      </p:sp>
      <p:sp>
        <p:nvSpPr>
          <p:cNvPr id="40" name="Shape 38"/>
          <p:cNvSpPr/>
          <p:nvPr/>
        </p:nvSpPr>
        <p:spPr>
          <a:xfrm>
            <a:off x="4166616" y="4864608"/>
            <a:ext cx="241402" cy="0"/>
          </a:xfrm>
          <a:prstGeom prst="line">
            <a:avLst/>
          </a:prstGeom>
          <a:noFill/>
          <a:ln w="31750">
            <a:solidFill>
              <a:srgbClr val="CCCCCC"/>
            </a:solidFill>
            <a:prstDash val="solid"/>
          </a:ln>
        </p:spPr>
      </p:sp>
      <p:sp>
        <p:nvSpPr>
          <p:cNvPr id="41" name="Shape 39"/>
          <p:cNvSpPr/>
          <p:nvPr/>
        </p:nvSpPr>
        <p:spPr>
          <a:xfrm>
            <a:off x="4325722" y="4782312"/>
            <a:ext cx="164592" cy="164592"/>
          </a:xfrm>
          <a:prstGeom prst="ellipse">
            <a:avLst/>
          </a:prstGeom>
          <a:solidFill>
            <a:srgbClr val="A6A6A6"/>
          </a:solidFill>
          <a:ln w="12700">
            <a:solidFill>
              <a:srgbClr val="A6A6A6"/>
            </a:solidFill>
            <a:prstDash val="solid"/>
          </a:ln>
        </p:spPr>
      </p:sp>
      <p:sp>
        <p:nvSpPr>
          <p:cNvPr id="42" name="Shape 40"/>
          <p:cNvSpPr/>
          <p:nvPr/>
        </p:nvSpPr>
        <p:spPr>
          <a:xfrm>
            <a:off x="4075176" y="4773168"/>
            <a:ext cx="182880" cy="182880"/>
          </a:xfrm>
          <a:prstGeom prst="ellipse">
            <a:avLst/>
          </a:prstGeom>
          <a:solidFill>
            <a:srgbClr val="1F4E79"/>
          </a:solidFill>
          <a:ln w="12700">
            <a:solidFill>
              <a:srgbClr val="1F4E79"/>
            </a:solidFill>
            <a:prstDash val="solid"/>
          </a:ln>
        </p:spPr>
      </p:sp>
      <p:sp>
        <p:nvSpPr>
          <p:cNvPr id="43" name="Text 41"/>
          <p:cNvSpPr/>
          <p:nvPr/>
        </p:nvSpPr>
        <p:spPr>
          <a:xfrm>
            <a:off x="548640" y="514807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Qwen3-ASR</a:t>
            </a:r>
            <a:endParaRPr lang="en-US" sz="1500" dirty="0"/>
          </a:p>
        </p:txBody>
      </p:sp>
      <p:sp>
        <p:nvSpPr>
          <p:cNvPr id="44" name="Shape 42"/>
          <p:cNvSpPr/>
          <p:nvPr/>
        </p:nvSpPr>
        <p:spPr>
          <a:xfrm>
            <a:off x="4126382" y="5285232"/>
            <a:ext cx="214579" cy="0"/>
          </a:xfrm>
          <a:prstGeom prst="line">
            <a:avLst/>
          </a:prstGeom>
          <a:noFill/>
          <a:ln w="31750">
            <a:solidFill>
              <a:srgbClr val="CCCCCC"/>
            </a:solidFill>
            <a:prstDash val="solid"/>
          </a:ln>
        </p:spPr>
      </p:sp>
      <p:sp>
        <p:nvSpPr>
          <p:cNvPr id="45" name="Shape 43"/>
          <p:cNvSpPr/>
          <p:nvPr/>
        </p:nvSpPr>
        <p:spPr>
          <a:xfrm>
            <a:off x="4258666" y="5202936"/>
            <a:ext cx="164592" cy="164592"/>
          </a:xfrm>
          <a:prstGeom prst="ellipse">
            <a:avLst/>
          </a:prstGeom>
          <a:solidFill>
            <a:srgbClr val="A6A6A6"/>
          </a:solidFill>
          <a:ln w="12700">
            <a:solidFill>
              <a:srgbClr val="A6A6A6"/>
            </a:solidFill>
            <a:prstDash val="solid"/>
          </a:ln>
        </p:spPr>
      </p:sp>
      <p:sp>
        <p:nvSpPr>
          <p:cNvPr id="46" name="Shape 44"/>
          <p:cNvSpPr/>
          <p:nvPr/>
        </p:nvSpPr>
        <p:spPr>
          <a:xfrm>
            <a:off x="4034942" y="5193792"/>
            <a:ext cx="182880" cy="182880"/>
          </a:xfrm>
          <a:prstGeom prst="ellipse">
            <a:avLst/>
          </a:prstGeom>
          <a:solidFill>
            <a:srgbClr val="1F4E79"/>
          </a:solidFill>
          <a:ln w="12700">
            <a:solidFill>
              <a:srgbClr val="1F4E79"/>
            </a:solidFill>
            <a:prstDash val="solid"/>
          </a:ln>
        </p:spPr>
      </p:sp>
      <p:sp>
        <p:nvSpPr>
          <p:cNvPr id="47" name="Text 45"/>
          <p:cNvSpPr/>
          <p:nvPr/>
        </p:nvSpPr>
        <p:spPr>
          <a:xfrm>
            <a:off x="3154680" y="1325880"/>
            <a:ext cx="5029200" cy="320040"/>
          </a:xfrm>
          <a:prstGeom prst="rect">
            <a:avLst/>
          </a:prstGeom>
          <a:noFill/>
          <a:ln/>
        </p:spPr>
        <p:txBody>
          <a:bodyPr wrap="square" lIns="0" tIns="0" rIns="0" bIns="0" rtlCol="0" anchor="t"/>
          <a:lstStyle/>
          <a:p>
            <a:pPr indent="0" marL="0">
              <a:buNone/>
            </a:pPr>
            <a:r>
              <a:rPr lang="en-US" sz="1400" dirty="0">
                <a:solidFill>
                  <a:srgbClr val="A6A6A6"/>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元の音声強調　</a:t>
            </a:r>
            <a:pPr indent="0" marL="0">
              <a:buNone/>
            </a:pPr>
            <a:r>
              <a:rPr lang="en-US" sz="1400" dirty="0">
                <a:solidFill>
                  <a:srgbClr val="1F4E79"/>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生成モデル　（文字の誤り率）</a:t>
            </a:r>
            <a:endParaRPr lang="en-US" sz="1400" dirty="0"/>
          </a:p>
        </p:txBody>
      </p:sp>
      <p:sp>
        <p:nvSpPr>
          <p:cNvPr id="48" name="Shape 46"/>
          <p:cNvSpPr/>
          <p:nvPr/>
        </p:nvSpPr>
        <p:spPr>
          <a:xfrm>
            <a:off x="5532120" y="3044952"/>
            <a:ext cx="1783080" cy="777240"/>
          </a:xfrm>
          <a:prstGeom prst="roundRect">
            <a:avLst>
              <a:gd name="adj" fmla="val 7059"/>
            </a:avLst>
          </a:prstGeom>
          <a:solidFill>
            <a:srgbClr val="FFF2CC"/>
          </a:solidFill>
          <a:ln w="12700">
            <a:solidFill>
              <a:srgbClr val="E6C800"/>
            </a:solidFill>
            <a:prstDash val="solid"/>
          </a:ln>
        </p:spPr>
      </p:sp>
      <p:sp>
        <p:nvSpPr>
          <p:cNvPr id="49" name="Text 47"/>
          <p:cNvSpPr/>
          <p:nvPr/>
        </p:nvSpPr>
        <p:spPr>
          <a:xfrm>
            <a:off x="5532120" y="3044952"/>
            <a:ext cx="1783080" cy="777240"/>
          </a:xfrm>
          <a:prstGeom prst="rect">
            <a:avLst/>
          </a:prstGeom>
          <a:noFill/>
          <a:ln/>
        </p:spPr>
        <p:txBody>
          <a:bodyPr wrap="square" lIns="0" tIns="0" rIns="0" bIns="0" rtlCol="0" anchor="ctr"/>
          <a:lstStyle/>
          <a:p>
            <a:pPr algn="ctr" indent="0" marL="0">
              <a:buNone/>
            </a:pPr>
            <a:r>
              <a:rPr lang="en-US" sz="1600" b="1" dirty="0">
                <a:solidFill>
                  <a:srgbClr val="7A5200"/>
                </a:solidFill>
                <a:latin typeface="Yu Gothic" pitchFamily="34" charset="0"/>
                <a:ea typeface="Yu Gothic" pitchFamily="34" charset="-122"/>
                <a:cs typeface="Yu Gothic" pitchFamily="34" charset="-120"/>
              </a:rPr>
              <a:t>全9つで</a:t>
            </a:r>
            <a:endParaRPr lang="en-US" sz="1600" dirty="0"/>
          </a:p>
          <a:p>
            <a:pPr algn="ctr" indent="0" marL="0">
              <a:buNone/>
            </a:pPr>
            <a:r>
              <a:rPr lang="en-US" sz="1600" b="1" dirty="0">
                <a:solidFill>
                  <a:srgbClr val="7A5200"/>
                </a:solidFill>
                <a:latin typeface="Yu Gothic" pitchFamily="34" charset="0"/>
                <a:ea typeface="Yu Gothic" pitchFamily="34" charset="-122"/>
                <a:cs typeface="Yu Gothic" pitchFamily="34" charset="-120"/>
              </a:rPr>
              <a:t>相対15〜24%減</a:t>
            </a:r>
            <a:endParaRPr lang="en-US" sz="1600" dirty="0"/>
          </a:p>
        </p:txBody>
      </p:sp>
      <p:sp>
        <p:nvSpPr>
          <p:cNvPr id="50" name="Text 48"/>
          <p:cNvSpPr/>
          <p:nvPr/>
        </p:nvSpPr>
        <p:spPr>
          <a:xfrm>
            <a:off x="7818120" y="1737360"/>
            <a:ext cx="3824935" cy="420624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Whisper系でも、</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Whisperに合わせた音声強調より良い</a:t>
            </a:r>
            <a:endParaRPr lang="en-US" sz="2000" dirty="0"/>
          </a:p>
          <a:p>
            <a:pPr marL="228600" indent="-228600">
              <a:lnSpc>
                <a:spcPct val="120000"/>
              </a:lnSpc>
              <a:spcAft>
                <a:spcPts val="1800"/>
              </a:spcAft>
              <a:buSzPct val="100000"/>
              <a:buChar char="•"/>
            </a:pPr>
            <a:r>
              <a:rPr lang="en-US" sz="2000" b="1" dirty="0">
                <a:solidFill>
                  <a:srgbClr val="2E75B6"/>
                </a:solidFill>
                <a:latin typeface="Yu Gothic" pitchFamily="34" charset="0"/>
                <a:ea typeface="Yu Gothic" pitchFamily="34" charset="-122"/>
                <a:cs typeface="Yu Gothic" pitchFamily="34" charset="-120"/>
              </a:rPr>
              <a:t>入力が違う認識器</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でも改善</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テスト話者</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10人全員</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で改善</a:t>
            </a:r>
            <a:endParaRPr lang="en-US" sz="2000" dirty="0"/>
          </a:p>
        </p:txBody>
      </p:sp>
      <p:sp>
        <p:nvSpPr>
          <p:cNvPr id="51" name="Text 49"/>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生成は毎回少し変わるが、今はテストデータで1回生成した分のみ（再確認中）。生成モデル: NVIDIA NeMo（Ku et al., arXiv:2409.16117）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効果は大きいが、理由・確かさ・他のデータでの効果・新しさが課題</a:t>
            </a:r>
            <a:endParaRPr lang="en-US" sz="2800" dirty="0"/>
          </a:p>
        </p:txBody>
      </p:sp>
      <p:sp>
        <p:nvSpPr>
          <p:cNvPr id="3" name="Text 1"/>
          <p:cNvSpPr/>
          <p:nvPr/>
        </p:nvSpPr>
        <p:spPr>
          <a:xfrm>
            <a:off x="548640" y="1645920"/>
            <a:ext cx="3291840" cy="822960"/>
          </a:xfrm>
          <a:prstGeom prst="rect">
            <a:avLst/>
          </a:prstGeom>
          <a:noFill/>
          <a:ln/>
        </p:spPr>
        <p:txBody>
          <a:bodyPr wrap="square" lIns="0" tIns="0" rIns="0" bIns="0" rtlCol="0" anchor="ctr"/>
          <a:lstStyle/>
          <a:p>
            <a:pPr indent="0" marL="0">
              <a:buNone/>
            </a:pPr>
            <a:r>
              <a:rPr lang="en-US" sz="2200" b="1" dirty="0">
                <a:solidFill>
                  <a:srgbClr val="1F4E79"/>
                </a:solidFill>
                <a:latin typeface="Yu Gothic" pitchFamily="34" charset="0"/>
                <a:ea typeface="Yu Gothic" pitchFamily="34" charset="-122"/>
                <a:cs typeface="Yu Gothic" pitchFamily="34" charset="-120"/>
              </a:rPr>
              <a:t>① なぜ効いたか</a:t>
            </a:r>
            <a:endParaRPr lang="en-US" sz="2200" dirty="0"/>
          </a:p>
        </p:txBody>
      </p:sp>
      <p:sp>
        <p:nvSpPr>
          <p:cNvPr id="4" name="Text 2"/>
          <p:cNvSpPr/>
          <p:nvPr/>
        </p:nvSpPr>
        <p:spPr>
          <a:xfrm>
            <a:off x="4023360" y="1645920"/>
            <a:ext cx="7619695" cy="822960"/>
          </a:xfrm>
          <a:prstGeom prst="rect">
            <a:avLst/>
          </a:prstGeom>
          <a:noFill/>
          <a:ln/>
        </p:spPr>
        <p:txBody>
          <a:bodyPr wrap="square" lIns="0" tIns="0" rIns="0" bIns="0" rtlCol="0" anchor="ctr"/>
          <a:lstStyle/>
          <a:p>
            <a:pPr indent="0" marL="0">
              <a:buNone/>
            </a:pPr>
            <a:r>
              <a:rPr lang="en-US" sz="2000" dirty="0">
                <a:solidFill>
                  <a:srgbClr val="2D2D2D"/>
                </a:solidFill>
                <a:latin typeface="Yu Gothic" pitchFamily="34" charset="0"/>
                <a:ea typeface="Yu Gothic" pitchFamily="34" charset="-122"/>
                <a:cs typeface="Yu Gothic" pitchFamily="34" charset="-120"/>
              </a:rPr>
              <a:t>事前学習のおかげか、単にモデルが大きい（約35倍）からか</a:t>
            </a:r>
            <a:endParaRPr lang="en-US" sz="2000" dirty="0"/>
          </a:p>
        </p:txBody>
      </p:sp>
      <p:sp>
        <p:nvSpPr>
          <p:cNvPr id="5" name="Shape 3"/>
          <p:cNvSpPr/>
          <p:nvPr/>
        </p:nvSpPr>
        <p:spPr>
          <a:xfrm>
            <a:off x="548640" y="2651760"/>
            <a:ext cx="11094415" cy="0"/>
          </a:xfrm>
          <a:prstGeom prst="line">
            <a:avLst/>
          </a:prstGeom>
          <a:noFill/>
          <a:ln w="12700">
            <a:solidFill>
              <a:srgbClr val="E6E6E6"/>
            </a:solidFill>
            <a:prstDash val="solid"/>
          </a:ln>
        </p:spPr>
      </p:sp>
      <p:sp>
        <p:nvSpPr>
          <p:cNvPr id="6" name="Text 4"/>
          <p:cNvSpPr/>
          <p:nvPr/>
        </p:nvSpPr>
        <p:spPr>
          <a:xfrm>
            <a:off x="548640" y="2834640"/>
            <a:ext cx="3291840" cy="822960"/>
          </a:xfrm>
          <a:prstGeom prst="rect">
            <a:avLst/>
          </a:prstGeom>
          <a:noFill/>
          <a:ln/>
        </p:spPr>
        <p:txBody>
          <a:bodyPr wrap="square" lIns="0" tIns="0" rIns="0" bIns="0" rtlCol="0" anchor="ctr"/>
          <a:lstStyle/>
          <a:p>
            <a:pPr indent="0" marL="0">
              <a:buNone/>
            </a:pPr>
            <a:r>
              <a:rPr lang="en-US" sz="2200" b="1" dirty="0">
                <a:solidFill>
                  <a:srgbClr val="1F4E79"/>
                </a:solidFill>
                <a:latin typeface="Yu Gothic" pitchFamily="34" charset="0"/>
                <a:ea typeface="Yu Gothic" pitchFamily="34" charset="-122"/>
                <a:cs typeface="Yu Gothic" pitchFamily="34" charset="-120"/>
              </a:rPr>
              <a:t>② 結果は確かか</a:t>
            </a:r>
            <a:endParaRPr lang="en-US" sz="2200" dirty="0"/>
          </a:p>
        </p:txBody>
      </p:sp>
      <p:sp>
        <p:nvSpPr>
          <p:cNvPr id="7" name="Text 5"/>
          <p:cNvSpPr/>
          <p:nvPr/>
        </p:nvSpPr>
        <p:spPr>
          <a:xfrm>
            <a:off x="4023360" y="2834640"/>
            <a:ext cx="7619695" cy="822960"/>
          </a:xfrm>
          <a:prstGeom prst="rect">
            <a:avLst/>
          </a:prstGeom>
          <a:noFill/>
          <a:ln/>
        </p:spPr>
        <p:txBody>
          <a:bodyPr wrap="square" lIns="0" tIns="0" rIns="0" bIns="0" rtlCol="0" anchor="ctr"/>
          <a:lstStyle/>
          <a:p>
            <a:pPr indent="0" marL="0">
              <a:buNone/>
            </a:pPr>
            <a:r>
              <a:rPr lang="en-US" sz="2000" dirty="0">
                <a:solidFill>
                  <a:srgbClr val="2D2D2D"/>
                </a:solidFill>
                <a:latin typeface="Yu Gothic" pitchFamily="34" charset="0"/>
                <a:ea typeface="Yu Gothic" pitchFamily="34" charset="-122"/>
                <a:cs typeface="Yu Gothic" pitchFamily="34" charset="-120"/>
              </a:rPr>
              <a:t>1回生成しただけ。他の方法との同じ条件での比較もまだ</a:t>
            </a:r>
            <a:endParaRPr lang="en-US" sz="2000" dirty="0"/>
          </a:p>
        </p:txBody>
      </p:sp>
      <p:sp>
        <p:nvSpPr>
          <p:cNvPr id="8" name="Shape 6"/>
          <p:cNvSpPr/>
          <p:nvPr/>
        </p:nvSpPr>
        <p:spPr>
          <a:xfrm>
            <a:off x="548640" y="3840480"/>
            <a:ext cx="11094415" cy="0"/>
          </a:xfrm>
          <a:prstGeom prst="line">
            <a:avLst/>
          </a:prstGeom>
          <a:noFill/>
          <a:ln w="12700">
            <a:solidFill>
              <a:srgbClr val="E6E6E6"/>
            </a:solidFill>
            <a:prstDash val="solid"/>
          </a:ln>
        </p:spPr>
      </p:sp>
      <p:sp>
        <p:nvSpPr>
          <p:cNvPr id="9" name="Text 7"/>
          <p:cNvSpPr/>
          <p:nvPr/>
        </p:nvSpPr>
        <p:spPr>
          <a:xfrm>
            <a:off x="548640" y="4023360"/>
            <a:ext cx="3291840" cy="822960"/>
          </a:xfrm>
          <a:prstGeom prst="rect">
            <a:avLst/>
          </a:prstGeom>
          <a:noFill/>
          <a:ln/>
        </p:spPr>
        <p:txBody>
          <a:bodyPr wrap="square" lIns="0" tIns="0" rIns="0" bIns="0" rtlCol="0" anchor="ctr"/>
          <a:lstStyle/>
          <a:p>
            <a:pPr indent="0" marL="0">
              <a:buNone/>
            </a:pPr>
            <a:r>
              <a:rPr lang="en-US" sz="2200" b="1" dirty="0">
                <a:solidFill>
                  <a:srgbClr val="1F4E79"/>
                </a:solidFill>
                <a:latin typeface="Yu Gothic" pitchFamily="34" charset="0"/>
                <a:ea typeface="Yu Gothic" pitchFamily="34" charset="-122"/>
                <a:cs typeface="Yu Gothic" pitchFamily="34" charset="-120"/>
              </a:rPr>
              <a:t>③ 他のデータでも効くか</a:t>
            </a:r>
            <a:endParaRPr lang="en-US" sz="2200" dirty="0"/>
          </a:p>
        </p:txBody>
      </p:sp>
      <p:sp>
        <p:nvSpPr>
          <p:cNvPr id="10" name="Text 8"/>
          <p:cNvSpPr/>
          <p:nvPr/>
        </p:nvSpPr>
        <p:spPr>
          <a:xfrm>
            <a:off x="4023360" y="4023360"/>
            <a:ext cx="7619695" cy="822960"/>
          </a:xfrm>
          <a:prstGeom prst="rect">
            <a:avLst/>
          </a:prstGeom>
          <a:noFill/>
          <a:ln/>
        </p:spPr>
        <p:txBody>
          <a:bodyPr wrap="square" lIns="0" tIns="0" rIns="0" bIns="0" rtlCol="0" anchor="ctr"/>
          <a:lstStyle/>
          <a:p>
            <a:pPr indent="0" marL="0">
              <a:buNone/>
            </a:pPr>
            <a:r>
              <a:rPr lang="en-US" sz="2000" dirty="0">
                <a:solidFill>
                  <a:srgbClr val="2D2D2D"/>
                </a:solidFill>
                <a:latin typeface="Yu Gothic" pitchFamily="34" charset="0"/>
                <a:ea typeface="Yu Gothic" pitchFamily="34" charset="-122"/>
                <a:cs typeface="Yu Gothic" pitchFamily="34" charset="-120"/>
              </a:rPr>
              <a:t>1つのデータセット（韓国語 TAPS）でしか確かめていない</a:t>
            </a:r>
            <a:endParaRPr lang="en-US" sz="2000" dirty="0"/>
          </a:p>
        </p:txBody>
      </p:sp>
      <p:sp>
        <p:nvSpPr>
          <p:cNvPr id="11" name="Shape 9"/>
          <p:cNvSpPr/>
          <p:nvPr/>
        </p:nvSpPr>
        <p:spPr>
          <a:xfrm>
            <a:off x="548640" y="5029200"/>
            <a:ext cx="11094415" cy="0"/>
          </a:xfrm>
          <a:prstGeom prst="line">
            <a:avLst/>
          </a:prstGeom>
          <a:noFill/>
          <a:ln w="12700">
            <a:solidFill>
              <a:srgbClr val="E6E6E6"/>
            </a:solidFill>
            <a:prstDash val="solid"/>
          </a:ln>
        </p:spPr>
      </p:sp>
      <p:sp>
        <p:nvSpPr>
          <p:cNvPr id="12" name="Text 10"/>
          <p:cNvSpPr/>
          <p:nvPr/>
        </p:nvSpPr>
        <p:spPr>
          <a:xfrm>
            <a:off x="548640" y="5212080"/>
            <a:ext cx="3291840" cy="822960"/>
          </a:xfrm>
          <a:prstGeom prst="rect">
            <a:avLst/>
          </a:prstGeom>
          <a:noFill/>
          <a:ln/>
        </p:spPr>
        <p:txBody>
          <a:bodyPr wrap="square" lIns="0" tIns="0" rIns="0" bIns="0" rtlCol="0" anchor="ctr"/>
          <a:lstStyle/>
          <a:p>
            <a:pPr indent="0" marL="0">
              <a:buNone/>
            </a:pPr>
            <a:r>
              <a:rPr lang="en-US" sz="2200" b="1" dirty="0">
                <a:solidFill>
                  <a:srgbClr val="1F4E79"/>
                </a:solidFill>
                <a:latin typeface="Yu Gothic" pitchFamily="34" charset="0"/>
                <a:ea typeface="Yu Gothic" pitchFamily="34" charset="-122"/>
                <a:cs typeface="Yu Gothic" pitchFamily="34" charset="-120"/>
              </a:rPr>
              <a:t>④ 自分の工夫はどこか</a:t>
            </a:r>
            <a:endParaRPr lang="en-US" sz="2200" dirty="0"/>
          </a:p>
        </p:txBody>
      </p:sp>
      <p:sp>
        <p:nvSpPr>
          <p:cNvPr id="13" name="Text 11"/>
          <p:cNvSpPr/>
          <p:nvPr/>
        </p:nvSpPr>
        <p:spPr>
          <a:xfrm>
            <a:off x="4023360" y="5212080"/>
            <a:ext cx="7619695" cy="822960"/>
          </a:xfrm>
          <a:prstGeom prst="rect">
            <a:avLst/>
          </a:prstGeom>
          <a:noFill/>
          <a:ln/>
        </p:spPr>
        <p:txBody>
          <a:bodyPr wrap="square" lIns="0" tIns="0" rIns="0" bIns="0" rtlCol="0" anchor="ctr"/>
          <a:lstStyle/>
          <a:p>
            <a:pPr indent="0" marL="0">
              <a:buNone/>
            </a:pPr>
            <a:r>
              <a:rPr lang="en-US" sz="2000" dirty="0">
                <a:solidFill>
                  <a:srgbClr val="2D2D2D"/>
                </a:solidFill>
                <a:latin typeface="Yu Gothic" pitchFamily="34" charset="0"/>
                <a:ea typeface="Yu Gothic" pitchFamily="34" charset="-122"/>
                <a:cs typeface="Yu Gothic" pitchFamily="34" charset="-120"/>
              </a:rPr>
              <a:t>公開モデルを調整しただけ（計算も重い）</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次は、認識に向いた生成のさせ方を探し、最後に軽くする</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1920240"/>
                <a:gridCol w="6705295"/>
              </a:tblGrid>
              <a:tr h="548640">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段階</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ねらい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やること</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1051560">
                <a:tc>
                  <a:txBody>
                    <a:bodyPr/>
                    <a:lstStyle/>
                    <a:p>
                      <a:pPr indent="0" marL="0">
                        <a:buNone/>
                      </a:pPr>
                      <a:r>
                        <a:rPr lang="en-US" sz="1700" b="1" dirty="0">
                          <a:solidFill>
                            <a:srgbClr val="2D2D2D"/>
                          </a:solidFill>
                          <a:latin typeface="Yu Gothic" pitchFamily="34" charset="0"/>
                          <a:ea typeface="Yu Gothic" pitchFamily="34" charset="-122"/>
                          <a:cs typeface="Yu Gothic" pitchFamily="34" charset="-120"/>
                        </a:rPr>
                        <a:t>1. 結果を固める</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700" dirty="0">
                          <a:solidFill>
                            <a:srgbClr val="2D2D2D"/>
                          </a:solidFill>
                          <a:latin typeface="Yu Gothic" pitchFamily="34" charset="0"/>
                          <a:ea typeface="Yu Gothic" pitchFamily="34" charset="-122"/>
                          <a:cs typeface="Yu Gothic" pitchFamily="34" charset="-120"/>
                        </a:rPr>
                        <a:t>課題①②</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700" dirty="0">
                          <a:solidFill>
                            <a:srgbClr val="2D2D2D"/>
                          </a:solidFill>
                          <a:latin typeface="Yu Gothic" pitchFamily="34" charset="0"/>
                          <a:ea typeface="Yu Gothic" pitchFamily="34" charset="-122"/>
                          <a:cs typeface="Yu Gothic" pitchFamily="34" charset="-120"/>
                        </a:rPr>
                        <a:t>事前学習なしの同じモデルと比較</a:t>
                      </a:r>
                      <a:endParaRPr lang="en-US" sz="1700" dirty="0">
                        <a:latin typeface="Yu Gothic" charset="0"/>
                        <a:ea typeface="Yu Gothic" charset="0"/>
                        <a:cs typeface="Yu Gothic" charset="0"/>
                      </a:endParaRPr>
                    </a:p>
                    <a:p>
                      <a:pPr indent="0" marL="0">
                        <a:buNone/>
                      </a:pPr>
                      <a:r>
                        <a:rPr lang="en-US" sz="1700" dirty="0">
                          <a:solidFill>
                            <a:srgbClr val="2D2D2D"/>
                          </a:solidFill>
                          <a:latin typeface="Yu Gothic" pitchFamily="34" charset="0"/>
                          <a:ea typeface="Yu Gothic" pitchFamily="34" charset="-122"/>
                          <a:cs typeface="Yu Gothic" pitchFamily="34" charset="-120"/>
                        </a:rPr>
                        <a:t>生成し直し・開発データ・別のデータセット（VibraVox）で再確認</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1051560">
                <a:tc>
                  <a:txBody>
                    <a:bodyPr/>
                    <a:lstStyle/>
                    <a:p>
                      <a:pPr indent="0" marL="0">
                        <a:buNone/>
                      </a:pPr>
                      <a:r>
                        <a:rPr lang="en-US" sz="1700" b="1" dirty="0">
                          <a:solidFill>
                            <a:srgbClr val="1F4E79"/>
                          </a:solidFill>
                          <a:latin typeface="Yu Gothic" pitchFamily="34" charset="0"/>
                          <a:ea typeface="Yu Gothic" pitchFamily="34" charset="-122"/>
                          <a:cs typeface="Yu Gothic" pitchFamily="34" charset="-120"/>
                        </a:rPr>
                        <a:t>2. 生成のさせ方</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700" b="1" dirty="0">
                          <a:solidFill>
                            <a:srgbClr val="1F4E79"/>
                          </a:solidFill>
                          <a:latin typeface="Yu Gothic" pitchFamily="34" charset="0"/>
                          <a:ea typeface="Yu Gothic" pitchFamily="34" charset="-122"/>
                          <a:cs typeface="Yu Gothic" pitchFamily="34" charset="-120"/>
                        </a:rPr>
                        <a:t>本研究の中心</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700" dirty="0">
                          <a:solidFill>
                            <a:srgbClr val="2D2D2D"/>
                          </a:solidFill>
                          <a:latin typeface="Yu Gothic" pitchFamily="34" charset="0"/>
                          <a:ea typeface="Yu Gothic" pitchFamily="34" charset="-122"/>
                          <a:cs typeface="Yu Gothic" pitchFamily="34" charset="-120"/>
                        </a:rPr>
                        <a:t>何回か生成して平均する／互いに一番似た候補を選ぶ</a:t>
                      </a:r>
                      <a:endParaRPr lang="en-US" sz="1700" dirty="0">
                        <a:latin typeface="Yu Gothic" charset="0"/>
                        <a:ea typeface="Yu Gothic" charset="0"/>
                        <a:cs typeface="Yu Gothic" charset="0"/>
                      </a:endParaRPr>
                    </a:p>
                    <a:p>
                      <a:pPr indent="0" marL="0">
                        <a:buNone/>
                      </a:pPr>
                      <a:r>
                        <a:rPr lang="en-US" sz="1700" dirty="0">
                          <a:solidFill>
                            <a:srgbClr val="2D2D2D"/>
                          </a:solidFill>
                          <a:latin typeface="Yu Gothic" pitchFamily="34" charset="0"/>
                          <a:ea typeface="Yu Gothic" pitchFamily="34" charset="-122"/>
                          <a:cs typeface="Yu Gothic" pitchFamily="34" charset="-120"/>
                        </a:rPr>
                        <a:t>ランダムな状態ではなく、元の音声強調の出力から生成を始める</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777240">
                <a:tc>
                  <a:txBody>
                    <a:bodyPr/>
                    <a:lstStyle/>
                    <a:p>
                      <a:pPr indent="0" marL="0">
                        <a:buNone/>
                      </a:pPr>
                      <a:r>
                        <a:rPr lang="en-US" sz="1700" b="1" dirty="0">
                          <a:solidFill>
                            <a:srgbClr val="2D2D2D"/>
                          </a:solidFill>
                          <a:latin typeface="Yu Gothic" pitchFamily="34" charset="0"/>
                          <a:ea typeface="Yu Gothic" pitchFamily="34" charset="-122"/>
                          <a:cs typeface="Yu Gothic" pitchFamily="34" charset="-120"/>
                        </a:rPr>
                        <a:t>3. 軽くする</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700" dirty="0">
                          <a:solidFill>
                            <a:srgbClr val="2D2D2D"/>
                          </a:solidFill>
                          <a:latin typeface="Yu Gothic" pitchFamily="34" charset="0"/>
                          <a:ea typeface="Yu Gothic" pitchFamily="34" charset="-122"/>
                          <a:cs typeface="Yu Gothic" pitchFamily="34" charset="-120"/>
                        </a:rPr>
                        <a:t>実用</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700" dirty="0">
                          <a:solidFill>
                            <a:srgbClr val="2D2D2D"/>
                          </a:solidFill>
                          <a:latin typeface="Yu Gothic" pitchFamily="34" charset="0"/>
                          <a:ea typeface="Yu Gothic" pitchFamily="34" charset="-122"/>
                          <a:cs typeface="Yu Gothic" pitchFamily="34" charset="-120"/>
                        </a:rPr>
                        <a:t>2 の出力を正解にして、軽い音声強調へ蒸留</a:t>
                      </a:r>
                      <a:endParaRPr lang="en-US" sz="17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5349240"/>
            <a:ext cx="11094415" cy="411480"/>
          </a:xfrm>
          <a:prstGeom prst="rect">
            <a:avLst/>
          </a:prstGeom>
          <a:noFill/>
          <a:ln/>
        </p:spPr>
        <p:txBody>
          <a:bodyPr wrap="square" lIns="0" tIns="0" rIns="0" bIns="0" rtlCol="0" anchor="t"/>
          <a:lstStyle/>
          <a:p>
            <a:pPr marL="228600" indent="-228600">
              <a:buSzPct val="100000"/>
              <a:buChar char="•"/>
            </a:pPr>
            <a:r>
              <a:rPr lang="en-US" sz="1800" dirty="0">
                <a:solidFill>
                  <a:srgbClr val="777777"/>
                </a:solidFill>
                <a:latin typeface="Yu Gothic" pitchFamily="34" charset="0"/>
                <a:ea typeface="Yu Gothic" pitchFamily="34" charset="-122"/>
                <a:cs typeface="Yu Gothic" pitchFamily="34" charset="-120"/>
              </a:rPr>
              <a:t>2 は今の学習済みモデルのまま試せる（認識器は使わない）</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参考文献</a:t>
            </a:r>
            <a:endParaRPr lang="en-US" sz="2800" dirty="0"/>
          </a:p>
        </p:txBody>
      </p:sp>
      <p:sp>
        <p:nvSpPr>
          <p:cNvPr id="3" name="Text 1"/>
          <p:cNvSpPr/>
          <p:nvPr/>
        </p:nvSpPr>
        <p:spPr>
          <a:xfrm>
            <a:off x="548640" y="1463040"/>
            <a:ext cx="11094415" cy="45720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TAPS: Y. Kim et al., “Throat and acoustic paired speech dataset for deep learning-based speech enhancement,” Scientific Data, 2026.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Ku et al., “Generative speech foundation model pretraining for high-quality speech extraction and restoration,” arXiv:2409.16117.</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山中 涼雅 ほか, “Zero-shot音声変換を用いた咽喉マイク音声の気導音復元に関する初期検討,” 日本音響学会 2026年秋季, 1-Q-42.</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和田 航次郎 ほか, “咽喉マイク自由発話音声における感情認識の検討,” 日本音響学会 2026年秋季, 1-Q-56.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Sato et al., “Generic speech enhancement with self-supervised representation space loss,” arXiv:2507.07631, 2025.</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J. Hauret et al., “Vibravox: A dataset of French speech captured with body-conduction audio sensors,” Speech Communication, 2025.</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付録：試した6つの方法と結果</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00400"/>
                <a:gridCol w="3749040"/>
                <a:gridCol w="4144975"/>
              </a:tblGrid>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方法</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考え方</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どの認識器でも効いたか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普通のマイク向けの音声強調</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既存の雑音除去をそのまま使う</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誤りが増えた（卒論前半）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Whisperが読みやすい音にする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Whisper系だけ改善、他は悪化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複数の認識器に合わせて学習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入力の違う認識器にも合わせる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学習に使っていない認識器で悪化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4つの音声強調の出力を平均</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各手法の癖を打ち消す（重い）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全9つで改善（−3〜−14%）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特徴を普通のマイクに近づける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認識器に頼らない（Sato ら型）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調べた4つで改善（−7〜−13%）</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生成モデルを調整</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音そのものを作り直す</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 全9つで −15〜−24%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％は元の音声強調（TAPS SE-Conformer）と比べた文字誤り率の相対変化。Sato ら型は開発データ、その他はテストデータの結果で、条件はまだそろっていない</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付録：関連研究</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3017520"/>
                <a:gridCol w="3108960"/>
                <a:gridCol w="2590495"/>
              </a:tblGrid>
              <a:tr h="685800">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研究</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対象</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目的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音声認識の誤り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山中ら（東大 2026）</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喉マイク（韓国語・日本語）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普通のマイクらしい音に変換</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C55A11"/>
                          </a:solidFill>
                          <a:latin typeface="Yu Gothic" pitchFamily="34" charset="0"/>
                          <a:ea typeface="Yu Gothic" pitchFamily="34" charset="-122"/>
                          <a:cs typeface="Yu Gothic" pitchFamily="34" charset="-120"/>
                        </a:rPr>
                        <a:t>どの方法でも増加</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Sato ら（2025）</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普通のマイクの雑音</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認識器に頼らない音声強調</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複数の認識器で減少</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本研究</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どの認識器でも誤りを減らす</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9つすべてで減少</a:t>
                      </a:r>
                      <a:endParaRPr lang="en-US" sz="1500" dirty="0">
                        <a:latin typeface="Yu Gothic" charset="0"/>
                        <a:ea typeface="Yu Gothic" charset="0"/>
                        <a:cs typeface="Yu Gothic" charset="0"/>
                      </a:endParaRPr>
                    </a:p>
                    <a:p>
                      <a:pPr indent="0" marL="0">
                        <a:buNone/>
                      </a:pPr>
                      <a:r>
                        <a:rPr lang="en-US" sz="1500" b="1" dirty="0">
                          <a:solidFill>
                            <a:srgbClr val="1F4E79"/>
                          </a:solidFill>
                          <a:latin typeface="Yu Gothic" pitchFamily="34" charset="0"/>
                          <a:ea typeface="Yu Gothic" pitchFamily="34" charset="-122"/>
                          <a:cs typeface="Yu Gothic" pitchFamily="34" charset="-120"/>
                        </a:rPr>
                        <a:t>（入力の違う認識器も）</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4754880"/>
            <a:ext cx="11094415" cy="822960"/>
          </a:xfrm>
          <a:prstGeom prst="rect">
            <a:avLst/>
          </a:prstGeom>
          <a:noFill/>
          <a:ln/>
        </p:spPr>
        <p:txBody>
          <a:bodyPr wrap="square" lIns="0" tIns="0" rIns="0" bIns="0" rtlCol="0" anchor="t"/>
          <a:lstStyle/>
          <a:p>
            <a:pPr marL="228600" indent="-228600">
              <a:buSzPct val="100000"/>
              <a:buChar char="•"/>
            </a:pPr>
            <a:r>
              <a:rPr lang="en-US" sz="2000" dirty="0">
                <a:solidFill>
                  <a:srgbClr val="2D2D2D"/>
                </a:solidFill>
                <a:latin typeface="Yu Gothic" pitchFamily="34" charset="0"/>
                <a:ea typeface="Yu Gothic" pitchFamily="34" charset="-122"/>
                <a:cs typeface="Yu Gothic" pitchFamily="34" charset="-120"/>
              </a:rPr>
              <a:t>山中らの方が進んでいる点：</a:t>
            </a:r>
            <a:pPr indent="0" marL="0">
              <a:buNone/>
            </a:pPr>
            <a:r>
              <a:rPr lang="en-US" sz="2000" b="1" dirty="0">
                <a:solidFill>
                  <a:srgbClr val="2D2D2D"/>
                </a:solidFill>
                <a:latin typeface="Yu Gothic" pitchFamily="34" charset="0"/>
                <a:ea typeface="Yu Gothic" pitchFamily="34" charset="-122"/>
                <a:cs typeface="Yu Gothic" pitchFamily="34" charset="-120"/>
              </a:rPr>
              <a:t>別の喉マイク・日本語でも検証</a:t>
            </a:r>
            <a:pPr indent="0" marL="0">
              <a:buNone/>
            </a:pPr>
            <a:r>
              <a:rPr lang="en-US" sz="2000" dirty="0">
                <a:solidFill>
                  <a:srgbClr val="2D2D2D"/>
                </a:solidFill>
                <a:latin typeface="Yu Gothic" pitchFamily="34" charset="0"/>
                <a:ea typeface="Yu Gothic" pitchFamily="34" charset="-122"/>
                <a:cs typeface="Yu Gothic" pitchFamily="34" charset="-120"/>
              </a:rPr>
              <a:t>、同時録音のデータが不要</a:t>
            </a:r>
            <a:endParaRPr lang="en-US" sz="20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山中ら: 日本音響学会 2026年秋 1-Q-42（誤り率の基準が本研究と異なる）／Sato et al., arXiv:2507.07631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2026-09-30T17:20:21Z</dcterms:created>
  <dcterms:modified xsi:type="dcterms:W3CDTF">2026-09-30T17:20:21Z</dcterms:modified>
</cp:coreProperties>
</file>