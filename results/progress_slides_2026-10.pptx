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【台本】（約10秒）
進捗を報告します。今日は、予備実験の結果と、そこから見えた課題、関連研究、これからの方針を話します。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【台本】（約50秒）
喉マイクは騒音に強い一方、こもった音になるので、音声認識の誤りが多くなります。そこで、認識の前に音を直す「音声強調」を研究しています。
卒論では、Whisperが正しく書き起こせるように音声強調を学習しました。Whisperや、Whisperと同じ入力を使う認識器では誤りが15%ほど減りましたが、入力の作りが違う認識器では、逆に26〜46%増えました。
そこで目標を、どの音声認識でも誤りが減る前処理にしました。これができれば、クラウドのように作り直せない音声認識にもそのまま使えます。
結論を先に言うと、今回、生成モデルを使って9つすべての認識器で誤りが減りました。
【補足】数値はWhisper-smallの学習で得た音声強調（CE-SE、λ=10）の、TAPSのSE-Conformer比。MMSはほぼ±0。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【台本】（約65秒）
今回一番よかったのが、大量の音声で事前に学習された「音声を作るAI」、生成モデルを、喉マイクと普通のマイクの同時録音で調整したものです。音声認識は学習に一切使っていません。
（図を指して）これは9つの音声認識の文字の誤り率で、灰色が元の音声強調、オレンジが生成モデルです。すべての認識器で誤りが15〜24%減り、テストの10人全員で改善しました。喉マイクで学習し直したWhisperでも、14.6%から11.0%に下がっています。
（右下を指して）ほかに、複数の音声認識に合わせて学習する方法も試しましたが、学習に使っていない認識器ではやはり悪化しました。
ただし、この結果はテストデータで1回生成した分だけで、再現性は確認中です。
【想定質問】
Q. 作り話（ありもしない内容）をしていないか？
A. Whisper-smallで確認した範囲では、崩れた発話は0、出力の長さも変わらず、置き換え・挿入の誤りはむしろ減っている。
Q. Qwen3＋生成モデル（10.4%）は、学習し直したWhisper（SEなし13.8%）より良いのでは？
A. Qwen3は元の音声強調でも13.6%で、差の大半は認識器の強さ。公平に言えるのは「学習し直したWhisper自身も13.8→11.0%に下がる」こと。
Q. 元の音声強調とは？
A. TAPSデータセットの論文で公開されている SE-Conformer（1200万パラメータ）。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【台本】（約65秒）
関連研究です。一番近いのは、今回の音響学会で東大の山中さんたちが発表した研究で、同じTAPSのデータを使っています。声質変換などで喉マイクの音を普通のマイクの音に近づけていて、聞こえは良くなりますが、音声認識の誤りはどの方法でも増えていました。聞こえを良くしても認識は良くならない点は、私の卒論の結果と同じです。
一方、向こうは別の喉マイクや日本語でも確かめていて、同時録音のデータも要りません。ここは私に足りない点です。
Satoらは普通のマイクの雑音除去で、特定の認識器に頼らない方法を提案していて、今回比較対象として再現しました。
喉マイクで、入力の違う複数の音声認識で誤りが減るかを確かめた例は、調べた範囲では見当たりません。
【補足】山中ら：1-Q-42。CERは気導音をWhisperで書き起こした結果を基準にしている（正解テキストではない）。無処理0.233、Sidon 0.308、Kanade(ft) 0.550。
Satoら：Sato, Ochiai, Delcroix ら, Generic Speech Enhancement with Self-Supervised Representation Space Loss（2025）。本研究の再現はWavLM-Large全層のMSE。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【台本】（約50秒）
課題は4つです。
①なぜ効いたのかが、まだ分かっていません。大量の音声での事前学習が効いたのか、単にモデルが大きいからなのかを切り分ける必要があります。
②結果が確かかどうか。今の結果はテストデータで1回生成しただけなので、開発データや生成し直した場合でも同じになるか、先行研究の方法と同じ条件で比べる必要があります。
③別のマイクで効くか。今は1つのデータセット、1種類の喉マイクでしか確かめていません。
④一番大きいのがこれで、今は公開されているモデルを調整しただけなので、手法としての新しさがありません。
【補足】生成モデル：NVIDIA NeMo の flow matching（4.3億パラメータ、非商用ライセンス）。元の音声強調は1200万パラメータ。1発話の変換に20段階の計算。
事前学習なしの対照実験は約7000/20000ステップで研究室PCが停止し中断。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【台本】（約60秒）
これからの方針です。まず1週間ほどで、課題①②の確認をします。事前学習なしで同じモデルを学習して比べることと、開発データや生成し直しでの再確認です。
次の1週間で、③別のマイクで効くかを、フランス語の公開データで確かめます。
その先で、④手法としての工夫を入れたいと考えています。候補は、マイクの情報を手がかりとして与えて少ないデータで別のマイクに対応する方法と、生成を複数回行って平均し、誤りを安定して減らす方法です。
最後に、ここに挙げた3つについてご意見をいただけると助かります。以上です。
【補足】VibraVoxはマイクと言語が同時に変わるため、効果の切り分けには日本語の自前収録が有効（相談1の理由）。複数回の平均は、以前4つの音声強調の出力を平均すると全認識器で改善した知見から。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68680" y="192024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B45F1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ゼミ 進捗報告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" y="2423160"/>
            <a:ext cx="1082009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喉マイクの音声を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「どの音声認識でも読める音」に直す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0624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生成モデルの予備実験・課題・関連研究・これからの方針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48463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春日 裕次　／　2026年10月1日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Whisperに合わせた音声強調は、作りの違う音声認識で逆効果だった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5544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BFAF7"/>
          </a:solidFill>
          <a:ln w="12700">
            <a:solidFill>
              <a:srgbClr val="D8D3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554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喉マイクの音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騒音に強いが、こもった音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813048" y="1874520"/>
            <a:ext cx="292608" cy="27432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06240" y="15544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BF1E7"/>
          </a:solidFill>
          <a:ln w="25400">
            <a:solidFill>
              <a:srgbClr val="D97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0" y="1554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音声強調（前処理）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認識の前に音を直す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33488" y="1874520"/>
            <a:ext cx="292608" cy="27432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26680" y="15544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BFAF7"/>
          </a:solidFill>
          <a:ln w="12700">
            <a:solidFill>
              <a:srgbClr val="D8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26680" y="1554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音声認識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どれにでもつなげられる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27432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卒論の方法：Whisperが正しく書き起こせるように音声強調を学習 → 誤りの増減（元の音声強調と比べて）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40680" y="3108960"/>
            <a:ext cx="0" cy="1874520"/>
          </a:xfrm>
          <a:prstGeom prst="line">
            <a:avLst/>
          </a:prstGeom>
          <a:noFill/>
          <a:ln w="12700">
            <a:solidFill>
              <a:srgbClr val="9AA3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154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Whisper-small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Whisperと同じ入力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411980" y="3246120"/>
            <a:ext cx="1028700" cy="292608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97580" y="32461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−15%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611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Qwen3-ASR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Whisperと同じ入力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43400" y="3703320"/>
            <a:ext cx="1097280" cy="292608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37033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−16%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XLS-R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入力が違う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40680" y="4160520"/>
            <a:ext cx="1783080" cy="292608"/>
          </a:xfrm>
          <a:prstGeom prst="rect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0" y="41605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977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+26%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4526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Zipformer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入力が違う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40680" y="4617720"/>
            <a:ext cx="3154680" cy="292608"/>
          </a:xfrm>
          <a:prstGeom prst="rect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0" y="46177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977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+46%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611880" y="5029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← 誤りが減る　　誤りが増える →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85800" y="534924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F2A37"/>
          </a:solidFill>
          <a:ln w="12700">
            <a:solidFill>
              <a:srgbClr val="1F2A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534924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目標：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7F6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どの音声認識でも誤りが減る前処理（クラウドなど作り直せない認識器にもそのまま使える）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今回、生成モデルで9つすべての誤りが減った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生成モデルで、9つの音声認識すべての誤りが減った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47472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文字の誤り率（%）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4720" y="1737360"/>
            <a:ext cx="0" cy="4160520"/>
          </a:xfrm>
          <a:prstGeom prst="line">
            <a:avLst/>
          </a:prstGeom>
          <a:noFill/>
          <a:ln w="12700">
            <a:solidFill>
              <a:srgbClr val="E2DED5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200400" y="5916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85360" y="1737360"/>
            <a:ext cx="0" cy="4160520"/>
          </a:xfrm>
          <a:prstGeom prst="line">
            <a:avLst/>
          </a:prstGeom>
          <a:noFill/>
          <a:ln w="12700">
            <a:solidFill>
              <a:srgbClr val="E2DED5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11040" y="5916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96000" y="1737360"/>
            <a:ext cx="0" cy="4160520"/>
          </a:xfrm>
          <a:prstGeom prst="line">
            <a:avLst/>
          </a:prstGeom>
          <a:noFill/>
          <a:ln w="12700">
            <a:solidFill>
              <a:srgbClr val="E2DED5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821680" y="5916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06640" y="1737360"/>
            <a:ext cx="0" cy="4160520"/>
          </a:xfrm>
          <a:prstGeom prst="line">
            <a:avLst/>
          </a:prstGeom>
          <a:noFill/>
          <a:ln w="12700">
            <a:solidFill>
              <a:srgbClr val="E2DED5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132320" y="5916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18288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Zipformer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30213" y="1965960"/>
            <a:ext cx="596341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44258" y="18836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38773" y="18745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0" y="18288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−17%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22860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MMS-1B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21020" y="2423160"/>
            <a:ext cx="347320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86044" y="23408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29580" y="23317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0" y="22860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−15%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27432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Whisper-base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903318" y="2880360"/>
            <a:ext cx="360426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81448" y="27980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11878" y="27889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0" y="27432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−20%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85800" y="32004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Whisper-small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54296" y="3337560"/>
            <a:ext cx="327660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99660" y="32552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62856" y="32461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0" y="32004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−22%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85800" y="3657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XLS-R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582211" y="3794760"/>
            <a:ext cx="347320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7234" y="37124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90771" y="37033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0" y="36576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−24%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85800" y="41148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Whisper-medium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516679" y="4251960"/>
            <a:ext cx="242468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76851" y="41696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25239" y="41605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98080" y="41148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−19%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85800" y="45720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Whisper-large-v3-turbo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4372508" y="4709160"/>
            <a:ext cx="216256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06468" y="46268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81068" y="46177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0" y="45720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−19%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85800" y="50292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Whisper（喉マイクで学習し直し）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4195572" y="5166360"/>
            <a:ext cx="235915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49191" y="50840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04132" y="50749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98080" y="50292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−24%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685800" y="54864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Qwen3-ASR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4156253" y="5623560"/>
            <a:ext cx="209702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283659" y="55412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064813" y="55321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498080" y="54864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−24%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4937760" y="1481328"/>
            <a:ext cx="146304" cy="146304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20640" y="1417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元の音声強調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217920" y="1481328"/>
            <a:ext cx="146304" cy="146304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00800" y="1417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321040" y="1463040"/>
            <a:ext cx="3184855" cy="2377440"/>
          </a:xfrm>
          <a:prstGeom prst="rect">
            <a:avLst/>
          </a:prstGeom>
          <a:solidFill>
            <a:srgbClr val="FBFAF7"/>
          </a:solidFill>
          <a:ln w="12700">
            <a:solidFill>
              <a:srgbClr val="FBFAF7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321040" y="1463040"/>
            <a:ext cx="3184855" cy="54864"/>
          </a:xfrm>
          <a:prstGeom prst="rect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549640" y="1645920"/>
            <a:ext cx="2727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5F1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何をしたか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8549640" y="2057400"/>
            <a:ext cx="27276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大量の音声で事前に学習された</a:t>
            </a:r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「音声を作るAI」（生成モデル）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を、喉マイクと普通のマイクの同時録音で調整。</a:t>
            </a:r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音声認識は学習に使っていない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321040" y="4023360"/>
            <a:ext cx="3184855" cy="1874520"/>
          </a:xfrm>
          <a:prstGeom prst="rect">
            <a:avLst/>
          </a:prstGeom>
          <a:solidFill>
            <a:srgbClr val="FBFAF7"/>
          </a:solidFill>
          <a:ln w="12700">
            <a:solidFill>
              <a:srgbClr val="FBFAF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321040" y="4023360"/>
            <a:ext cx="3184855" cy="54864"/>
          </a:xfrm>
          <a:prstGeom prst="rect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549640" y="4206240"/>
            <a:ext cx="2727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ほかに試した方法</a:t>
            </a:r>
            <a:endParaRPr lang="en-US" sz="1500" dirty="0"/>
          </a:p>
        </p:txBody>
      </p:sp>
      <p:sp>
        <p:nvSpPr>
          <p:cNvPr id="68" name="Text 66"/>
          <p:cNvSpPr/>
          <p:nvPr/>
        </p:nvSpPr>
        <p:spPr>
          <a:xfrm>
            <a:off x="8549640" y="4572000"/>
            <a:ext cx="27276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複数の音声認識に合わせて学習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学習に使っていない認識器で悪化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音声の特徴を普通のマイクに近づける（Sato ら型）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4つの認識器で改善（同じ条件での比較はこれから）</a:t>
            </a:r>
            <a:endParaRPr lang="en-US" sz="1250" dirty="0"/>
          </a:p>
        </p:txBody>
      </p:sp>
      <p:sp>
        <p:nvSpPr>
          <p:cNvPr id="69" name="Text 67"/>
          <p:cNvSpPr/>
          <p:nvPr/>
        </p:nvSpPr>
        <p:spPr>
          <a:xfrm>
            <a:off x="685800" y="626364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テスト話者10人全員で改善（全認識器）。ただしテストデータで1回生成した分のみ。開発データ・再生成での確認は実行中。Zipformer は空白込みの誤り率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聞こえを良くする研究はあるが、どの音声認識でも効くかは未確認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22960" y="1508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0" y="1508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39496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目的・方法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874520"/>
            <a:ext cx="10820095" cy="960120"/>
          </a:xfrm>
          <a:prstGeom prst="rect">
            <a:avLst/>
          </a:prstGeom>
          <a:solidFill>
            <a:srgbClr val="FBFAF7"/>
          </a:solidFill>
          <a:ln w="9525">
            <a:solidFill>
              <a:srgbClr val="D8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74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山中ら</a:t>
            </a:r>
            <a:pPr indent="0" marL="0">
              <a:lnSpc>
                <a:spcPct val="120000"/>
              </a:lnSpc>
              <a:buNone/>
            </a:pP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東大・2026秋 音響学会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00400" y="18745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（TAPS＋日本語）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394960" y="187452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普通のマイクらしい音へ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（声質変換・帯域拡張）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12480" y="1874520"/>
            <a:ext cx="29562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聞こえは改善、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B45F1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認識の誤りはどの方法でも増加</a:t>
            </a:r>
            <a:pPr indent="0" marL="0">
              <a:lnSpc>
                <a:spcPct val="120000"/>
              </a:lnSpc>
              <a:buNone/>
            </a:pP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※誤りの測り方は本研究と異なる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85800" y="2926080"/>
            <a:ext cx="10820095" cy="960120"/>
          </a:xfrm>
          <a:prstGeom prst="rect">
            <a:avLst/>
          </a:prstGeom>
          <a:solidFill>
            <a:srgbClr val="FBFAF7"/>
          </a:solidFill>
          <a:ln w="9525">
            <a:solidFill>
              <a:srgbClr val="D8D3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926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Sato ら</a:t>
            </a:r>
            <a:pPr indent="0" marL="0">
              <a:lnSpc>
                <a:spcPct val="120000"/>
              </a:lnSpc>
              <a:buNone/>
            </a:pP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200400" y="292608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普通のマイク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（雑音除去）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394960" y="29260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特定の認識器に頼らない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音声強調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412480" y="2926080"/>
            <a:ext cx="29562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複数の認識器で改善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本研究で比較対象として再現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85800" y="3977640"/>
            <a:ext cx="10820095" cy="960120"/>
          </a:xfrm>
          <a:prstGeom prst="rect">
            <a:avLst/>
          </a:prstGeom>
          <a:solidFill>
            <a:srgbClr val="FBF1E7"/>
          </a:solidFill>
          <a:ln w="9525">
            <a:solidFill>
              <a:srgbClr val="D8D3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9776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B45F1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本研究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200400" y="39776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（TAPS）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394960" y="3977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どの音声認識でも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誤りを減らす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0" y="3977640"/>
            <a:ext cx="29562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入力の違う9つの認識器すべてで改善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85800" y="5120640"/>
            <a:ext cx="10820095" cy="960120"/>
          </a:xfrm>
          <a:prstGeom prst="rect">
            <a:avLst/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5120640"/>
            <a:ext cx="10820095" cy="54864"/>
          </a:xfrm>
          <a:prstGeom prst="rect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523036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山中らが上の点：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別の喉マイク・日本語でも検証／同時録音のデータが要らない　→　本研究の課題（次ページ）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85800" y="626364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その他：和田ら（神戸大・三菱電機、2026秋 音響学会）喉マイクの感情認識でも、汎用の雑音除去を通すと認識が悪化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現状の課題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7F6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効果は大きいが、理由・確かさ・広がり・自分の工夫がまだ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5295748" cy="1965960"/>
          </a:xfrm>
          <a:prstGeom prst="roundRect">
            <a:avLst>
              <a:gd name="adj" fmla="val 3721"/>
            </a:avLst>
          </a:prstGeom>
          <a:solidFill>
            <a:srgbClr val="2A3747"/>
          </a:solidFill>
          <a:ln w="12700">
            <a:solidFill>
              <a:srgbClr val="2A37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11680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なぜ効いたか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560320"/>
            <a:ext cx="47471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DCE2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「大量の音声での事前学習」のおかげか、単にモデルが大きい（元の約35倍）からか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10148" y="1783080"/>
            <a:ext cx="5295748" cy="1965960"/>
          </a:xfrm>
          <a:prstGeom prst="roundRect">
            <a:avLst>
              <a:gd name="adj" fmla="val 3721"/>
            </a:avLst>
          </a:prstGeom>
          <a:solidFill>
            <a:srgbClr val="2A3747"/>
          </a:solidFill>
          <a:ln w="12700">
            <a:solidFill>
              <a:srgbClr val="2A37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84468" y="2011680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結果は確かか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84468" y="2560320"/>
            <a:ext cx="47471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DCE2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テストデータで1回生成しただけ。開発データ・再生成での確認、先行研究の方法との同じ条件での比較がまだ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" y="3977640"/>
            <a:ext cx="5295748" cy="1965960"/>
          </a:xfrm>
          <a:prstGeom prst="roundRect">
            <a:avLst>
              <a:gd name="adj" fmla="val 3721"/>
            </a:avLst>
          </a:prstGeom>
          <a:solidFill>
            <a:srgbClr val="2A3747"/>
          </a:solidFill>
          <a:ln w="12700">
            <a:solidFill>
              <a:srgbClr val="2A37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206240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別のマイクで効くか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0120" y="4754880"/>
            <a:ext cx="47471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DCE2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データセット1つ・喉マイク1種類でしか確かめていない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10148" y="3977640"/>
            <a:ext cx="5295748" cy="1965960"/>
          </a:xfrm>
          <a:prstGeom prst="roundRect">
            <a:avLst>
              <a:gd name="adj" fmla="val 3721"/>
            </a:avLst>
          </a:prstGeom>
          <a:solidFill>
            <a:srgbClr val="2A3747"/>
          </a:solidFill>
          <a:ln w="12700">
            <a:solidFill>
              <a:srgbClr val="2A37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84468" y="4206240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自分の工夫はどこか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84468" y="4754880"/>
            <a:ext cx="47471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DCE2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公開モデルを調整しただけで、手法としての新しさがない（計算が重いことも課題）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まず結果を確かめ、そのうえで手法の工夫に進む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508760"/>
            <a:ext cx="3454298" cy="2926080"/>
          </a:xfrm>
          <a:prstGeom prst="rect">
            <a:avLst/>
          </a:prstGeom>
          <a:solidFill>
            <a:srgbClr val="FBFAF7"/>
          </a:solidFill>
          <a:ln w="12700">
            <a:solidFill>
              <a:srgbClr val="FBFA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508760"/>
            <a:ext cx="3454298" cy="54864"/>
          </a:xfrm>
          <a:prstGeom prst="rect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9164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6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〜1週間</a:t>
            </a:r>
            <a:pPr indent="0" marL="0">
              <a:buNone/>
            </a:pPr>
            <a:r>
              <a:rPr lang="en-US" sz="1700" b="1" dirty="0">
                <a:solidFill>
                  <a:srgbClr val="2F6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課題①②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29970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事前学習なしで同じモデルを学習して比較</a:t>
            </a:r>
            <a:endParaRPr lang="en-US" sz="1400" dirty="0"/>
          </a:p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開発データ・生成し直しで再確認</a:t>
            </a:r>
            <a:endParaRPr lang="en-US" sz="1400" dirty="0"/>
          </a:p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先行研究の方法と同じ条件で比較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158386" y="2834640"/>
            <a:ext cx="182880" cy="27432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68698" y="1508760"/>
            <a:ext cx="3454298" cy="2926080"/>
          </a:xfrm>
          <a:prstGeom prst="rect">
            <a:avLst/>
          </a:prstGeom>
          <a:solidFill>
            <a:srgbClr val="FBFAF7"/>
          </a:solidFill>
          <a:ln w="12700">
            <a:solidFill>
              <a:srgbClr val="FBFA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68698" y="1508760"/>
            <a:ext cx="3454298" cy="54864"/>
          </a:xfrm>
          <a:prstGeom prst="rect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7298" y="169164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77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〜2週間</a:t>
            </a:r>
            <a:pPr indent="0" marL="0">
              <a:buNone/>
            </a:pPr>
            <a:r>
              <a:rPr lang="en-US" sz="1700" b="1" dirty="0">
                <a:solidFill>
                  <a:srgbClr val="D977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課題③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97298" y="2194560"/>
            <a:ext cx="29970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別の喉マイク：仏語の公開データ（VibraVox）</a:t>
            </a:r>
            <a:endParaRPr lang="en-US" sz="1400" dirty="0"/>
          </a:p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汎用の音声復元ツール（Sidon）とも比較</a:t>
            </a:r>
            <a:endParaRPr lang="en-US" sz="1400" dirty="0"/>
          </a:p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処理時間を測る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41285" y="2834640"/>
            <a:ext cx="182880" cy="27432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51597" y="1508760"/>
            <a:ext cx="3454298" cy="2926080"/>
          </a:xfrm>
          <a:prstGeom prst="rect">
            <a:avLst/>
          </a:prstGeom>
          <a:solidFill>
            <a:srgbClr val="FBFAF7"/>
          </a:solidFill>
          <a:ln w="12700">
            <a:solidFill>
              <a:srgbClr val="FBFA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51597" y="1508760"/>
            <a:ext cx="3454298" cy="54864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80197" y="169164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その先</a:t>
            </a:r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課題④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80197" y="2194560"/>
            <a:ext cx="29970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マイクの情報を手がかりに、少ないデータで別のマイクへ対応</a:t>
            </a:r>
            <a:endParaRPr lang="en-US" sz="1400" dirty="0"/>
          </a:p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生成を複数回行って平均し、誤りを安定して減らす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4663440"/>
            <a:ext cx="10820095" cy="1417320"/>
          </a:xfrm>
          <a:prstGeom prst="roundRect">
            <a:avLst>
              <a:gd name="adj" fmla="val 5161"/>
            </a:avLst>
          </a:prstGeom>
          <a:solidFill>
            <a:srgbClr val="1F2A37"/>
          </a:solidFill>
          <a:ln w="12700">
            <a:solidFill>
              <a:srgbClr val="1F2A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773168"/>
            <a:ext cx="10271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相談したいこと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0120" y="512064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7F6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別のマイクでの検証のために、日本語で自分でも録音すべきか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7F6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手法の新しさをどこに置くのがよいか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7F6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非商用ライセンスの公開モデルを土台にしてよいか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2026-09-30T11:41:26Z</dcterms:created>
  <dcterms:modified xsi:type="dcterms:W3CDTF">2026-09-30T11:41:26Z</dcterms:modified>
</cp:coreProperties>
</file>