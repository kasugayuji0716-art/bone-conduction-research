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元の音声強調（TAPS）</c:v>
                </c:pt>
              </c:strCache>
            </c:strRef>
          </c:tx>
          <c:spPr>
            <a:solidFill>
              <a:srgbClr val="A6A6A6"/>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Sheet1!$A$2:$A$7</c:f>
              <c:multiLvlStrCache>
                <c:ptCount val="6"/>
                <c:lvl>
                  <c:pt idx="0">
                    <c:v>Whisper-small</c:v>
                  </c:pt>
                  <c:pt idx="1">
                    <c:v>Whisper-base</c:v>
                  </c:pt>
                  <c:pt idx="2">
                    <c:v>Whisper-medium</c:v>
                  </c:pt>
                  <c:pt idx="3">
                    <c:v>large-v3-turbo</c:v>
                  </c:pt>
                  <c:pt idx="4">
                    <c:v>Whisper（喉マイクで再学習）</c:v>
                  </c:pt>
                  <c:pt idx="5">
                    <c:v>Qwen3-ASR</c:v>
                  </c:pt>
                </c:lvl>
              </c:multiLvlStrCache>
            </c:multiLvlStrRef>
          </c:cat>
          <c:val>
            <c:numRef>
              <c:f>Sheet1!$B$2:$B$7</c:f>
              <c:numCache>
                <c:formatCode>General</c:formatCode>
                <c:ptCount val="6"/>
                <c:pt idx="0">
                  <c:v>22.97</c:v>
                </c:pt>
                <c:pt idx="1">
                  <c:v>27.26</c:v>
                </c:pt>
                <c:pt idx="2">
                  <c:v>19.62</c:v>
                </c:pt>
                <c:pt idx="3">
                  <c:v>16.97</c:v>
                </c:pt>
                <c:pt idx="4">
                  <c:v>14.62</c:v>
                </c:pt>
                <c:pt idx="5">
                  <c:v>13.59</c:v>
                </c:pt>
              </c:numCache>
            </c:numRef>
          </c:val>
        </c:ser>
        <c:ser>
          <c:idx val="1"/>
          <c:order val="1"/>
          <c:tx>
            <c:strRef>
              <c:f>Sheet1!$C$1</c:f>
              <c:strCache>
                <c:ptCount val="1"/>
                <c:pt idx="0">
                  <c:v>生成モデルのみ</c:v>
                </c:pt>
              </c:strCache>
            </c:strRef>
          </c:tx>
          <c:spPr>
            <a:solidFill>
              <a:srgbClr val="2E75B6"/>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Sheet1!$A$2:$A$7</c:f>
              <c:multiLvlStrCache>
                <c:ptCount val="6"/>
                <c:lvl>
                  <c:pt idx="0">
                    <c:v>Whisper-small</c:v>
                  </c:pt>
                  <c:pt idx="1">
                    <c:v>Whisper-base</c:v>
                  </c:pt>
                  <c:pt idx="2">
                    <c:v>Whisper-medium</c:v>
                  </c:pt>
                  <c:pt idx="3">
                    <c:v>large-v3-turbo</c:v>
                  </c:pt>
                  <c:pt idx="4">
                    <c:v>Whisper（喉マイクで再学習）</c:v>
                  </c:pt>
                  <c:pt idx="5">
                    <c:v>Qwen3-ASR</c:v>
                  </c:pt>
                </c:lvl>
              </c:multiLvlStrCache>
            </c:multiLvlStrRef>
          </c:cat>
          <c:val>
            <c:numRef>
              <c:f>Sheet1!$C$2:$C$7</c:f>
              <c:numCache>
                <c:formatCode>General</c:formatCode>
                <c:ptCount val="6"/>
                <c:pt idx="0">
                  <c:v>16.85</c:v>
                </c:pt>
                <c:pt idx="1">
                  <c:v>20.48</c:v>
                </c:pt>
                <c:pt idx="2">
                  <c:v>15.049999999999999</c:v>
                </c:pt>
                <c:pt idx="3">
                  <c:v>13.120000000000001</c:v>
                </c:pt>
                <c:pt idx="4">
                  <c:v>10</c:v>
                </c:pt>
                <c:pt idx="5">
                  <c:v>9.68</c:v>
                </c:pt>
              </c:numCache>
            </c:numRef>
          </c:val>
        </c:ser>
        <c:ser>
          <c:idx val="2"/>
          <c:order val="2"/>
          <c:tx>
            <c:strRef>
              <c:f>Sheet1!$D$1</c:f>
              <c:strCache>
                <c:ptCount val="1"/>
                <c:pt idx="0">
                  <c:v>混ぜたもの</c:v>
                </c:pt>
              </c:strCache>
            </c:strRef>
          </c:tx>
          <c:spPr>
            <a:solidFill>
              <a:srgbClr val="1F4E79"/>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Sheet1!$A$2:$A$7</c:f>
              <c:multiLvlStrCache>
                <c:ptCount val="6"/>
                <c:lvl>
                  <c:pt idx="0">
                    <c:v>Whisper-small</c:v>
                  </c:pt>
                  <c:pt idx="1">
                    <c:v>Whisper-base</c:v>
                  </c:pt>
                  <c:pt idx="2">
                    <c:v>Whisper-medium</c:v>
                  </c:pt>
                  <c:pt idx="3">
                    <c:v>large-v3-turbo</c:v>
                  </c:pt>
                  <c:pt idx="4">
                    <c:v>Whisper（喉マイクで再学習）</c:v>
                  </c:pt>
                  <c:pt idx="5">
                    <c:v>Qwen3-ASR</c:v>
                  </c:pt>
                </c:lvl>
              </c:multiLvlStrCache>
            </c:multiLvlStrRef>
          </c:cat>
          <c:val>
            <c:numRef>
              <c:f>Sheet1!$D$2:$D$7</c:f>
              <c:numCache>
                <c:formatCode>General</c:formatCode>
                <c:ptCount val="6"/>
                <c:pt idx="0">
                  <c:v>16.33</c:v>
                </c:pt>
                <c:pt idx="1">
                  <c:v>20.11</c:v>
                </c:pt>
                <c:pt idx="2">
                  <c:v>14.360000000000001</c:v>
                </c:pt>
                <c:pt idx="3">
                  <c:v>12.479999999999999</c:v>
                </c:pt>
                <c:pt idx="4">
                  <c:v>9.2</c:v>
                </c:pt>
                <c:pt idx="5">
                  <c:v>9.36</c:v>
                </c:pt>
              </c:numCache>
            </c:numRef>
          </c:val>
        </c:ser>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D2D2D"/>
                </a:solidFill>
                <a:latin typeface="Yu Gothic"/>
              </a:defRPr>
            </a:pPr>
            <a:endParaRPr lang="en-US"/>
          </a:p>
        </c:txPr>
        <c:crossAx val="2094734552"/>
        <c:crosses val="autoZero"/>
        <c:auto val="1"/>
        <c:lblAlgn val="ctr"/>
        <c:noMultiLvlLbl val="1"/>
      </c:catAx>
      <c:valAx>
        <c:axId val="2094734552"/>
        <c:scaling>
          <c:orientation val="minMax"/>
          <c:max val="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2D2D2D"/>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【台本】（約30秒）
喉マイクの音を2つの処理に通します。上は生成モデルで、欠けた高い音を自然な声として描き足します。4回生成して平均します。下は、Whisper が正しく書き起こせるように学習した音声強調です。この2つの出力の振幅を半々で混ぜて、Whisper 系の認識器に入れます。混ぜるだけなので、新しい学習はいりません。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結果です。灰色が元の音声強調、青が生成モデルのみ、紺が混ぜたものです。混ぜたものは Whisper 系の6つすべてで一番誤りが少なく、元の音声強調より 26〜37% 減りました。生成モデルのみと比べても、さらに 2〜8% 減っています。学習に使ったのは Whisper-small だけですが、学習に使っていない medium や large-v3-turbo にも効いています。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【台本】（約30秒）
ただし副作用もありました。Whisper と作りの違う Zipformer では、混ぜると逆に 12% 悪くなりました。そこで、Whisper 用の音声強調の重みを3割だけ元に戻し、混ぜ方も対数での平均に変えると、Whisper 系の効果はそのままで、Zipformer の悪化は 2% まで小さくなりました。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この研究で分かったことは3つです。1つ目、Whisper の損失で学習した音声強調は、作りの違う認識器では逆に悪くなります。2つ目、事前学習済みの生成モデルは、どの認識器でも効きます。3つ目、Whisper に効いているのは声の大まかな形で、悪影響は喉マイクに元々無い高い音から来ています。
価値としては、クラウドのように中身を変えられない Whisper 系の認識器でも、前処理だけで誤りを 26〜37% 減らせることです。また、欠けた音は生成で補い、Whisper 向けの調整は外側で控えめに足す、という設計の指針になります。一方で、別の機種の喉マイクではそのままでは効かないという限界も分かりました。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生成モデルの出力に、Whisper 用の音声強調を半分混ぜる</a:t>
            </a:r>
            <a:endParaRPr lang="en-US" sz="2800" dirty="0"/>
          </a:p>
        </p:txBody>
      </p:sp>
      <p:sp>
        <p:nvSpPr>
          <p:cNvPr id="3" name="Text 1"/>
          <p:cNvSpPr/>
          <p:nvPr/>
        </p:nvSpPr>
        <p:spPr>
          <a:xfrm>
            <a:off x="548640" y="2423160"/>
            <a:ext cx="1737360" cy="822960"/>
          </a:xfrm>
          <a:prstGeom prst="rect">
            <a:avLst/>
          </a:prstGeom>
          <a:noFill/>
          <a:ln/>
        </p:spPr>
        <p:txBody>
          <a:bodyPr wrap="square" lIns="0" tIns="0" rIns="0" bIns="0" rtlCol="0" anchor="ctr"/>
          <a:lstStyle/>
          <a:p>
            <a:pPr indent="0" marL="0">
              <a:buNone/>
            </a:pPr>
            <a:r>
              <a:rPr lang="en-US" sz="1800" b="1" dirty="0">
                <a:solidFill>
                  <a:srgbClr val="2D2D2D"/>
                </a:solidFill>
                <a:latin typeface="Yu Gothic" pitchFamily="34" charset="0"/>
                <a:ea typeface="Yu Gothic" pitchFamily="34" charset="-122"/>
                <a:cs typeface="Yu Gothic" pitchFamily="34" charset="-120"/>
              </a:rPr>
              <a:t>喉マイクの音</a:t>
            </a:r>
            <a:endParaRPr lang="en-US" sz="1800" dirty="0"/>
          </a:p>
        </p:txBody>
      </p:sp>
      <p:sp>
        <p:nvSpPr>
          <p:cNvPr id="4" name="Shape 2"/>
          <p:cNvSpPr/>
          <p:nvPr/>
        </p:nvSpPr>
        <p:spPr>
          <a:xfrm>
            <a:off x="2331720" y="2240280"/>
            <a:ext cx="0" cy="1600200"/>
          </a:xfrm>
          <a:prstGeom prst="line">
            <a:avLst/>
          </a:prstGeom>
          <a:noFill/>
          <a:ln w="19050">
            <a:solidFill>
              <a:srgbClr val="A6A6A6"/>
            </a:solidFill>
            <a:prstDash val="solid"/>
          </a:ln>
        </p:spPr>
      </p:sp>
      <p:sp>
        <p:nvSpPr>
          <p:cNvPr id="5" name="Shape 3"/>
          <p:cNvSpPr/>
          <p:nvPr/>
        </p:nvSpPr>
        <p:spPr>
          <a:xfrm>
            <a:off x="2423160" y="2125980"/>
            <a:ext cx="274320" cy="274320"/>
          </a:xfrm>
          <a:prstGeom prst="rightArrow">
            <a:avLst/>
          </a:prstGeom>
          <a:solidFill>
            <a:srgbClr val="A6A6A6"/>
          </a:solidFill>
          <a:ln w="12700">
            <a:solidFill>
              <a:srgbClr val="A6A6A6"/>
            </a:solidFill>
            <a:prstDash val="solid"/>
          </a:ln>
        </p:spPr>
      </p:sp>
      <p:sp>
        <p:nvSpPr>
          <p:cNvPr id="6" name="Shape 4"/>
          <p:cNvSpPr/>
          <p:nvPr/>
        </p:nvSpPr>
        <p:spPr>
          <a:xfrm>
            <a:off x="2834640" y="1691640"/>
            <a:ext cx="4206240" cy="1143000"/>
          </a:xfrm>
          <a:prstGeom prst="rect">
            <a:avLst/>
          </a:prstGeom>
          <a:solidFill>
            <a:srgbClr val="FFFFFF"/>
          </a:solidFill>
          <a:ln w="12700">
            <a:solidFill>
              <a:srgbClr val="CCCCCC"/>
            </a:solidFill>
            <a:prstDash val="solid"/>
          </a:ln>
        </p:spPr>
      </p:sp>
      <p:sp>
        <p:nvSpPr>
          <p:cNvPr id="7" name="Text 5"/>
          <p:cNvSpPr/>
          <p:nvPr/>
        </p:nvSpPr>
        <p:spPr>
          <a:xfrm>
            <a:off x="3017520" y="1828800"/>
            <a:ext cx="3931920" cy="411480"/>
          </a:xfrm>
          <a:prstGeom prst="rect">
            <a:avLst/>
          </a:prstGeom>
          <a:noFill/>
          <a:ln/>
        </p:spPr>
        <p:txBody>
          <a:bodyPr wrap="square" lIns="0" tIns="0" rIns="0" bIns="0" rtlCol="0" anchor="t"/>
          <a:lstStyle/>
          <a:p>
            <a:pPr indent="0" marL="0">
              <a:buNone/>
            </a:pPr>
            <a:r>
              <a:rPr lang="en-US" sz="1700" b="1" dirty="0">
                <a:solidFill>
                  <a:srgbClr val="1F4E79"/>
                </a:solidFill>
                <a:latin typeface="Yu Gothic" pitchFamily="34" charset="0"/>
                <a:ea typeface="Yu Gothic" pitchFamily="34" charset="-122"/>
                <a:cs typeface="Yu Gothic" pitchFamily="34" charset="-120"/>
              </a:rPr>
              <a:t>生成モデル（喉マイク用に調整）</a:t>
            </a:r>
            <a:endParaRPr lang="en-US" sz="1700" dirty="0"/>
          </a:p>
        </p:txBody>
      </p:sp>
      <p:sp>
        <p:nvSpPr>
          <p:cNvPr id="8" name="Text 6"/>
          <p:cNvSpPr/>
          <p:nvPr/>
        </p:nvSpPr>
        <p:spPr>
          <a:xfrm>
            <a:off x="3017520" y="2258568"/>
            <a:ext cx="3931920" cy="502920"/>
          </a:xfrm>
          <a:prstGeom prst="rect">
            <a:avLst/>
          </a:prstGeom>
          <a:noFill/>
          <a:ln/>
        </p:spPr>
        <p:txBody>
          <a:bodyPr wrap="square" lIns="0" tIns="0" rIns="0" bIns="0" rtlCol="0" anchor="t"/>
          <a:lstStyle/>
          <a:p>
            <a:pPr indent="0" marL="0">
              <a:buNone/>
            </a:pPr>
            <a:r>
              <a:rPr lang="en-US" sz="1500" dirty="0">
                <a:solidFill>
                  <a:srgbClr val="2D2D2D"/>
                </a:solidFill>
                <a:latin typeface="Yu Gothic" pitchFamily="34" charset="0"/>
                <a:ea typeface="Yu Gothic" pitchFamily="34" charset="-122"/>
                <a:cs typeface="Yu Gothic" pitchFamily="34" charset="-120"/>
              </a:rPr>
              <a:t>欠けた音を描き足す。4回生成して振幅を平均</a:t>
            </a:r>
            <a:endParaRPr lang="en-US" sz="1500" dirty="0"/>
          </a:p>
        </p:txBody>
      </p:sp>
      <p:sp>
        <p:nvSpPr>
          <p:cNvPr id="9" name="Shape 7"/>
          <p:cNvSpPr/>
          <p:nvPr/>
        </p:nvSpPr>
        <p:spPr>
          <a:xfrm>
            <a:off x="7178040" y="2125980"/>
            <a:ext cx="274320" cy="274320"/>
          </a:xfrm>
          <a:prstGeom prst="rightArrow">
            <a:avLst/>
          </a:prstGeom>
          <a:solidFill>
            <a:srgbClr val="A6A6A6"/>
          </a:solidFill>
          <a:ln w="12700">
            <a:solidFill>
              <a:srgbClr val="A6A6A6"/>
            </a:solidFill>
            <a:prstDash val="solid"/>
          </a:ln>
        </p:spPr>
      </p:sp>
      <p:sp>
        <p:nvSpPr>
          <p:cNvPr id="10" name="Shape 8"/>
          <p:cNvSpPr/>
          <p:nvPr/>
        </p:nvSpPr>
        <p:spPr>
          <a:xfrm>
            <a:off x="2423160" y="3863340"/>
            <a:ext cx="274320" cy="274320"/>
          </a:xfrm>
          <a:prstGeom prst="rightArrow">
            <a:avLst/>
          </a:prstGeom>
          <a:solidFill>
            <a:srgbClr val="A6A6A6"/>
          </a:solidFill>
          <a:ln w="12700">
            <a:solidFill>
              <a:srgbClr val="A6A6A6"/>
            </a:solidFill>
            <a:prstDash val="solid"/>
          </a:ln>
        </p:spPr>
      </p:sp>
      <p:sp>
        <p:nvSpPr>
          <p:cNvPr id="11" name="Shape 9"/>
          <p:cNvSpPr/>
          <p:nvPr/>
        </p:nvSpPr>
        <p:spPr>
          <a:xfrm>
            <a:off x="2834640" y="3429000"/>
            <a:ext cx="4206240" cy="1143000"/>
          </a:xfrm>
          <a:prstGeom prst="rect">
            <a:avLst/>
          </a:prstGeom>
          <a:solidFill>
            <a:srgbClr val="FFFFFF"/>
          </a:solidFill>
          <a:ln w="12700">
            <a:solidFill>
              <a:srgbClr val="CCCCCC"/>
            </a:solidFill>
            <a:prstDash val="solid"/>
          </a:ln>
        </p:spPr>
      </p:sp>
      <p:sp>
        <p:nvSpPr>
          <p:cNvPr id="12" name="Text 10"/>
          <p:cNvSpPr/>
          <p:nvPr/>
        </p:nvSpPr>
        <p:spPr>
          <a:xfrm>
            <a:off x="3017520" y="3566160"/>
            <a:ext cx="3931920" cy="411480"/>
          </a:xfrm>
          <a:prstGeom prst="rect">
            <a:avLst/>
          </a:prstGeom>
          <a:noFill/>
          <a:ln/>
        </p:spPr>
        <p:txBody>
          <a:bodyPr wrap="square" lIns="0" tIns="0" rIns="0" bIns="0" rtlCol="0" anchor="t"/>
          <a:lstStyle/>
          <a:p>
            <a:pPr indent="0" marL="0">
              <a:buNone/>
            </a:pPr>
            <a:r>
              <a:rPr lang="en-US" sz="1700" b="1" dirty="0">
                <a:solidFill>
                  <a:srgbClr val="1F4E79"/>
                </a:solidFill>
                <a:latin typeface="Yu Gothic" pitchFamily="34" charset="0"/>
                <a:ea typeface="Yu Gothic" pitchFamily="34" charset="-122"/>
                <a:cs typeface="Yu Gothic" pitchFamily="34" charset="-120"/>
              </a:rPr>
              <a:t>Whisper 用の音声強調</a:t>
            </a:r>
            <a:endParaRPr lang="en-US" sz="1700" dirty="0"/>
          </a:p>
        </p:txBody>
      </p:sp>
      <p:sp>
        <p:nvSpPr>
          <p:cNvPr id="13" name="Text 11"/>
          <p:cNvSpPr/>
          <p:nvPr/>
        </p:nvSpPr>
        <p:spPr>
          <a:xfrm>
            <a:off x="3017520" y="3995928"/>
            <a:ext cx="3931920" cy="502920"/>
          </a:xfrm>
          <a:prstGeom prst="rect">
            <a:avLst/>
          </a:prstGeom>
          <a:noFill/>
          <a:ln/>
        </p:spPr>
        <p:txBody>
          <a:bodyPr wrap="square" lIns="0" tIns="0" rIns="0" bIns="0" rtlCol="0" anchor="t"/>
          <a:lstStyle/>
          <a:p>
            <a:pPr indent="0" marL="0">
              <a:buNone/>
            </a:pPr>
            <a:r>
              <a:rPr lang="en-US" sz="1500" dirty="0">
                <a:solidFill>
                  <a:srgbClr val="2D2D2D"/>
                </a:solidFill>
                <a:latin typeface="Yu Gothic" pitchFamily="34" charset="0"/>
                <a:ea typeface="Yu Gothic" pitchFamily="34" charset="-122"/>
                <a:cs typeface="Yu Gothic" pitchFamily="34" charset="-120"/>
              </a:rPr>
              <a:t>Whisper-small が正しく書けるよう学習</a:t>
            </a:r>
            <a:endParaRPr lang="en-US" sz="1500" dirty="0"/>
          </a:p>
        </p:txBody>
      </p:sp>
      <p:sp>
        <p:nvSpPr>
          <p:cNvPr id="14" name="Shape 12"/>
          <p:cNvSpPr/>
          <p:nvPr/>
        </p:nvSpPr>
        <p:spPr>
          <a:xfrm>
            <a:off x="7178040" y="3863340"/>
            <a:ext cx="274320" cy="274320"/>
          </a:xfrm>
          <a:prstGeom prst="rightArrow">
            <a:avLst/>
          </a:prstGeom>
          <a:solidFill>
            <a:srgbClr val="A6A6A6"/>
          </a:solidFill>
          <a:ln w="12700">
            <a:solidFill>
              <a:srgbClr val="A6A6A6"/>
            </a:solidFill>
            <a:prstDash val="solid"/>
          </a:ln>
        </p:spPr>
      </p:sp>
      <p:sp>
        <p:nvSpPr>
          <p:cNvPr id="15" name="Shape 13"/>
          <p:cNvSpPr/>
          <p:nvPr/>
        </p:nvSpPr>
        <p:spPr>
          <a:xfrm>
            <a:off x="7635240" y="2194560"/>
            <a:ext cx="2377440" cy="1737360"/>
          </a:xfrm>
          <a:prstGeom prst="rect">
            <a:avLst/>
          </a:prstGeom>
          <a:solidFill>
            <a:srgbClr val="FFFFFF"/>
          </a:solidFill>
          <a:ln w="25400">
            <a:solidFill>
              <a:srgbClr val="1F4E79"/>
            </a:solidFill>
            <a:prstDash val="solid"/>
          </a:ln>
        </p:spPr>
      </p:sp>
      <p:sp>
        <p:nvSpPr>
          <p:cNvPr id="16" name="Text 14"/>
          <p:cNvSpPr/>
          <p:nvPr/>
        </p:nvSpPr>
        <p:spPr>
          <a:xfrm>
            <a:off x="7772400" y="2194560"/>
            <a:ext cx="2103120" cy="1737360"/>
          </a:xfrm>
          <a:prstGeom prst="rect">
            <a:avLst/>
          </a:prstGeom>
          <a:noFill/>
          <a:ln/>
        </p:spPr>
        <p:txBody>
          <a:bodyPr wrap="square" lIns="0" tIns="0" rIns="0" bIns="0" rtlCol="0" anchor="ctr"/>
          <a:lstStyle/>
          <a:p>
            <a:pPr algn="ctr" indent="0" marL="0">
              <a:lnSpc>
                <a:spcPct val="130000"/>
              </a:lnSpc>
              <a:buNone/>
            </a:pPr>
            <a:r>
              <a:rPr lang="en-US" sz="1700" b="1" dirty="0">
                <a:solidFill>
                  <a:srgbClr val="1F4E79"/>
                </a:solidFill>
                <a:latin typeface="Yu Gothic" pitchFamily="34" charset="0"/>
                <a:ea typeface="Yu Gothic" pitchFamily="34" charset="-122"/>
                <a:cs typeface="Yu Gothic" pitchFamily="34" charset="-120"/>
              </a:rPr>
              <a:t>振幅を半々で平均</a:t>
            </a:r>
            <a:endParaRPr lang="en-US" sz="1700" dirty="0"/>
          </a:p>
          <a:p>
            <a:pPr algn="ctr" indent="0" marL="0">
              <a:lnSpc>
                <a:spcPct val="130000"/>
              </a:lnSpc>
              <a:buNone/>
            </a:pPr>
            <a:r>
              <a:rPr lang="en-US" sz="1500" dirty="0">
                <a:solidFill>
                  <a:srgbClr val="2D2D2D"/>
                </a:solidFill>
                <a:latin typeface="Yu Gothic" pitchFamily="34" charset="0"/>
                <a:ea typeface="Yu Gothic" pitchFamily="34" charset="-122"/>
                <a:cs typeface="Yu Gothic" pitchFamily="34" charset="-120"/>
              </a:rPr>
              <a:t>位相は生成モデル</a:t>
            </a:r>
            <a:endParaRPr lang="en-US" sz="1700" dirty="0"/>
          </a:p>
        </p:txBody>
      </p:sp>
      <p:sp>
        <p:nvSpPr>
          <p:cNvPr id="17" name="Shape 15"/>
          <p:cNvSpPr/>
          <p:nvPr/>
        </p:nvSpPr>
        <p:spPr>
          <a:xfrm>
            <a:off x="10149840" y="2926080"/>
            <a:ext cx="274320" cy="274320"/>
          </a:xfrm>
          <a:prstGeom prst="rightArrow">
            <a:avLst/>
          </a:prstGeom>
          <a:solidFill>
            <a:srgbClr val="A6A6A6"/>
          </a:solidFill>
          <a:ln w="12700">
            <a:solidFill>
              <a:srgbClr val="A6A6A6"/>
            </a:solidFill>
            <a:prstDash val="solid"/>
          </a:ln>
        </p:spPr>
      </p:sp>
      <p:sp>
        <p:nvSpPr>
          <p:cNvPr id="18" name="Text 16"/>
          <p:cNvSpPr/>
          <p:nvPr/>
        </p:nvSpPr>
        <p:spPr>
          <a:xfrm>
            <a:off x="10561320" y="2194560"/>
            <a:ext cx="1097280" cy="1737360"/>
          </a:xfrm>
          <a:prstGeom prst="rect">
            <a:avLst/>
          </a:prstGeom>
          <a:noFill/>
          <a:ln/>
        </p:spPr>
        <p:txBody>
          <a:bodyPr wrap="square" lIns="0" tIns="0" rIns="0" bIns="0" rtlCol="0" anchor="ctr"/>
          <a:lstStyle/>
          <a:p>
            <a:pPr indent="0" marL="0">
              <a:buNone/>
            </a:pPr>
            <a:r>
              <a:rPr lang="en-US" sz="1700" b="1" dirty="0">
                <a:solidFill>
                  <a:srgbClr val="2D2D2D"/>
                </a:solidFill>
                <a:latin typeface="Yu Gothic" pitchFamily="34" charset="0"/>
                <a:ea typeface="Yu Gothic" pitchFamily="34" charset="-122"/>
                <a:cs typeface="Yu Gothic" pitchFamily="34" charset="-120"/>
              </a:rPr>
              <a:t>Whisper 系の</a:t>
            </a:r>
            <a:endParaRPr lang="en-US" sz="1700" dirty="0"/>
          </a:p>
          <a:p>
            <a:pPr indent="0" marL="0">
              <a:buNone/>
            </a:pPr>
            <a:r>
              <a:rPr lang="en-US" sz="1700" b="1" dirty="0">
                <a:solidFill>
                  <a:srgbClr val="2D2D2D"/>
                </a:solidFill>
                <a:latin typeface="Yu Gothic" pitchFamily="34" charset="0"/>
                <a:ea typeface="Yu Gothic" pitchFamily="34" charset="-122"/>
                <a:cs typeface="Yu Gothic" pitchFamily="34" charset="-120"/>
              </a:rPr>
              <a:t>認識器</a:t>
            </a:r>
            <a:endParaRPr lang="en-US" sz="1700" dirty="0"/>
          </a:p>
        </p:txBody>
      </p:sp>
      <p:sp>
        <p:nvSpPr>
          <p:cNvPr id="19" name="Text 17"/>
          <p:cNvSpPr/>
          <p:nvPr/>
        </p:nvSpPr>
        <p:spPr>
          <a:xfrm>
            <a:off x="548640" y="4892040"/>
            <a:ext cx="11094415" cy="1188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D2D2D"/>
                </a:solidFill>
                <a:latin typeface="Yu Gothic" pitchFamily="34" charset="0"/>
                <a:ea typeface="Yu Gothic" pitchFamily="34" charset="-122"/>
                <a:cs typeface="Yu Gothic" pitchFamily="34" charset="-120"/>
              </a:rPr>
              <a:t>混ぜる割合 0.5 は、開発データで Whisper-small だけを見て決めた</a:t>
            </a:r>
            <a:endParaRPr lang="en-US" sz="1800" dirty="0"/>
          </a:p>
          <a:p>
            <a:pPr marL="228600" indent="-228600">
              <a:spcAft>
                <a:spcPts val="1000"/>
              </a:spcAft>
              <a:buSzPct val="100000"/>
              <a:buChar char="•"/>
            </a:pPr>
            <a:r>
              <a:rPr lang="en-US" sz="1800" dirty="0">
                <a:solidFill>
                  <a:srgbClr val="2D2D2D"/>
                </a:solidFill>
                <a:latin typeface="Yu Gothic" pitchFamily="34" charset="0"/>
                <a:ea typeface="Yu Gothic" pitchFamily="34" charset="-122"/>
                <a:cs typeface="Yu Gothic" pitchFamily="34" charset="-120"/>
              </a:rPr>
              <a:t>新たな学習は不要（部品はどちらも学習済み）</a:t>
            </a:r>
            <a:endParaRPr lang="en-US" sz="1800" dirty="0"/>
          </a:p>
        </p:txBody>
      </p:sp>
      <p:sp>
        <p:nvSpPr>
          <p:cNvPr id="20" name="Text 18"/>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生成モデル: NVIDIA の flow matching（4.3億パラメータ、Ku et al., arXiv:2409.16117）を TAPS で追加学習</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混ぜると、Whisper 系6つすべてで誤りがさらに減った</a:t>
            </a:r>
            <a:endParaRPr lang="en-US" sz="2800" dirty="0"/>
          </a:p>
        </p:txBody>
      </p:sp>
      <p:graphicFrame>
        <p:nvGraphicFramePr>
          <p:cNvPr id="3" name="Chart 0" descr=""/>
          <p:cNvGraphicFramePr/>
          <p:nvPr/>
        </p:nvGraphicFramePr>
        <p:xfrm>
          <a:off x="548640" y="137160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138160" y="1645920"/>
            <a:ext cx="3504895" cy="4389120"/>
          </a:xfrm>
          <a:prstGeom prst="rect">
            <a:avLst/>
          </a:prstGeom>
          <a:noFill/>
          <a:ln/>
        </p:spPr>
        <p:txBody>
          <a:bodyPr wrap="square" lIns="0" tIns="0" rIns="0" bIns="0" rtlCol="0" anchor="t"/>
          <a:lstStyle/>
          <a:p>
            <a:pPr marL="228600" indent="-228600">
              <a:lnSpc>
                <a:spcPct val="120000"/>
              </a:lnSpc>
              <a:spcAft>
                <a:spcPts val="1800"/>
              </a:spcAft>
              <a:buSzPct val="100000"/>
              <a:buChar char="•"/>
            </a:pPr>
            <a:r>
              <a:rPr lang="en-US" sz="1800" dirty="0">
                <a:solidFill>
                  <a:srgbClr val="2D2D2D"/>
                </a:solidFill>
                <a:latin typeface="Yu Gothic" pitchFamily="34" charset="0"/>
                <a:ea typeface="Yu Gothic" pitchFamily="34" charset="-122"/>
                <a:cs typeface="Yu Gothic" pitchFamily="34" charset="-120"/>
              </a:rPr>
              <a:t>元の音声強調より</a:t>
            </a:r>
            <a:pPr indent="0" marL="0">
              <a:lnSpc>
                <a:spcPct val="120000"/>
              </a:lnSpc>
              <a:spcAft>
                <a:spcPts val="1800"/>
              </a:spcAft>
              <a:buNone/>
            </a:pPr>
            <a:r>
              <a:rPr lang="en-US" sz="1800" b="1" dirty="0">
                <a:solidFill>
                  <a:srgbClr val="2D2D2D"/>
                </a:solidFill>
                <a:latin typeface="Yu Gothic" pitchFamily="34" charset="0"/>
                <a:ea typeface="Yu Gothic" pitchFamily="34" charset="-122"/>
                <a:cs typeface="Yu Gothic" pitchFamily="34" charset="-120"/>
              </a:rPr>
              <a:t>26〜37% 減</a:t>
            </a:r>
            <a:endParaRPr lang="en-US" sz="1800" dirty="0"/>
          </a:p>
          <a:p>
            <a:pPr marL="228600" indent="-228600">
              <a:lnSpc>
                <a:spcPct val="120000"/>
              </a:lnSpc>
              <a:spcAft>
                <a:spcPts val="1800"/>
              </a:spcAft>
              <a:buSzPct val="100000"/>
              <a:buChar char="•"/>
            </a:pPr>
            <a:r>
              <a:rPr lang="en-US" sz="1800" dirty="0">
                <a:solidFill>
                  <a:srgbClr val="2D2D2D"/>
                </a:solidFill>
                <a:latin typeface="Yu Gothic" pitchFamily="34" charset="0"/>
                <a:ea typeface="Yu Gothic" pitchFamily="34" charset="-122"/>
                <a:cs typeface="Yu Gothic" pitchFamily="34" charset="-120"/>
              </a:rPr>
              <a:t>生成モデルのみより</a:t>
            </a:r>
            <a:pPr indent="0" marL="0">
              <a:lnSpc>
                <a:spcPct val="120000"/>
              </a:lnSpc>
              <a:spcAft>
                <a:spcPts val="1800"/>
              </a:spcAft>
              <a:buNone/>
            </a:pPr>
            <a:r>
              <a:rPr lang="en-US" sz="1800" b="1" dirty="0">
                <a:solidFill>
                  <a:srgbClr val="2D2D2D"/>
                </a:solidFill>
                <a:latin typeface="Yu Gothic" pitchFamily="34" charset="0"/>
                <a:ea typeface="Yu Gothic" pitchFamily="34" charset="-122"/>
                <a:cs typeface="Yu Gothic" pitchFamily="34" charset="-120"/>
              </a:rPr>
              <a:t>2〜8% 減</a:t>
            </a:r>
            <a:endParaRPr lang="en-US" sz="1800" dirty="0"/>
          </a:p>
          <a:p>
            <a:pPr marL="228600" indent="-228600">
              <a:lnSpc>
                <a:spcPct val="120000"/>
              </a:lnSpc>
              <a:spcAft>
                <a:spcPts val="1800"/>
              </a:spcAft>
              <a:buSzPct val="100000"/>
              <a:buChar char="•"/>
            </a:pPr>
            <a:r>
              <a:rPr lang="en-US" sz="1800" dirty="0">
                <a:solidFill>
                  <a:srgbClr val="2D2D2D"/>
                </a:solidFill>
                <a:latin typeface="Yu Gothic" pitchFamily="34" charset="0"/>
                <a:ea typeface="Yu Gothic" pitchFamily="34" charset="-122"/>
                <a:cs typeface="Yu Gothic" pitchFamily="34" charset="-120"/>
              </a:rPr>
              <a:t>学習に使っていない Whisper にも効いた</a:t>
            </a:r>
            <a:endParaRPr lang="en-US" sz="18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文字誤り率（%）、TAPS テスト 1000発話。生成モデルのみとの差は 4つで有意（medium・turbo・再学習 Whisper・small）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他の認識器への悪影響は、混ぜ方を工夫すればほぼ消せる</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2651760"/>
                <a:gridCol w="1618488"/>
                <a:gridCol w="1618488"/>
                <a:gridCol w="1609344"/>
              </a:tblGrid>
              <a:tr h="475488">
                <a:tc>
                  <a:txBody>
                    <a:bodyPr/>
                    <a:lstStyle/>
                    <a:p>
                      <a:pPr indent="0" marL="0">
                        <a:buNone/>
                      </a:pP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生成モデルのみ</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混ぜたもの</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混ぜ方を工夫</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475488">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Whisper-small</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16.9</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Whisper-base</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20.5</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20.1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19.9</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Whisper（再学習）</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10.0</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9.2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9.2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Qwen3-ASR</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9.7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9.4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9.3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600" dirty="0">
                          <a:solidFill>
                            <a:srgbClr val="2E75B6"/>
                          </a:solidFill>
                          <a:latin typeface="Yu Gothic" pitchFamily="34" charset="0"/>
                          <a:ea typeface="Yu Gothic" pitchFamily="34" charset="-122"/>
                          <a:cs typeface="Yu Gothic" pitchFamily="34" charset="-120"/>
                        </a:rPr>
                        <a:t>XLS-R（対照）</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16.1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600" dirty="0">
                          <a:solidFill>
                            <a:srgbClr val="2E75B6"/>
                          </a:solidFill>
                          <a:latin typeface="Yu Gothic" pitchFamily="34" charset="0"/>
                          <a:ea typeface="Yu Gothic" pitchFamily="34" charset="-122"/>
                          <a:cs typeface="Yu Gothic" pitchFamily="34" charset="-120"/>
                        </a:rPr>
                        <a:t>Zipformer（対照）</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43.3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C55A11"/>
                          </a:solidFill>
                          <a:latin typeface="Yu Gothic" pitchFamily="34" charset="0"/>
                          <a:ea typeface="Yu Gothic" pitchFamily="34" charset="-122"/>
                          <a:cs typeface="Yu Gothic" pitchFamily="34" charset="-120"/>
                        </a:rPr>
                        <a:t>48.3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44.2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8412480" y="1554480"/>
            <a:ext cx="3230575" cy="4389120"/>
          </a:xfrm>
          <a:prstGeom prst="rect">
            <a:avLst/>
          </a:prstGeom>
          <a:noFill/>
          <a:ln/>
        </p:spPr>
        <p:txBody>
          <a:bodyPr wrap="square" lIns="0" tIns="0" rIns="0" bIns="0" rtlCol="0" anchor="t"/>
          <a:lstStyle/>
          <a:p>
            <a:pPr marL="228600" indent="-228600">
              <a:lnSpc>
                <a:spcPct val="120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混ぜると、Whisper 以外の Zipformer は</a:t>
            </a:r>
            <a:pPr indent="0" marL="0">
              <a:lnSpc>
                <a:spcPct val="120000"/>
              </a:lnSpc>
              <a:spcAft>
                <a:spcPts val="1600"/>
              </a:spcAft>
              <a:buNone/>
            </a:pPr>
            <a:r>
              <a:rPr lang="en-US" sz="1700" b="1" dirty="0">
                <a:solidFill>
                  <a:srgbClr val="C55A11"/>
                </a:solidFill>
                <a:latin typeface="Yu Gothic" pitchFamily="34" charset="0"/>
                <a:ea typeface="Yu Gothic" pitchFamily="34" charset="-122"/>
                <a:cs typeface="Yu Gothic" pitchFamily="34" charset="-120"/>
              </a:rPr>
              <a:t>12% 悪化</a:t>
            </a:r>
            <a:endParaRPr lang="en-US" sz="1700" dirty="0"/>
          </a:p>
          <a:p>
            <a:pPr marL="228600" indent="-228600">
              <a:lnSpc>
                <a:spcPct val="120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工夫：音声強調の重みを</a:t>
            </a:r>
            <a:pPr indent="0" marL="0">
              <a:lnSpc>
                <a:spcPct val="120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3割元に戻し</a:t>
            </a:r>
            <a:pPr indent="0" marL="0">
              <a:lnSpc>
                <a:spcPct val="120000"/>
              </a:lnSpc>
              <a:spcAft>
                <a:spcPts val="1600"/>
              </a:spcAft>
              <a:buNone/>
            </a:pPr>
            <a:r>
              <a:rPr lang="en-US" sz="1700" dirty="0">
                <a:solidFill>
                  <a:srgbClr val="2D2D2D"/>
                </a:solidFill>
                <a:latin typeface="Yu Gothic" pitchFamily="34" charset="0"/>
                <a:ea typeface="Yu Gothic" pitchFamily="34" charset="-122"/>
                <a:cs typeface="Yu Gothic" pitchFamily="34" charset="-120"/>
              </a:rPr>
              <a:t>、</a:t>
            </a:r>
            <a:pPr indent="0" marL="0">
              <a:lnSpc>
                <a:spcPct val="120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対数で</a:t>
            </a:r>
            <a:pPr indent="0" marL="0">
              <a:lnSpc>
                <a:spcPct val="120000"/>
              </a:lnSpc>
              <a:spcAft>
                <a:spcPts val="1600"/>
              </a:spcAft>
              <a:buNone/>
            </a:pPr>
            <a:r>
              <a:rPr lang="en-US" sz="1700" dirty="0">
                <a:solidFill>
                  <a:srgbClr val="2D2D2D"/>
                </a:solidFill>
                <a:latin typeface="Yu Gothic" pitchFamily="34" charset="0"/>
                <a:ea typeface="Yu Gothic" pitchFamily="34" charset="-122"/>
                <a:cs typeface="Yu Gothic" pitchFamily="34" charset="-120"/>
              </a:rPr>
              <a:t>混ぜる</a:t>
            </a:r>
            <a:endParaRPr lang="en-US" sz="1700" dirty="0"/>
          </a:p>
          <a:p>
            <a:pPr marL="228600" indent="-228600">
              <a:lnSpc>
                <a:spcPct val="120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Whisper 系はそのままで、</a:t>
            </a:r>
            <a:pPr indent="0" marL="0">
              <a:lnSpc>
                <a:spcPct val="120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悪化は 2% に縮小</a:t>
            </a:r>
            <a:endParaRPr lang="en-US" sz="17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文字誤り率（%）。工夫 = Whisper 用音声強調と元の音声強調の重みを 7:3 で内挿し、生成モデルの出力と対数振幅で平均</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欠けた音の補完と Whisper への合わせ込みは、分けて設計できる</a:t>
            </a:r>
            <a:endParaRPr lang="en-US" sz="2800" dirty="0"/>
          </a:p>
        </p:txBody>
      </p:sp>
      <p:sp>
        <p:nvSpPr>
          <p:cNvPr id="3" name="Text 1"/>
          <p:cNvSpPr/>
          <p:nvPr/>
        </p:nvSpPr>
        <p:spPr>
          <a:xfrm>
            <a:off x="548640" y="1463040"/>
            <a:ext cx="5486400" cy="411480"/>
          </a:xfrm>
          <a:prstGeom prst="rect">
            <a:avLst/>
          </a:prstGeom>
          <a:noFill/>
          <a:ln/>
        </p:spPr>
        <p:txBody>
          <a:bodyPr wrap="square" lIns="0" tIns="0" rIns="0" bIns="0" rtlCol="0" anchor="t"/>
          <a:lstStyle/>
          <a:p>
            <a:pPr indent="0" marL="0">
              <a:buNone/>
            </a:pPr>
            <a:r>
              <a:rPr lang="en-US" sz="2000" b="1" dirty="0">
                <a:solidFill>
                  <a:srgbClr val="1F4E79"/>
                </a:solidFill>
                <a:latin typeface="Yu Gothic" pitchFamily="34" charset="0"/>
                <a:ea typeface="Yu Gothic" pitchFamily="34" charset="-122"/>
                <a:cs typeface="Yu Gothic" pitchFamily="34" charset="-120"/>
              </a:rPr>
              <a:t>分かったこと</a:t>
            </a:r>
            <a:endParaRPr lang="en-US" sz="2000" dirty="0"/>
          </a:p>
        </p:txBody>
      </p:sp>
      <p:sp>
        <p:nvSpPr>
          <p:cNvPr id="4" name="Text 2"/>
          <p:cNvSpPr/>
          <p:nvPr/>
        </p:nvSpPr>
        <p:spPr>
          <a:xfrm>
            <a:off x="548640" y="1965960"/>
            <a:ext cx="5486400" cy="3291840"/>
          </a:xfrm>
          <a:prstGeom prst="rect">
            <a:avLst/>
          </a:prstGeom>
          <a:noFill/>
          <a:ln/>
        </p:spPr>
        <p:txBody>
          <a:bodyPr wrap="square" lIns="0" tIns="0" rIns="0" bIns="0" rtlCol="0" anchor="t"/>
          <a:lstStyle/>
          <a:p>
            <a:pPr indent="0" marL="0">
              <a:lnSpc>
                <a:spcPct val="125000"/>
              </a:lnSpc>
              <a:spcAft>
                <a:spcPts val="1600"/>
              </a:spcAft>
              <a:buNone/>
            </a:pPr>
            <a:r>
              <a:rPr lang="en-US" sz="1700" b="1" dirty="0">
                <a:solidFill>
                  <a:srgbClr val="1F4E79"/>
                </a:solidFill>
                <a:latin typeface="Yu Gothic" pitchFamily="34" charset="0"/>
                <a:ea typeface="Yu Gothic" pitchFamily="34" charset="-122"/>
                <a:cs typeface="Yu Gothic" pitchFamily="34" charset="-120"/>
              </a:rPr>
              <a:t>1. </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Whisper の損失で学習した音声強調は、作りの違う認識器では</a:t>
            </a:r>
            <a:pPr indent="0" marL="0">
              <a:lnSpc>
                <a:spcPct val="125000"/>
              </a:lnSpc>
              <a:spcAft>
                <a:spcPts val="1600"/>
              </a:spcAft>
              <a:buNone/>
            </a:pPr>
            <a:r>
              <a:rPr lang="en-US" sz="1700" b="1" dirty="0">
                <a:solidFill>
                  <a:srgbClr val="C55A11"/>
                </a:solidFill>
                <a:latin typeface="Yu Gothic" pitchFamily="34" charset="0"/>
                <a:ea typeface="Yu Gothic" pitchFamily="34" charset="-122"/>
                <a:cs typeface="Yu Gothic" pitchFamily="34" charset="-120"/>
              </a:rPr>
              <a:t>逆に悪化</a:t>
            </a:r>
            <a:endParaRPr lang="en-US" sz="1700" dirty="0"/>
          </a:p>
          <a:p>
            <a:pPr indent="0" marL="0">
              <a:lnSpc>
                <a:spcPct val="125000"/>
              </a:lnSpc>
              <a:spcAft>
                <a:spcPts val="1600"/>
              </a:spcAft>
              <a:buNone/>
            </a:pPr>
            <a:r>
              <a:rPr lang="en-US" sz="1700" b="1" dirty="0">
                <a:solidFill>
                  <a:srgbClr val="1F4E79"/>
                </a:solidFill>
                <a:latin typeface="Yu Gothic" pitchFamily="34" charset="0"/>
                <a:ea typeface="Yu Gothic" pitchFamily="34" charset="-122"/>
                <a:cs typeface="Yu Gothic" pitchFamily="34" charset="-120"/>
              </a:rPr>
              <a:t>2. </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事前学習済みの生成モデルは、</a:t>
            </a:r>
            <a:pPr indent="0" marL="0">
              <a:lnSpc>
                <a:spcPct val="12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どの認識器にも効く</a:t>
            </a:r>
            <a:endParaRPr lang="en-US" sz="1700" dirty="0"/>
          </a:p>
          <a:p>
            <a:pPr indent="0" marL="0">
              <a:lnSpc>
                <a:spcPct val="125000"/>
              </a:lnSpc>
              <a:spcAft>
                <a:spcPts val="1600"/>
              </a:spcAft>
              <a:buNone/>
            </a:pPr>
            <a:r>
              <a:rPr lang="en-US" sz="1700" b="1" dirty="0">
                <a:solidFill>
                  <a:srgbClr val="1F4E79"/>
                </a:solidFill>
                <a:latin typeface="Yu Gothic" pitchFamily="34" charset="0"/>
                <a:ea typeface="Yu Gothic" pitchFamily="34" charset="-122"/>
                <a:cs typeface="Yu Gothic" pitchFamily="34" charset="-120"/>
              </a:rPr>
              <a:t>3. </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効くのは声の大まかな形。害は</a:t>
            </a:r>
            <a:pPr indent="0" marL="0">
              <a:lnSpc>
                <a:spcPct val="12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元々無い高い音</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から</a:t>
            </a:r>
            <a:endParaRPr lang="en-US" sz="1700" dirty="0"/>
          </a:p>
        </p:txBody>
      </p:sp>
      <p:sp>
        <p:nvSpPr>
          <p:cNvPr id="5" name="Shape 3"/>
          <p:cNvSpPr/>
          <p:nvPr/>
        </p:nvSpPr>
        <p:spPr>
          <a:xfrm>
            <a:off x="6355080" y="1554480"/>
            <a:ext cx="0" cy="2743200"/>
          </a:xfrm>
          <a:prstGeom prst="line">
            <a:avLst/>
          </a:prstGeom>
          <a:noFill/>
          <a:ln w="12700">
            <a:solidFill>
              <a:srgbClr val="CCCCCC"/>
            </a:solidFill>
            <a:prstDash val="solid"/>
          </a:ln>
        </p:spPr>
      </p:sp>
      <p:sp>
        <p:nvSpPr>
          <p:cNvPr id="6" name="Text 4"/>
          <p:cNvSpPr/>
          <p:nvPr/>
        </p:nvSpPr>
        <p:spPr>
          <a:xfrm>
            <a:off x="6675120" y="1463040"/>
            <a:ext cx="4967935" cy="411480"/>
          </a:xfrm>
          <a:prstGeom prst="rect">
            <a:avLst/>
          </a:prstGeom>
          <a:noFill/>
          <a:ln/>
        </p:spPr>
        <p:txBody>
          <a:bodyPr wrap="square" lIns="0" tIns="0" rIns="0" bIns="0" rtlCol="0" anchor="t"/>
          <a:lstStyle/>
          <a:p>
            <a:pPr indent="0" marL="0">
              <a:buNone/>
            </a:pPr>
            <a:r>
              <a:rPr lang="en-US" sz="2000" b="1" dirty="0">
                <a:solidFill>
                  <a:srgbClr val="1F4E79"/>
                </a:solidFill>
                <a:latin typeface="Yu Gothic" pitchFamily="34" charset="0"/>
                <a:ea typeface="Yu Gothic" pitchFamily="34" charset="-122"/>
                <a:cs typeface="Yu Gothic" pitchFamily="34" charset="-120"/>
              </a:rPr>
              <a:t>この研究の価値</a:t>
            </a:r>
            <a:endParaRPr lang="en-US" sz="2000" dirty="0"/>
          </a:p>
        </p:txBody>
      </p:sp>
      <p:sp>
        <p:nvSpPr>
          <p:cNvPr id="7" name="Text 5"/>
          <p:cNvSpPr/>
          <p:nvPr/>
        </p:nvSpPr>
        <p:spPr>
          <a:xfrm>
            <a:off x="6675120" y="1965960"/>
            <a:ext cx="4967935" cy="3291840"/>
          </a:xfrm>
          <a:prstGeom prst="rect">
            <a:avLst/>
          </a:prstGeom>
          <a:noFill/>
          <a:ln/>
        </p:spPr>
        <p:txBody>
          <a:bodyPr wrap="square" lIns="0" tIns="0" rIns="0" bIns="0" rtlCol="0" anchor="t"/>
          <a:lstStyle/>
          <a:p>
            <a:pPr marL="228600" indent="-228600">
              <a:lnSpc>
                <a:spcPct val="125000"/>
              </a:lnSpc>
              <a:spcAft>
                <a:spcPts val="1600"/>
              </a:spcAft>
              <a:buSzPct val="100000"/>
              <a:buChar char="•"/>
            </a:pPr>
            <a:r>
              <a:rPr lang="en-US" sz="1700" b="1" dirty="0">
                <a:solidFill>
                  <a:srgbClr val="2D2D2D"/>
                </a:solidFill>
                <a:latin typeface="Yu Gothic" pitchFamily="34" charset="0"/>
                <a:ea typeface="Yu Gothic" pitchFamily="34" charset="-122"/>
                <a:cs typeface="Yu Gothic" pitchFamily="34" charset="-120"/>
              </a:rPr>
              <a:t>中身を変えられない Whisper 系</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でも、前処理だけで誤りを 26〜37% 減らせる</a:t>
            </a:r>
            <a:endParaRPr lang="en-US" sz="1700" dirty="0"/>
          </a:p>
          <a:p>
            <a:pPr marL="228600" indent="-228600">
              <a:lnSpc>
                <a:spcPct val="125000"/>
              </a:lnSpc>
              <a:spcAft>
                <a:spcPts val="1600"/>
              </a:spcAft>
              <a:buSzPct val="100000"/>
              <a:buChar char="•"/>
            </a:pPr>
            <a:r>
              <a:rPr lang="en-US" sz="1700" b="1" dirty="0">
                <a:solidFill>
                  <a:srgbClr val="2D2D2D"/>
                </a:solidFill>
                <a:latin typeface="Yu Gothic" pitchFamily="34" charset="0"/>
                <a:ea typeface="Yu Gothic" pitchFamily="34" charset="-122"/>
                <a:cs typeface="Yu Gothic" pitchFamily="34" charset="-120"/>
              </a:rPr>
              <a:t>設計の指針</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：欠けた音は生成で補い、Whisper 向けの調整は外側で控えめに足す</a:t>
            </a:r>
            <a:endParaRPr lang="en-US" sz="1700" dirty="0"/>
          </a:p>
          <a:p>
            <a:pPr marL="228600" indent="-228600">
              <a:lnSpc>
                <a:spcPct val="12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機種が変わると効かない</a:t>
            </a:r>
            <a:pPr indent="0" marL="0">
              <a:lnSpc>
                <a:spcPct val="12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限界</a:t>
            </a:r>
            <a:pPr indent="0" marL="0">
              <a:lnSpc>
                <a:spcPct val="125000"/>
              </a:lnSpc>
              <a:spcAft>
                <a:spcPts val="1600"/>
              </a:spcAft>
              <a:buNone/>
            </a:pPr>
            <a:r>
              <a:rPr lang="en-US" sz="1700" dirty="0">
                <a:solidFill>
                  <a:srgbClr val="2D2D2D"/>
                </a:solidFill>
                <a:latin typeface="Yu Gothic" pitchFamily="34" charset="0"/>
                <a:ea typeface="Yu Gothic" pitchFamily="34" charset="-122"/>
                <a:cs typeface="Yu Gothic" pitchFamily="34" charset="-120"/>
              </a:rPr>
              <a:t>も示した</a:t>
            </a:r>
            <a:endParaRPr lang="en-US" sz="1700" dirty="0"/>
          </a:p>
        </p:txBody>
      </p:sp>
      <p:sp>
        <p:nvSpPr>
          <p:cNvPr id="8" name="Text 6"/>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中身を変えられない認識器 = クラウドの音声認識など。限界は別機種の喉マイク（VibraVox、仏語）での確認による</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2026-10-15T01:10:27Z</dcterms:created>
  <dcterms:modified xsi:type="dcterms:W3CDTF">2026-10-15T01:10:27Z</dcterms:modified>
</cp:coreProperties>
</file>