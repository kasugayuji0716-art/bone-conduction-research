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2"/>
  </p:normalViewPr>
  <p:slideViewPr>
    <p:cSldViewPr snapToGrid="0" snapToObjects="1">
      <p:cViewPr varScale="1">
        <p:scale>
          <a:sx n="115" d="100"/>
          <a:sy n="115" d="100"/>
        </p:scale>
        <p:origin x="49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453EA3-22D2-3A49-9DD1-F001874AB3A2}" type="datetimeFigureOut">
              <a:rPr kumimoji="1" lang="ja-JP" altLang="en-US" smtClean="0"/>
              <a:t>2026/4/15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9649C3-9C0A-BE4B-BB26-BD3C227AA350}" type="slidenum">
              <a:rPr kumimoji="1" lang="ja-JP" altLang="en-US" smtClean="0"/>
              <a:t>‹#›</a:t>
            </a:fld>
            <a:endParaRPr kumimoji="1" lang="ja-JP" altLang="en-US"/>
          </a:p>
        </p:txBody>
      </p:sp>
    </p:spTree>
    <p:extLst>
      <p:ext uri="{BB962C8B-B14F-4D97-AF65-F5344CB8AC3E}">
        <p14:creationId xmlns:p14="http://schemas.microsoft.com/office/powerpoint/2010/main" val="3935223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99649C3-9C0A-BE4B-BB26-BD3C227AA350}" type="slidenum">
              <a:rPr kumimoji="1" lang="ja-JP" altLang="en-US" smtClean="0"/>
              <a:t>5</a:t>
            </a:fld>
            <a:endParaRPr kumimoji="1" lang="ja-JP" altLang="en-US"/>
          </a:p>
        </p:txBody>
      </p:sp>
    </p:spTree>
    <p:extLst>
      <p:ext uri="{BB962C8B-B14F-4D97-AF65-F5344CB8AC3E}">
        <p14:creationId xmlns:p14="http://schemas.microsoft.com/office/powerpoint/2010/main" val="1796751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88952"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0080"/>
            <a:ext cx="11064240" cy="1828800"/>
          </a:xfrm>
          <a:prstGeom prst="rect">
            <a:avLst/>
          </a:prstGeom>
          <a:noFill/>
        </p:spPr>
        <p:txBody>
          <a:bodyPr wrap="square">
            <a:spAutoFit/>
          </a:bodyPr>
          <a:lstStyle/>
          <a:p>
            <a:pPr algn="l"/>
            <a:r>
              <a:rPr sz="3600" b="1">
                <a:solidFill>
                  <a:srgbClr val="FFFFFF"/>
                </a:solidFill>
              </a:rPr>
              <a:t>喉マイク音声認識の改善に
音声強調は役立つか？</a:t>
            </a:r>
          </a:p>
        </p:txBody>
      </p:sp>
      <p:sp>
        <p:nvSpPr>
          <p:cNvPr id="5" name="TextBox 4"/>
          <p:cNvSpPr txBox="1"/>
          <p:nvPr/>
        </p:nvSpPr>
        <p:spPr>
          <a:xfrm>
            <a:off x="548640" y="2697480"/>
            <a:ext cx="11064240" cy="548640"/>
          </a:xfrm>
          <a:prstGeom prst="rect">
            <a:avLst/>
          </a:prstGeom>
          <a:noFill/>
        </p:spPr>
        <p:txBody>
          <a:bodyPr wrap="square">
            <a:spAutoFit/>
          </a:bodyPr>
          <a:lstStyle/>
          <a:p>
            <a:pPr algn="l"/>
            <a:r>
              <a:rPr sz="1700" b="0">
                <a:solidFill>
                  <a:srgbClr val="BBDEFB"/>
                </a:solidFill>
              </a:rPr>
              <a:t>知覚品質（STOI・PESQ）とASR性能（CER）の逆行現象を喉マイクドメインで実証</a:t>
            </a:r>
          </a:p>
        </p:txBody>
      </p:sp>
      <p:sp>
        <p:nvSpPr>
          <p:cNvPr id="6" name="Rectangle 5"/>
          <p:cNvSpPr/>
          <p:nvPr/>
        </p:nvSpPr>
        <p:spPr>
          <a:xfrm>
            <a:off x="548640" y="3429000"/>
            <a:ext cx="2468880" cy="502920"/>
          </a:xfrm>
          <a:prstGeom prst="rect">
            <a:avLst/>
          </a:prstGeom>
          <a:solidFill>
            <a:srgbClr val="28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456432"/>
            <a:ext cx="2468880" cy="438912"/>
          </a:xfrm>
          <a:prstGeom prst="rect">
            <a:avLst/>
          </a:prstGeom>
          <a:noFill/>
        </p:spPr>
        <p:txBody>
          <a:bodyPr wrap="square">
            <a:spAutoFit/>
          </a:bodyPr>
          <a:lstStyle/>
          <a:p>
            <a:pPr algn="ctr"/>
            <a:r>
              <a:rPr sz="1400" b="0">
                <a:solidFill>
                  <a:srgbClr val="90CAF9"/>
                </a:solidFill>
              </a:rPr>
              <a:t>骨伝導マイク</a:t>
            </a:r>
          </a:p>
        </p:txBody>
      </p:sp>
      <p:sp>
        <p:nvSpPr>
          <p:cNvPr id="8" name="Rectangle 7"/>
          <p:cNvSpPr/>
          <p:nvPr/>
        </p:nvSpPr>
        <p:spPr>
          <a:xfrm>
            <a:off x="3291840" y="3429000"/>
            <a:ext cx="2468880" cy="502920"/>
          </a:xfrm>
          <a:prstGeom prst="rect">
            <a:avLst/>
          </a:prstGeom>
          <a:solidFill>
            <a:srgbClr val="28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0" y="3456432"/>
            <a:ext cx="2468880" cy="438912"/>
          </a:xfrm>
          <a:prstGeom prst="rect">
            <a:avLst/>
          </a:prstGeom>
          <a:noFill/>
        </p:spPr>
        <p:txBody>
          <a:bodyPr wrap="square">
            <a:spAutoFit/>
          </a:bodyPr>
          <a:lstStyle/>
          <a:p>
            <a:pPr algn="ctr"/>
            <a:r>
              <a:rPr sz="1400" b="0">
                <a:solidFill>
                  <a:srgbClr val="90CAF9"/>
                </a:solidFill>
              </a:rPr>
              <a:t>音声強調（SE）</a:t>
            </a:r>
          </a:p>
        </p:txBody>
      </p:sp>
      <p:sp>
        <p:nvSpPr>
          <p:cNvPr id="10" name="Rectangle 9"/>
          <p:cNvSpPr/>
          <p:nvPr/>
        </p:nvSpPr>
        <p:spPr>
          <a:xfrm>
            <a:off x="6035040" y="3429000"/>
            <a:ext cx="2468880" cy="502920"/>
          </a:xfrm>
          <a:prstGeom prst="rect">
            <a:avLst/>
          </a:prstGeom>
          <a:solidFill>
            <a:srgbClr val="28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3456432"/>
            <a:ext cx="2468880" cy="438912"/>
          </a:xfrm>
          <a:prstGeom prst="rect">
            <a:avLst/>
          </a:prstGeom>
          <a:noFill/>
        </p:spPr>
        <p:txBody>
          <a:bodyPr wrap="square">
            <a:spAutoFit/>
          </a:bodyPr>
          <a:lstStyle/>
          <a:p>
            <a:pPr algn="ctr"/>
            <a:r>
              <a:rPr sz="1400" b="0">
                <a:solidFill>
                  <a:srgbClr val="90CAF9"/>
                </a:solidFill>
              </a:rPr>
              <a:t>Whisper ASR</a:t>
            </a:r>
          </a:p>
        </p:txBody>
      </p:sp>
      <p:sp>
        <p:nvSpPr>
          <p:cNvPr id="12" name="Rectangle 11"/>
          <p:cNvSpPr/>
          <p:nvPr/>
        </p:nvSpPr>
        <p:spPr>
          <a:xfrm>
            <a:off x="8778240" y="3429000"/>
            <a:ext cx="2468880" cy="502920"/>
          </a:xfrm>
          <a:prstGeom prst="rect">
            <a:avLst/>
          </a:prstGeom>
          <a:solidFill>
            <a:srgbClr val="28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78240" y="3456432"/>
            <a:ext cx="2468880" cy="438912"/>
          </a:xfrm>
          <a:prstGeom prst="rect">
            <a:avLst/>
          </a:prstGeom>
          <a:noFill/>
        </p:spPr>
        <p:txBody>
          <a:bodyPr wrap="square">
            <a:spAutoFit/>
          </a:bodyPr>
          <a:lstStyle/>
          <a:p>
            <a:pPr algn="ctr"/>
            <a:r>
              <a:rPr sz="1400" b="0">
                <a:solidFill>
                  <a:srgbClr val="90CAF9"/>
                </a:solidFill>
              </a:rPr>
              <a:t>CER評価</a:t>
            </a:r>
          </a:p>
        </p:txBody>
      </p:sp>
      <p:sp>
        <p:nvSpPr>
          <p:cNvPr id="14" name="TextBox 13"/>
          <p:cNvSpPr txBox="1"/>
          <p:nvPr/>
        </p:nvSpPr>
        <p:spPr>
          <a:xfrm>
            <a:off x="548640" y="4160520"/>
            <a:ext cx="11064240" cy="365760"/>
          </a:xfrm>
          <a:prstGeom prst="rect">
            <a:avLst/>
          </a:prstGeom>
          <a:noFill/>
        </p:spPr>
        <p:txBody>
          <a:bodyPr wrap="square">
            <a:spAutoFit/>
          </a:bodyPr>
          <a:lstStyle/>
          <a:p>
            <a:pPr algn="l"/>
            <a:r>
              <a:rPr sz="1300" b="0">
                <a:solidFill>
                  <a:srgbClr val="78909C"/>
                </a:solidFill>
              </a:rPr>
              <a:t>使用データ: TAPS Dataset（韓国語 60話者・6,000発話）</a:t>
            </a:r>
          </a:p>
        </p:txBody>
      </p:sp>
      <p:sp>
        <p:nvSpPr>
          <p:cNvPr id="15" name="Rectangle 14"/>
          <p:cNvSpPr/>
          <p:nvPr/>
        </p:nvSpPr>
        <p:spPr>
          <a:xfrm>
            <a:off x="0" y="6583680"/>
            <a:ext cx="12188952" cy="274320"/>
          </a:xfrm>
          <a:prstGeom prst="rect">
            <a:avLst/>
          </a:prstGeom>
          <a:solidFill>
            <a:srgbClr val="0D1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247120" y="6601968"/>
            <a:ext cx="822960" cy="228600"/>
          </a:xfrm>
          <a:prstGeom prst="rect">
            <a:avLst/>
          </a:prstGeom>
          <a:noFill/>
        </p:spPr>
        <p:txBody>
          <a:bodyPr wrap="square">
            <a:spAutoFit/>
          </a:bodyPr>
          <a:lstStyle/>
          <a:p>
            <a:pPr algn="r"/>
            <a:r>
              <a:rPr sz="900" b="0">
                <a:solidFill>
                  <a:srgbClr val="78909C"/>
                </a:solidFill>
              </a:rPr>
              <a:t>1 /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37160"/>
            <a:ext cx="10789920" cy="777240"/>
          </a:xfrm>
          <a:prstGeom prst="rect">
            <a:avLst/>
          </a:prstGeom>
          <a:noFill/>
        </p:spPr>
        <p:txBody>
          <a:bodyPr wrap="square">
            <a:spAutoFit/>
          </a:bodyPr>
          <a:lstStyle/>
          <a:p>
            <a:pPr algn="l"/>
            <a:r>
              <a:rPr sz="2600" b="1">
                <a:solidFill>
                  <a:srgbClr val="FFFFFF"/>
                </a:solidFill>
              </a:rPr>
              <a:t>喉マイクとは？　なぜASRが難しいか</a:t>
            </a:r>
          </a:p>
        </p:txBody>
      </p:sp>
      <p:sp>
        <p:nvSpPr>
          <p:cNvPr id="4" name="TextBox 3"/>
          <p:cNvSpPr txBox="1"/>
          <p:nvPr/>
        </p:nvSpPr>
        <p:spPr>
          <a:xfrm>
            <a:off x="11247120" y="411480"/>
            <a:ext cx="822960" cy="365760"/>
          </a:xfrm>
          <a:prstGeom prst="rect">
            <a:avLst/>
          </a:prstGeom>
          <a:noFill/>
        </p:spPr>
        <p:txBody>
          <a:bodyPr wrap="square">
            <a:spAutoFit/>
          </a:bodyPr>
          <a:lstStyle/>
          <a:p>
            <a:pPr algn="r"/>
            <a:r>
              <a:rPr sz="1300" b="0">
                <a:solidFill>
                  <a:srgbClr val="78909C"/>
                </a:solidFill>
              </a:rPr>
              <a:t>2 / 5</a:t>
            </a:r>
          </a:p>
        </p:txBody>
      </p:sp>
      <p:sp>
        <p:nvSpPr>
          <p:cNvPr id="5" name="Rectangle 4"/>
          <p:cNvSpPr/>
          <p:nvPr/>
        </p:nvSpPr>
        <p:spPr>
          <a:xfrm>
            <a:off x="0" y="6583680"/>
            <a:ext cx="12188952" cy="27432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01968"/>
            <a:ext cx="11612880" cy="228600"/>
          </a:xfrm>
          <a:prstGeom prst="rect">
            <a:avLst/>
          </a:prstGeom>
          <a:noFill/>
        </p:spPr>
        <p:txBody>
          <a:bodyPr wrap="square">
            <a:spAutoFit/>
          </a:bodyPr>
          <a:lstStyle/>
          <a:p>
            <a:pPr algn="l"/>
            <a:r>
              <a:rPr sz="900" b="0">
                <a:solidFill>
                  <a:srgbClr val="78909C"/>
                </a:solidFill>
              </a:rPr>
              <a:t>骨伝導マイク音声認識研究 — 概要</a:t>
            </a:r>
          </a:p>
        </p:txBody>
      </p:sp>
      <p:sp>
        <p:nvSpPr>
          <p:cNvPr id="7" name="Rectangle 6"/>
          <p:cNvSpPr/>
          <p:nvPr/>
        </p:nvSpPr>
        <p:spPr>
          <a:xfrm>
            <a:off x="365760" y="1325880"/>
            <a:ext cx="5486400" cy="438912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417320"/>
            <a:ext cx="5212080" cy="411480"/>
          </a:xfrm>
          <a:prstGeom prst="rect">
            <a:avLst/>
          </a:prstGeom>
          <a:noFill/>
        </p:spPr>
        <p:txBody>
          <a:bodyPr wrap="square">
            <a:spAutoFit/>
          </a:bodyPr>
          <a:lstStyle/>
          <a:p>
            <a:pPr algn="l"/>
            <a:r>
              <a:rPr sz="1500" b="1">
                <a:solidFill>
                  <a:srgbClr val="1A237E"/>
                </a:solidFill>
              </a:rPr>
              <a:t>喉マイク（骨伝導マイク）とは</a:t>
            </a:r>
          </a:p>
        </p:txBody>
      </p:sp>
      <p:sp>
        <p:nvSpPr>
          <p:cNvPr id="9" name="TextBox 8"/>
          <p:cNvSpPr txBox="1"/>
          <p:nvPr/>
        </p:nvSpPr>
        <p:spPr>
          <a:xfrm>
            <a:off x="548640" y="1920240"/>
            <a:ext cx="5120640" cy="274320"/>
          </a:xfrm>
          <a:prstGeom prst="rect">
            <a:avLst/>
          </a:prstGeom>
          <a:noFill/>
        </p:spPr>
        <p:txBody>
          <a:bodyPr wrap="square">
            <a:spAutoFit/>
          </a:bodyPr>
          <a:lstStyle/>
          <a:p>
            <a:pPr algn="l"/>
            <a:r>
              <a:rPr sz="1300" b="0">
                <a:solidFill>
                  <a:srgbClr val="212121"/>
                </a:solidFill>
              </a:rPr>
              <a:t>・ 声帯の振動を皮膚・骨から直接収音</a:t>
            </a:r>
          </a:p>
        </p:txBody>
      </p:sp>
      <p:sp>
        <p:nvSpPr>
          <p:cNvPr id="10" name="TextBox 9"/>
          <p:cNvSpPr txBox="1"/>
          <p:nvPr/>
        </p:nvSpPr>
        <p:spPr>
          <a:xfrm>
            <a:off x="548640" y="2203704"/>
            <a:ext cx="5120640" cy="274320"/>
          </a:xfrm>
          <a:prstGeom prst="rect">
            <a:avLst/>
          </a:prstGeom>
          <a:noFill/>
        </p:spPr>
        <p:txBody>
          <a:bodyPr wrap="square">
            <a:spAutoFit/>
          </a:bodyPr>
          <a:lstStyle/>
          <a:p>
            <a:pPr algn="l"/>
            <a:r>
              <a:rPr sz="1300" b="0">
                <a:solidFill>
                  <a:srgbClr val="212121"/>
                </a:solidFill>
              </a:rPr>
              <a:t>・ 周囲の騒音を拾わない → 高騒音環境で有用</a:t>
            </a:r>
          </a:p>
        </p:txBody>
      </p:sp>
      <p:sp>
        <p:nvSpPr>
          <p:cNvPr id="11" name="TextBox 10"/>
          <p:cNvSpPr txBox="1"/>
          <p:nvPr/>
        </p:nvSpPr>
        <p:spPr>
          <a:xfrm>
            <a:off x="548640" y="2487168"/>
            <a:ext cx="5120640" cy="274320"/>
          </a:xfrm>
          <a:prstGeom prst="rect">
            <a:avLst/>
          </a:prstGeom>
          <a:noFill/>
        </p:spPr>
        <p:txBody>
          <a:bodyPr wrap="square">
            <a:spAutoFit/>
          </a:bodyPr>
          <a:lstStyle/>
          <a:p>
            <a:pPr algn="l"/>
            <a:r>
              <a:rPr sz="1300" b="0">
                <a:solidFill>
                  <a:srgbClr val="212121"/>
                </a:solidFill>
              </a:rPr>
              <a:t>・ 軍・工業・スポーツ・ヘルメット着用場面</a:t>
            </a:r>
          </a:p>
        </p:txBody>
      </p:sp>
      <p:sp>
        <p:nvSpPr>
          <p:cNvPr id="12" name="TextBox 11"/>
          <p:cNvSpPr txBox="1"/>
          <p:nvPr/>
        </p:nvSpPr>
        <p:spPr>
          <a:xfrm>
            <a:off x="548640" y="2770632"/>
            <a:ext cx="5120640" cy="274320"/>
          </a:xfrm>
          <a:prstGeom prst="rect">
            <a:avLst/>
          </a:prstGeom>
          <a:noFill/>
        </p:spPr>
        <p:txBody>
          <a:bodyPr wrap="square">
            <a:spAutoFit/>
          </a:bodyPr>
          <a:lstStyle/>
          <a:p>
            <a:pPr algn="l"/>
            <a:endParaRPr/>
          </a:p>
        </p:txBody>
      </p:sp>
      <p:sp>
        <p:nvSpPr>
          <p:cNvPr id="13" name="TextBox 12"/>
          <p:cNvSpPr txBox="1"/>
          <p:nvPr/>
        </p:nvSpPr>
        <p:spPr>
          <a:xfrm>
            <a:off x="548640" y="3054096"/>
            <a:ext cx="5120640" cy="274320"/>
          </a:xfrm>
          <a:prstGeom prst="rect">
            <a:avLst/>
          </a:prstGeom>
          <a:noFill/>
        </p:spPr>
        <p:txBody>
          <a:bodyPr wrap="square">
            <a:spAutoFit/>
          </a:bodyPr>
          <a:lstStyle/>
          <a:p>
            <a:pPr algn="l"/>
            <a:r>
              <a:rPr sz="1300" b="1">
                <a:solidFill>
                  <a:srgbClr val="1A237E"/>
                </a:solidFill>
              </a:rPr>
              <a:t>問題点</a:t>
            </a:r>
          </a:p>
        </p:txBody>
      </p:sp>
      <p:sp>
        <p:nvSpPr>
          <p:cNvPr id="14" name="TextBox 13"/>
          <p:cNvSpPr txBox="1"/>
          <p:nvPr/>
        </p:nvSpPr>
        <p:spPr>
          <a:xfrm>
            <a:off x="548640" y="3337560"/>
            <a:ext cx="5120640" cy="274320"/>
          </a:xfrm>
          <a:prstGeom prst="rect">
            <a:avLst/>
          </a:prstGeom>
          <a:noFill/>
        </p:spPr>
        <p:txBody>
          <a:bodyPr wrap="square">
            <a:spAutoFit/>
          </a:bodyPr>
          <a:lstStyle/>
          <a:p>
            <a:pPr algn="l"/>
            <a:r>
              <a:rPr sz="1300" b="0">
                <a:solidFill>
                  <a:srgbClr val="212121"/>
                </a:solidFill>
              </a:rPr>
              <a:t>・ 低域エネルギーが大半を占める</a:t>
            </a:r>
          </a:p>
        </p:txBody>
      </p:sp>
      <p:sp>
        <p:nvSpPr>
          <p:cNvPr id="15" name="TextBox 14"/>
          <p:cNvSpPr txBox="1"/>
          <p:nvPr/>
        </p:nvSpPr>
        <p:spPr>
          <a:xfrm>
            <a:off x="548640" y="3621024"/>
            <a:ext cx="5120640" cy="274320"/>
          </a:xfrm>
          <a:prstGeom prst="rect">
            <a:avLst/>
          </a:prstGeom>
          <a:noFill/>
        </p:spPr>
        <p:txBody>
          <a:bodyPr wrap="square">
            <a:spAutoFit/>
          </a:bodyPr>
          <a:lstStyle/>
          <a:p>
            <a:pPr algn="l"/>
            <a:r>
              <a:rPr sz="1300" b="0">
                <a:solidFill>
                  <a:srgbClr val="212121"/>
                </a:solidFill>
              </a:rPr>
              <a:t>・ 子音など高周波成分が大きく欠落</a:t>
            </a:r>
          </a:p>
        </p:txBody>
      </p:sp>
      <p:sp>
        <p:nvSpPr>
          <p:cNvPr id="16" name="TextBox 15"/>
          <p:cNvSpPr txBox="1"/>
          <p:nvPr/>
        </p:nvSpPr>
        <p:spPr>
          <a:xfrm>
            <a:off x="548640" y="3904488"/>
            <a:ext cx="5120640" cy="274320"/>
          </a:xfrm>
          <a:prstGeom prst="rect">
            <a:avLst/>
          </a:prstGeom>
          <a:noFill/>
        </p:spPr>
        <p:txBody>
          <a:bodyPr wrap="square">
            <a:spAutoFit/>
          </a:bodyPr>
          <a:lstStyle/>
          <a:p>
            <a:pPr algn="l"/>
            <a:r>
              <a:rPr sz="1300" b="0">
                <a:solidFill>
                  <a:srgbClr val="212121"/>
                </a:solidFill>
              </a:rPr>
              <a:t>→ 通常のASRには「未知の音」として届く</a:t>
            </a:r>
          </a:p>
        </p:txBody>
      </p:sp>
      <p:sp>
        <p:nvSpPr>
          <p:cNvPr id="17" name="TextBox 16"/>
          <p:cNvSpPr txBox="1"/>
          <p:nvPr/>
        </p:nvSpPr>
        <p:spPr>
          <a:xfrm>
            <a:off x="548640" y="4187952"/>
            <a:ext cx="5120640" cy="274320"/>
          </a:xfrm>
          <a:prstGeom prst="rect">
            <a:avLst/>
          </a:prstGeom>
          <a:noFill/>
        </p:spPr>
        <p:txBody>
          <a:bodyPr wrap="square">
            <a:spAutoFit/>
          </a:bodyPr>
          <a:lstStyle/>
          <a:p>
            <a:pPr algn="l"/>
            <a:endParaRPr/>
          </a:p>
        </p:txBody>
      </p:sp>
      <p:sp>
        <p:nvSpPr>
          <p:cNvPr id="18" name="TextBox 17"/>
          <p:cNvSpPr txBox="1"/>
          <p:nvPr/>
        </p:nvSpPr>
        <p:spPr>
          <a:xfrm>
            <a:off x="548640" y="4471416"/>
            <a:ext cx="5120640" cy="274320"/>
          </a:xfrm>
          <a:prstGeom prst="rect">
            <a:avLst/>
          </a:prstGeom>
          <a:noFill/>
        </p:spPr>
        <p:txBody>
          <a:bodyPr wrap="square">
            <a:spAutoFit/>
          </a:bodyPr>
          <a:lstStyle/>
          <a:p>
            <a:pPr algn="l"/>
            <a:r>
              <a:rPr sz="1300" b="0">
                <a:solidFill>
                  <a:srgbClr val="212121"/>
                </a:solidFill>
              </a:rPr>
              <a:t>結果：一般的な音声認識では</a:t>
            </a:r>
          </a:p>
        </p:txBody>
      </p:sp>
      <p:sp>
        <p:nvSpPr>
          <p:cNvPr id="19" name="TextBox 18"/>
          <p:cNvSpPr txBox="1"/>
          <p:nvPr/>
        </p:nvSpPr>
        <p:spPr>
          <a:xfrm>
            <a:off x="548640" y="4754880"/>
            <a:ext cx="5120640" cy="274320"/>
          </a:xfrm>
          <a:prstGeom prst="rect">
            <a:avLst/>
          </a:prstGeom>
          <a:noFill/>
        </p:spPr>
        <p:txBody>
          <a:bodyPr wrap="square">
            <a:spAutoFit/>
          </a:bodyPr>
          <a:lstStyle/>
          <a:p>
            <a:pPr algn="l"/>
            <a:r>
              <a:rPr sz="1300" b="0">
                <a:solidFill>
                  <a:srgbClr val="212121"/>
                </a:solidFill>
              </a:rPr>
              <a:t>　　　CER（文字誤り率）が非常に高くなる</a:t>
            </a:r>
          </a:p>
        </p:txBody>
      </p:sp>
      <p:pic>
        <p:nvPicPr>
          <p:cNvPr id="20" name="Picture 19" descr="image.png"/>
          <p:cNvPicPr>
            <a:picLocks noChangeAspect="1"/>
          </p:cNvPicPr>
          <p:nvPr/>
        </p:nvPicPr>
        <p:blipFill>
          <a:blip r:embed="rId2"/>
          <a:stretch>
            <a:fillRect/>
          </a:stretch>
        </p:blipFill>
        <p:spPr>
          <a:xfrm>
            <a:off x="6126480" y="1417320"/>
            <a:ext cx="5577840" cy="2919436"/>
          </a:xfrm>
          <a:prstGeom prst="rect">
            <a:avLst/>
          </a:prstGeom>
        </p:spPr>
      </p:pic>
      <p:sp>
        <p:nvSpPr>
          <p:cNvPr id="21" name="TextBox 20"/>
          <p:cNvSpPr txBox="1"/>
          <p:nvPr/>
        </p:nvSpPr>
        <p:spPr>
          <a:xfrm>
            <a:off x="6126480" y="4846320"/>
            <a:ext cx="5760720" cy="320040"/>
          </a:xfrm>
          <a:prstGeom prst="rect">
            <a:avLst/>
          </a:prstGeom>
          <a:noFill/>
        </p:spPr>
        <p:txBody>
          <a:bodyPr wrap="square">
            <a:spAutoFit/>
          </a:bodyPr>
          <a:lstStyle/>
          <a:p>
            <a:pPr algn="ctr"/>
            <a:r>
              <a:rPr sz="1000" b="0">
                <a:solidFill>
                  <a:srgbClr val="78909C"/>
                </a:solidFill>
              </a:rPr>
              <a:t>図：気導マイクと喉マイクの周波数特性の違い（模式図）</a:t>
            </a:r>
          </a:p>
        </p:txBody>
      </p:sp>
      <p:sp>
        <p:nvSpPr>
          <p:cNvPr id="22" name="Rectangle 21"/>
          <p:cNvSpPr/>
          <p:nvPr/>
        </p:nvSpPr>
        <p:spPr>
          <a:xfrm>
            <a:off x="365760" y="5806440"/>
            <a:ext cx="11430000" cy="68580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5925312"/>
            <a:ext cx="11064240" cy="411480"/>
          </a:xfrm>
          <a:prstGeom prst="rect">
            <a:avLst/>
          </a:prstGeom>
          <a:noFill/>
        </p:spPr>
        <p:txBody>
          <a:bodyPr wrap="square">
            <a:spAutoFit/>
          </a:bodyPr>
          <a:lstStyle/>
          <a:p>
            <a:pPr algn="ctr"/>
            <a:r>
              <a:rPr sz="1500" b="1">
                <a:solidFill>
                  <a:srgbClr val="C62828"/>
                </a:solidFill>
              </a:rPr>
              <a:t>喉マイク生音声のCER: 0.269　vs　気導マイク: 0.131　→ 約2倍の誤り率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37160"/>
            <a:ext cx="10789920" cy="777240"/>
          </a:xfrm>
          <a:prstGeom prst="rect">
            <a:avLst/>
          </a:prstGeom>
          <a:noFill/>
        </p:spPr>
        <p:txBody>
          <a:bodyPr wrap="square">
            <a:spAutoFit/>
          </a:bodyPr>
          <a:lstStyle/>
          <a:p>
            <a:pPr algn="l"/>
            <a:r>
              <a:rPr sz="2600" b="1">
                <a:solidFill>
                  <a:srgbClr val="FFFFFF"/>
                </a:solidFill>
              </a:rPr>
              <a:t>先行研究：「音声強調でASRを改善できる」は本当か？</a:t>
            </a:r>
          </a:p>
        </p:txBody>
      </p:sp>
      <p:sp>
        <p:nvSpPr>
          <p:cNvPr id="4" name="TextBox 3"/>
          <p:cNvSpPr txBox="1"/>
          <p:nvPr/>
        </p:nvSpPr>
        <p:spPr>
          <a:xfrm>
            <a:off x="11247120" y="411480"/>
            <a:ext cx="822960" cy="365760"/>
          </a:xfrm>
          <a:prstGeom prst="rect">
            <a:avLst/>
          </a:prstGeom>
          <a:noFill/>
        </p:spPr>
        <p:txBody>
          <a:bodyPr wrap="square">
            <a:spAutoFit/>
          </a:bodyPr>
          <a:lstStyle/>
          <a:p>
            <a:pPr algn="r"/>
            <a:r>
              <a:rPr sz="1300" b="0">
                <a:solidFill>
                  <a:srgbClr val="78909C"/>
                </a:solidFill>
              </a:rPr>
              <a:t>3 / 5</a:t>
            </a:r>
          </a:p>
        </p:txBody>
      </p:sp>
      <p:sp>
        <p:nvSpPr>
          <p:cNvPr id="5" name="Rectangle 4"/>
          <p:cNvSpPr/>
          <p:nvPr/>
        </p:nvSpPr>
        <p:spPr>
          <a:xfrm>
            <a:off x="0" y="6583680"/>
            <a:ext cx="12188952" cy="27432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01968"/>
            <a:ext cx="11612880" cy="228600"/>
          </a:xfrm>
          <a:prstGeom prst="rect">
            <a:avLst/>
          </a:prstGeom>
          <a:noFill/>
        </p:spPr>
        <p:txBody>
          <a:bodyPr wrap="square">
            <a:spAutoFit/>
          </a:bodyPr>
          <a:lstStyle/>
          <a:p>
            <a:pPr algn="l"/>
            <a:r>
              <a:rPr sz="900" b="0">
                <a:solidFill>
                  <a:srgbClr val="78909C"/>
                </a:solidFill>
              </a:rPr>
              <a:t>骨伝導マイク音声認識研究 — 概要</a:t>
            </a:r>
          </a:p>
        </p:txBody>
      </p:sp>
      <p:sp>
        <p:nvSpPr>
          <p:cNvPr id="7" name="Rectangle 6"/>
          <p:cNvSpPr/>
          <p:nvPr/>
        </p:nvSpPr>
        <p:spPr>
          <a:xfrm>
            <a:off x="365760" y="1325880"/>
            <a:ext cx="5394960" cy="210312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417320"/>
            <a:ext cx="5120640" cy="365760"/>
          </a:xfrm>
          <a:prstGeom prst="rect">
            <a:avLst/>
          </a:prstGeom>
          <a:noFill/>
        </p:spPr>
        <p:txBody>
          <a:bodyPr wrap="square">
            <a:spAutoFit/>
          </a:bodyPr>
          <a:lstStyle/>
          <a:p>
            <a:pPr algn="l"/>
            <a:r>
              <a:rPr sz="1500" b="1">
                <a:solidFill>
                  <a:srgbClr val="1A237E"/>
                </a:solidFill>
              </a:rPr>
              <a:t>音声強調（SE）とは</a:t>
            </a:r>
          </a:p>
        </p:txBody>
      </p:sp>
      <p:sp>
        <p:nvSpPr>
          <p:cNvPr id="9" name="TextBox 8"/>
          <p:cNvSpPr txBox="1"/>
          <p:nvPr/>
        </p:nvSpPr>
        <p:spPr>
          <a:xfrm>
            <a:off x="548640" y="1874519"/>
            <a:ext cx="5120640" cy="347472"/>
          </a:xfrm>
          <a:prstGeom prst="rect">
            <a:avLst/>
          </a:prstGeom>
          <a:noFill/>
        </p:spPr>
        <p:txBody>
          <a:bodyPr wrap="square">
            <a:spAutoFit/>
          </a:bodyPr>
          <a:lstStyle/>
          <a:p>
            <a:pPr algn="l"/>
            <a:r>
              <a:rPr sz="1300" b="0">
                <a:solidFill>
                  <a:srgbClr val="212121"/>
                </a:solidFill>
              </a:rPr>
              <a:t>・ ノイズを除去し，音声を聴きやすくする技術</a:t>
            </a:r>
          </a:p>
        </p:txBody>
      </p:sp>
      <p:sp>
        <p:nvSpPr>
          <p:cNvPr id="10" name="TextBox 9"/>
          <p:cNvSpPr txBox="1"/>
          <p:nvPr/>
        </p:nvSpPr>
        <p:spPr>
          <a:xfrm>
            <a:off x="548640" y="2249423"/>
            <a:ext cx="5120640" cy="347472"/>
          </a:xfrm>
          <a:prstGeom prst="rect">
            <a:avLst/>
          </a:prstGeom>
          <a:noFill/>
        </p:spPr>
        <p:txBody>
          <a:bodyPr wrap="square">
            <a:spAutoFit/>
          </a:bodyPr>
          <a:lstStyle/>
          <a:p>
            <a:pPr algn="l"/>
            <a:r>
              <a:rPr sz="1300" b="0">
                <a:solidFill>
                  <a:srgbClr val="212121"/>
                </a:solidFill>
              </a:rPr>
              <a:t>・ STOI（了解度）・PESQ（音質）で評価される</a:t>
            </a:r>
          </a:p>
        </p:txBody>
      </p:sp>
      <p:sp>
        <p:nvSpPr>
          <p:cNvPr id="11" name="TextBox 10"/>
          <p:cNvSpPr txBox="1"/>
          <p:nvPr/>
        </p:nvSpPr>
        <p:spPr>
          <a:xfrm>
            <a:off x="548640" y="2624327"/>
            <a:ext cx="5120640" cy="347472"/>
          </a:xfrm>
          <a:prstGeom prst="rect">
            <a:avLst/>
          </a:prstGeom>
          <a:noFill/>
        </p:spPr>
        <p:txBody>
          <a:bodyPr wrap="square">
            <a:spAutoFit/>
          </a:bodyPr>
          <a:lstStyle/>
          <a:p>
            <a:pPr algn="l"/>
            <a:r>
              <a:rPr sz="1300" b="0">
                <a:solidFill>
                  <a:srgbClr val="212121"/>
                </a:solidFill>
              </a:rPr>
              <a:t>・ 「ASRの前処理として使えば精度が上がる」</a:t>
            </a:r>
          </a:p>
        </p:txBody>
      </p:sp>
      <p:sp>
        <p:nvSpPr>
          <p:cNvPr id="12" name="TextBox 11"/>
          <p:cNvSpPr txBox="1"/>
          <p:nvPr/>
        </p:nvSpPr>
        <p:spPr>
          <a:xfrm>
            <a:off x="548640" y="2999231"/>
            <a:ext cx="5120640" cy="347472"/>
          </a:xfrm>
          <a:prstGeom prst="rect">
            <a:avLst/>
          </a:prstGeom>
          <a:noFill/>
        </p:spPr>
        <p:txBody>
          <a:bodyPr wrap="square">
            <a:spAutoFit/>
          </a:bodyPr>
          <a:lstStyle/>
          <a:p>
            <a:pPr algn="l"/>
            <a:r>
              <a:rPr sz="1300" b="0">
                <a:solidFill>
                  <a:srgbClr val="212121"/>
                </a:solidFill>
              </a:rPr>
              <a:t>・ という期待のもとに広く使われてきた</a:t>
            </a:r>
          </a:p>
        </p:txBody>
      </p:sp>
      <p:sp>
        <p:nvSpPr>
          <p:cNvPr id="13" name="Rectangle 12"/>
          <p:cNvSpPr/>
          <p:nvPr/>
        </p:nvSpPr>
        <p:spPr>
          <a:xfrm>
            <a:off x="6035040" y="1325880"/>
            <a:ext cx="5760720" cy="210312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1417320"/>
            <a:ext cx="5486400" cy="365760"/>
          </a:xfrm>
          <a:prstGeom prst="rect">
            <a:avLst/>
          </a:prstGeom>
          <a:noFill/>
        </p:spPr>
        <p:txBody>
          <a:bodyPr wrap="square">
            <a:spAutoFit/>
          </a:bodyPr>
          <a:lstStyle/>
          <a:p>
            <a:pPr algn="l"/>
            <a:r>
              <a:rPr sz="1500" b="1">
                <a:solidFill>
                  <a:srgbClr val="C62828"/>
                </a:solidFill>
              </a:rPr>
              <a:t>通説を覆した先行研究</a:t>
            </a:r>
          </a:p>
        </p:txBody>
      </p:sp>
      <p:sp>
        <p:nvSpPr>
          <p:cNvPr id="15" name="Rectangle 14"/>
          <p:cNvSpPr/>
          <p:nvPr/>
        </p:nvSpPr>
        <p:spPr>
          <a:xfrm>
            <a:off x="6172200" y="1828800"/>
            <a:ext cx="5394960" cy="749808"/>
          </a:xfrm>
          <a:prstGeom prst="rect">
            <a:avLst/>
          </a:prstGeom>
          <a:solidFill>
            <a:srgbClr val="FF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1865376"/>
            <a:ext cx="5120640" cy="292608"/>
          </a:xfrm>
          <a:prstGeom prst="rect">
            <a:avLst/>
          </a:prstGeom>
          <a:noFill/>
        </p:spPr>
        <p:txBody>
          <a:bodyPr wrap="square">
            <a:spAutoFit/>
          </a:bodyPr>
          <a:lstStyle/>
          <a:p>
            <a:pPr algn="l"/>
            <a:r>
              <a:rPr sz="1200" b="1">
                <a:solidFill>
                  <a:srgbClr val="C62828"/>
                </a:solidFill>
              </a:rPr>
              <a:t>Ochiai et al. (TASLP 2024)</a:t>
            </a:r>
          </a:p>
        </p:txBody>
      </p:sp>
      <p:sp>
        <p:nvSpPr>
          <p:cNvPr id="17" name="TextBox 16"/>
          <p:cNvSpPr txBox="1"/>
          <p:nvPr/>
        </p:nvSpPr>
        <p:spPr>
          <a:xfrm>
            <a:off x="6309360" y="2176272"/>
            <a:ext cx="5120640" cy="347472"/>
          </a:xfrm>
          <a:prstGeom prst="rect">
            <a:avLst/>
          </a:prstGeom>
          <a:noFill/>
        </p:spPr>
        <p:txBody>
          <a:bodyPr wrap="square">
            <a:spAutoFit/>
          </a:bodyPr>
          <a:lstStyle/>
          <a:p>
            <a:pPr algn="l"/>
            <a:r>
              <a:rPr sz="1200" b="0">
                <a:solidFill>
                  <a:srgbClr val="212121"/>
                </a:solidFill>
              </a:rPr>
              <a:t>SEが生成する「アーティファクト誤差」が
残留ノイズよりASRに有害と実証</a:t>
            </a:r>
          </a:p>
        </p:txBody>
      </p:sp>
      <p:sp>
        <p:nvSpPr>
          <p:cNvPr id="18" name="Rectangle 17"/>
          <p:cNvSpPr/>
          <p:nvPr/>
        </p:nvSpPr>
        <p:spPr>
          <a:xfrm>
            <a:off x="6172200" y="2697480"/>
            <a:ext cx="5394960" cy="749808"/>
          </a:xfrm>
          <a:prstGeom prst="rect">
            <a:avLst/>
          </a:prstGeom>
          <a:solidFill>
            <a:srgbClr val="FF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2734056"/>
            <a:ext cx="5120640" cy="292608"/>
          </a:xfrm>
          <a:prstGeom prst="rect">
            <a:avLst/>
          </a:prstGeom>
          <a:noFill/>
        </p:spPr>
        <p:txBody>
          <a:bodyPr wrap="square">
            <a:spAutoFit/>
          </a:bodyPr>
          <a:lstStyle/>
          <a:p>
            <a:pPr algn="l"/>
            <a:r>
              <a:rPr sz="1200" b="1">
                <a:solidFill>
                  <a:srgbClr val="C62828"/>
                </a:solidFill>
              </a:rPr>
              <a:t>Mawalim et al. (Interspeech 2024)</a:t>
            </a:r>
          </a:p>
        </p:txBody>
      </p:sp>
      <p:sp>
        <p:nvSpPr>
          <p:cNvPr id="20" name="TextBox 19"/>
          <p:cNvSpPr txBox="1"/>
          <p:nvPr/>
        </p:nvSpPr>
        <p:spPr>
          <a:xfrm>
            <a:off x="6309360" y="3044952"/>
            <a:ext cx="5120640" cy="347472"/>
          </a:xfrm>
          <a:prstGeom prst="rect">
            <a:avLst/>
          </a:prstGeom>
          <a:noFill/>
        </p:spPr>
        <p:txBody>
          <a:bodyPr wrap="square">
            <a:spAutoFit/>
          </a:bodyPr>
          <a:lstStyle/>
          <a:p>
            <a:pPr algn="l"/>
            <a:r>
              <a:rPr sz="1200" b="0">
                <a:solidFill>
                  <a:srgbClr val="212121"/>
                </a:solidFill>
              </a:rPr>
              <a:t>最新DL-SEは実環境でASRを
必ずしも改善しないことを確認</a:t>
            </a:r>
          </a:p>
        </p:txBody>
      </p:sp>
      <p:sp>
        <p:nvSpPr>
          <p:cNvPr id="21" name="Rectangle 20"/>
          <p:cNvSpPr/>
          <p:nvPr/>
        </p:nvSpPr>
        <p:spPr>
          <a:xfrm>
            <a:off x="365760" y="3611880"/>
            <a:ext cx="11430000" cy="960120"/>
          </a:xfrm>
          <a:prstGeom prst="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3657600"/>
            <a:ext cx="2286000" cy="320040"/>
          </a:xfrm>
          <a:prstGeom prst="rect">
            <a:avLst/>
          </a:prstGeom>
          <a:noFill/>
        </p:spPr>
        <p:txBody>
          <a:bodyPr wrap="square">
            <a:spAutoFit/>
          </a:bodyPr>
          <a:lstStyle/>
          <a:p>
            <a:pPr algn="l"/>
            <a:r>
              <a:rPr sz="1400" b="1">
                <a:solidFill>
                  <a:srgbClr val="FF6F00"/>
                </a:solidFill>
              </a:rPr>
              <a:t>未解決の問い</a:t>
            </a:r>
          </a:p>
        </p:txBody>
      </p:sp>
      <p:sp>
        <p:nvSpPr>
          <p:cNvPr id="23" name="TextBox 22"/>
          <p:cNvSpPr txBox="1"/>
          <p:nvPr/>
        </p:nvSpPr>
        <p:spPr>
          <a:xfrm>
            <a:off x="548640" y="4023360"/>
            <a:ext cx="11064240" cy="502920"/>
          </a:xfrm>
          <a:prstGeom prst="rect">
            <a:avLst/>
          </a:prstGeom>
          <a:noFill/>
        </p:spPr>
        <p:txBody>
          <a:bodyPr wrap="square">
            <a:spAutoFit/>
          </a:bodyPr>
          <a:lstStyle/>
          <a:p>
            <a:pPr algn="l"/>
            <a:r>
              <a:rPr sz="1400" b="0">
                <a:solidFill>
                  <a:srgbClr val="212121"/>
                </a:solidFill>
              </a:rPr>
              <a:t>上記現象は「一般的なマイク・一般ノイズ」での研究。高周波成分が欠落した喉マイクというドメイン外入力に対してSEを適用したとき，知覚品質とASR性能はどう変化するか？</a:t>
            </a:r>
          </a:p>
        </p:txBody>
      </p:sp>
      <p:sp>
        <p:nvSpPr>
          <p:cNvPr id="24" name="Rectangle 23"/>
          <p:cNvSpPr/>
          <p:nvPr/>
        </p:nvSpPr>
        <p:spPr>
          <a:xfrm>
            <a:off x="365760" y="4754880"/>
            <a:ext cx="11430000" cy="17373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4846320"/>
            <a:ext cx="4572000" cy="320040"/>
          </a:xfrm>
          <a:prstGeom prst="rect">
            <a:avLst/>
          </a:prstGeom>
          <a:noFill/>
        </p:spPr>
        <p:txBody>
          <a:bodyPr wrap="square">
            <a:spAutoFit/>
          </a:bodyPr>
          <a:lstStyle/>
          <a:p>
            <a:pPr algn="l"/>
            <a:r>
              <a:rPr sz="1300" b="1">
                <a:solidFill>
                  <a:srgbClr val="1A237E"/>
                </a:solidFill>
              </a:rPr>
              <a:t>本研究で使用したSEモデル</a:t>
            </a:r>
          </a:p>
        </p:txBody>
      </p:sp>
      <p:sp>
        <p:nvSpPr>
          <p:cNvPr id="26" name="TextBox 25"/>
          <p:cNvSpPr txBox="1"/>
          <p:nvPr/>
        </p:nvSpPr>
        <p:spPr>
          <a:xfrm>
            <a:off x="548640" y="5212080"/>
            <a:ext cx="4114800" cy="274320"/>
          </a:xfrm>
          <a:prstGeom prst="rect">
            <a:avLst/>
          </a:prstGeom>
          <a:noFill/>
        </p:spPr>
        <p:txBody>
          <a:bodyPr wrap="square">
            <a:spAutoFit/>
          </a:bodyPr>
          <a:lstStyle/>
          <a:p>
            <a:pPr algn="l"/>
            <a:r>
              <a:rPr sz="1300" b="1">
                <a:solidFill>
                  <a:srgbClr val="FF9800"/>
                </a:solidFill>
              </a:rPr>
              <a:t>● DSP-only</a:t>
            </a:r>
          </a:p>
        </p:txBody>
      </p:sp>
      <p:sp>
        <p:nvSpPr>
          <p:cNvPr id="27" name="TextBox 26"/>
          <p:cNvSpPr txBox="1"/>
          <p:nvPr/>
        </p:nvSpPr>
        <p:spPr>
          <a:xfrm>
            <a:off x="4846320" y="5212080"/>
            <a:ext cx="6858000" cy="274320"/>
          </a:xfrm>
          <a:prstGeom prst="rect">
            <a:avLst/>
          </a:prstGeom>
          <a:noFill/>
        </p:spPr>
        <p:txBody>
          <a:bodyPr wrap="square">
            <a:spAutoFit/>
          </a:bodyPr>
          <a:lstStyle/>
          <a:p>
            <a:pPr algn="l"/>
            <a:r>
              <a:rPr sz="1300" b="0">
                <a:solidFill>
                  <a:srgbClr val="212121"/>
                </a:solidFill>
              </a:rPr>
              <a:t>ハイパスフィルタ（300Hz）＋プリエンファシス＋正規化</a:t>
            </a:r>
          </a:p>
        </p:txBody>
      </p:sp>
      <p:sp>
        <p:nvSpPr>
          <p:cNvPr id="28" name="TextBox 27"/>
          <p:cNvSpPr txBox="1"/>
          <p:nvPr/>
        </p:nvSpPr>
        <p:spPr>
          <a:xfrm>
            <a:off x="548640" y="5760720"/>
            <a:ext cx="4114800" cy="274320"/>
          </a:xfrm>
          <a:prstGeom prst="rect">
            <a:avLst/>
          </a:prstGeom>
          <a:noFill/>
        </p:spPr>
        <p:txBody>
          <a:bodyPr wrap="square">
            <a:spAutoFit/>
          </a:bodyPr>
          <a:lstStyle/>
          <a:p>
            <a:pPr algn="l"/>
            <a:r>
              <a:rPr sz="1300" b="1">
                <a:solidFill>
                  <a:srgbClr val="43A047"/>
                </a:solidFill>
              </a:rPr>
              <a:t>● GTCRN（48K パラメータの軽量DNN）</a:t>
            </a:r>
          </a:p>
        </p:txBody>
      </p:sp>
      <p:sp>
        <p:nvSpPr>
          <p:cNvPr id="29" name="TextBox 28"/>
          <p:cNvSpPr txBox="1"/>
          <p:nvPr/>
        </p:nvSpPr>
        <p:spPr>
          <a:xfrm>
            <a:off x="4846320" y="5760720"/>
            <a:ext cx="6858000" cy="274320"/>
          </a:xfrm>
          <a:prstGeom prst="rect">
            <a:avLst/>
          </a:prstGeom>
          <a:noFill/>
        </p:spPr>
        <p:txBody>
          <a:bodyPr wrap="square">
            <a:spAutoFit/>
          </a:bodyPr>
          <a:lstStyle/>
          <a:p>
            <a:pPr algn="l"/>
            <a:r>
              <a:rPr sz="1300" b="0">
                <a:solidFill>
                  <a:srgbClr val="212121"/>
                </a:solidFill>
              </a:rPr>
              <a:t>DNS3（気導マイク・英語）で学習済み → 喉マイクはドメイン外</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37160"/>
            <a:ext cx="10789920" cy="777240"/>
          </a:xfrm>
          <a:prstGeom prst="rect">
            <a:avLst/>
          </a:prstGeom>
          <a:noFill/>
        </p:spPr>
        <p:txBody>
          <a:bodyPr wrap="square">
            <a:spAutoFit/>
          </a:bodyPr>
          <a:lstStyle/>
          <a:p>
            <a:pPr algn="l"/>
            <a:r>
              <a:rPr sz="2600" b="1">
                <a:solidFill>
                  <a:srgbClr val="FFFFFF"/>
                </a:solidFill>
              </a:rPr>
              <a:t>主要発見：知覚品質↑なのにASR性能↓（三重パラドックス）</a:t>
            </a:r>
          </a:p>
        </p:txBody>
      </p:sp>
      <p:sp>
        <p:nvSpPr>
          <p:cNvPr id="4" name="TextBox 3"/>
          <p:cNvSpPr txBox="1"/>
          <p:nvPr/>
        </p:nvSpPr>
        <p:spPr>
          <a:xfrm>
            <a:off x="11247120" y="411480"/>
            <a:ext cx="822960" cy="365760"/>
          </a:xfrm>
          <a:prstGeom prst="rect">
            <a:avLst/>
          </a:prstGeom>
          <a:noFill/>
        </p:spPr>
        <p:txBody>
          <a:bodyPr wrap="square">
            <a:spAutoFit/>
          </a:bodyPr>
          <a:lstStyle/>
          <a:p>
            <a:pPr algn="r"/>
            <a:r>
              <a:rPr sz="1300" b="0">
                <a:solidFill>
                  <a:srgbClr val="78909C"/>
                </a:solidFill>
              </a:rPr>
              <a:t>4 / 5</a:t>
            </a:r>
          </a:p>
        </p:txBody>
      </p:sp>
      <p:sp>
        <p:nvSpPr>
          <p:cNvPr id="5" name="Rectangle 4"/>
          <p:cNvSpPr/>
          <p:nvPr/>
        </p:nvSpPr>
        <p:spPr>
          <a:xfrm>
            <a:off x="0" y="6583680"/>
            <a:ext cx="12188952" cy="27432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01968"/>
            <a:ext cx="11612880" cy="228600"/>
          </a:xfrm>
          <a:prstGeom prst="rect">
            <a:avLst/>
          </a:prstGeom>
          <a:noFill/>
        </p:spPr>
        <p:txBody>
          <a:bodyPr wrap="square">
            <a:spAutoFit/>
          </a:bodyPr>
          <a:lstStyle/>
          <a:p>
            <a:pPr algn="l"/>
            <a:r>
              <a:rPr sz="900" b="0">
                <a:solidFill>
                  <a:srgbClr val="78909C"/>
                </a:solidFill>
              </a:rPr>
              <a:t>骨伝導マイク音声認識研究 — 概要</a:t>
            </a:r>
          </a:p>
        </p:txBody>
      </p:sp>
      <p:pic>
        <p:nvPicPr>
          <p:cNvPr id="7" name="Picture 6" descr="image.png"/>
          <p:cNvPicPr>
            <a:picLocks noChangeAspect="1"/>
          </p:cNvPicPr>
          <p:nvPr/>
        </p:nvPicPr>
        <p:blipFill>
          <a:blip r:embed="rId2"/>
          <a:stretch>
            <a:fillRect/>
          </a:stretch>
        </p:blipFill>
        <p:spPr>
          <a:xfrm>
            <a:off x="365760" y="1371600"/>
            <a:ext cx="5486400" cy="3016598"/>
          </a:xfrm>
          <a:prstGeom prst="rect">
            <a:avLst/>
          </a:prstGeom>
        </p:spPr>
      </p:pic>
      <p:sp>
        <p:nvSpPr>
          <p:cNvPr id="8" name="TextBox 7"/>
          <p:cNvSpPr txBox="1"/>
          <p:nvPr/>
        </p:nvSpPr>
        <p:spPr>
          <a:xfrm>
            <a:off x="365760" y="4846320"/>
            <a:ext cx="5669280" cy="320040"/>
          </a:xfrm>
          <a:prstGeom prst="rect">
            <a:avLst/>
          </a:prstGeom>
          <a:noFill/>
        </p:spPr>
        <p:txBody>
          <a:bodyPr wrap="square">
            <a:spAutoFit/>
          </a:bodyPr>
          <a:lstStyle/>
          <a:p>
            <a:pPr algn="ctr"/>
            <a:r>
              <a:rPr sz="1000" b="0">
                <a:solidFill>
                  <a:srgbClr val="78909C"/>
                </a:solidFill>
              </a:rPr>
              <a:t>図：SNR 0 dB 白色ノイズ条件での SE前後の指標変化</a:t>
            </a:r>
          </a:p>
        </p:txBody>
      </p:sp>
      <p:sp>
        <p:nvSpPr>
          <p:cNvPr id="9" name="Rectangle 8"/>
          <p:cNvSpPr/>
          <p:nvPr/>
        </p:nvSpPr>
        <p:spPr>
          <a:xfrm>
            <a:off x="6217920" y="1371600"/>
            <a:ext cx="5577840" cy="347472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463040"/>
            <a:ext cx="5303520" cy="384048"/>
          </a:xfrm>
          <a:prstGeom prst="rect">
            <a:avLst/>
          </a:prstGeom>
          <a:noFill/>
        </p:spPr>
        <p:txBody>
          <a:bodyPr wrap="square">
            <a:spAutoFit/>
          </a:bodyPr>
          <a:lstStyle/>
          <a:p>
            <a:pPr algn="l"/>
            <a:r>
              <a:rPr sz="1600" b="1">
                <a:solidFill>
                  <a:srgbClr val="C62828"/>
                </a:solidFill>
              </a:rPr>
              <a:t>何が起きているか</a:t>
            </a:r>
          </a:p>
        </p:txBody>
      </p:sp>
      <p:sp>
        <p:nvSpPr>
          <p:cNvPr id="11" name="TextBox 10"/>
          <p:cNvSpPr txBox="1"/>
          <p:nvPr/>
        </p:nvSpPr>
        <p:spPr>
          <a:xfrm>
            <a:off x="6355080" y="1965960"/>
            <a:ext cx="5303520" cy="347472"/>
          </a:xfrm>
          <a:prstGeom prst="rect">
            <a:avLst/>
          </a:prstGeom>
          <a:noFill/>
        </p:spPr>
        <p:txBody>
          <a:bodyPr wrap="square">
            <a:spAutoFit/>
          </a:bodyPr>
          <a:lstStyle/>
          <a:p>
            <a:pPr algn="l"/>
            <a:r>
              <a:rPr sz="1300" b="0">
                <a:solidFill>
                  <a:srgbClr val="212121"/>
                </a:solidFill>
              </a:rPr>
              <a:t>GTCRN（SE）を適用すると…</a:t>
            </a:r>
          </a:p>
        </p:txBody>
      </p:sp>
      <p:sp>
        <p:nvSpPr>
          <p:cNvPr id="12" name="TextBox 11"/>
          <p:cNvSpPr txBox="1"/>
          <p:nvPr/>
        </p:nvSpPr>
        <p:spPr>
          <a:xfrm>
            <a:off x="6355080" y="2350008"/>
            <a:ext cx="5303520" cy="347472"/>
          </a:xfrm>
          <a:prstGeom prst="rect">
            <a:avLst/>
          </a:prstGeom>
          <a:noFill/>
        </p:spPr>
        <p:txBody>
          <a:bodyPr wrap="square">
            <a:spAutoFit/>
          </a:bodyPr>
          <a:lstStyle/>
          <a:p>
            <a:pPr algn="l"/>
            <a:r>
              <a:rPr sz="1300" b="0">
                <a:solidFill>
                  <a:srgbClr val="2E7D32"/>
                </a:solidFill>
              </a:rPr>
              <a:t>  STOI（了解度）: 0.585 → 0.721 ↑ 改善</a:t>
            </a:r>
          </a:p>
        </p:txBody>
      </p:sp>
      <p:sp>
        <p:nvSpPr>
          <p:cNvPr id="13" name="TextBox 12"/>
          <p:cNvSpPr txBox="1"/>
          <p:nvPr/>
        </p:nvSpPr>
        <p:spPr>
          <a:xfrm>
            <a:off x="6355080" y="2734056"/>
            <a:ext cx="5303520" cy="347472"/>
          </a:xfrm>
          <a:prstGeom prst="rect">
            <a:avLst/>
          </a:prstGeom>
          <a:noFill/>
        </p:spPr>
        <p:txBody>
          <a:bodyPr wrap="square">
            <a:spAutoFit/>
          </a:bodyPr>
          <a:lstStyle/>
          <a:p>
            <a:pPr algn="l"/>
            <a:r>
              <a:rPr sz="1300" b="0">
                <a:solidFill>
                  <a:srgbClr val="2E7D32"/>
                </a:solidFill>
              </a:rPr>
              <a:t>  PESQ（音質）:   1.018 → 1.706 ↑ 改善</a:t>
            </a:r>
          </a:p>
        </p:txBody>
      </p:sp>
      <p:sp>
        <p:nvSpPr>
          <p:cNvPr id="14" name="TextBox 13"/>
          <p:cNvSpPr txBox="1"/>
          <p:nvPr/>
        </p:nvSpPr>
        <p:spPr>
          <a:xfrm>
            <a:off x="6355080" y="3118104"/>
            <a:ext cx="5303520" cy="347472"/>
          </a:xfrm>
          <a:prstGeom prst="rect">
            <a:avLst/>
          </a:prstGeom>
          <a:noFill/>
        </p:spPr>
        <p:txBody>
          <a:bodyPr wrap="square">
            <a:spAutoFit/>
          </a:bodyPr>
          <a:lstStyle/>
          <a:p>
            <a:pPr algn="l"/>
            <a:r>
              <a:rPr sz="1300" b="0">
                <a:solidFill>
                  <a:srgbClr val="C62828"/>
                </a:solidFill>
              </a:rPr>
              <a:t>  CER（ASR誤り率）: 0.882 → 1.214 ↑ 悪化</a:t>
            </a:r>
          </a:p>
        </p:txBody>
      </p:sp>
      <p:sp>
        <p:nvSpPr>
          <p:cNvPr id="15" name="TextBox 14"/>
          <p:cNvSpPr txBox="1"/>
          <p:nvPr/>
        </p:nvSpPr>
        <p:spPr>
          <a:xfrm>
            <a:off x="6355080" y="3502152"/>
            <a:ext cx="5303520" cy="347472"/>
          </a:xfrm>
          <a:prstGeom prst="rect">
            <a:avLst/>
          </a:prstGeom>
          <a:noFill/>
        </p:spPr>
        <p:txBody>
          <a:bodyPr wrap="square">
            <a:spAutoFit/>
          </a:bodyPr>
          <a:lstStyle/>
          <a:p>
            <a:pPr algn="l"/>
            <a:endParaRPr/>
          </a:p>
        </p:txBody>
      </p:sp>
      <p:sp>
        <p:nvSpPr>
          <p:cNvPr id="16" name="TextBox 15"/>
          <p:cNvSpPr txBox="1"/>
          <p:nvPr/>
        </p:nvSpPr>
        <p:spPr>
          <a:xfrm>
            <a:off x="6355080" y="3886200"/>
            <a:ext cx="5303520" cy="347472"/>
          </a:xfrm>
          <a:prstGeom prst="rect">
            <a:avLst/>
          </a:prstGeom>
          <a:noFill/>
        </p:spPr>
        <p:txBody>
          <a:bodyPr wrap="square">
            <a:spAutoFit/>
          </a:bodyPr>
          <a:lstStyle/>
          <a:p>
            <a:pPr algn="l"/>
            <a:r>
              <a:rPr sz="1300" b="1">
                <a:solidFill>
                  <a:srgbClr val="1A237E"/>
                </a:solidFill>
              </a:rPr>
              <a:t>「聴こえやすくなったのに認識できない」</a:t>
            </a:r>
          </a:p>
        </p:txBody>
      </p:sp>
      <p:sp>
        <p:nvSpPr>
          <p:cNvPr id="17" name="Rectangle 16"/>
          <p:cNvSpPr/>
          <p:nvPr/>
        </p:nvSpPr>
        <p:spPr>
          <a:xfrm>
            <a:off x="6217920" y="4983480"/>
            <a:ext cx="5577840" cy="1051560"/>
          </a:xfrm>
          <a:prstGeom prst="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5029200"/>
            <a:ext cx="5303520" cy="347472"/>
          </a:xfrm>
          <a:prstGeom prst="rect">
            <a:avLst/>
          </a:prstGeom>
          <a:noFill/>
        </p:spPr>
        <p:txBody>
          <a:bodyPr wrap="square">
            <a:spAutoFit/>
          </a:bodyPr>
          <a:lstStyle/>
          <a:p>
            <a:pPr algn="l"/>
            <a:r>
              <a:rPr sz="1200" b="1">
                <a:solidFill>
                  <a:srgbClr val="FF6F00"/>
                </a:solidFill>
              </a:rPr>
              <a:t>原因（Ochiai et al. TASLP 2024 の枠組みより）</a:t>
            </a:r>
          </a:p>
        </p:txBody>
      </p:sp>
      <p:sp>
        <p:nvSpPr>
          <p:cNvPr id="19" name="TextBox 18"/>
          <p:cNvSpPr txBox="1"/>
          <p:nvPr/>
        </p:nvSpPr>
        <p:spPr>
          <a:xfrm>
            <a:off x="6355080" y="5202936"/>
            <a:ext cx="5303520" cy="594360"/>
          </a:xfrm>
          <a:prstGeom prst="rect">
            <a:avLst/>
          </a:prstGeom>
          <a:noFill/>
        </p:spPr>
        <p:txBody>
          <a:bodyPr wrap="square">
            <a:spAutoFit/>
          </a:bodyPr>
          <a:lstStyle/>
          <a:p>
            <a:pPr algn="l"/>
            <a:r>
              <a:rPr sz="1200" b="0" dirty="0" err="1">
                <a:solidFill>
                  <a:srgbClr val="212121"/>
                </a:solidFill>
              </a:rPr>
              <a:t>SEの非線形処理が「アーティファクト誤差」を生成</a:t>
            </a:r>
            <a:r>
              <a:rPr sz="1200" b="0" dirty="0">
                <a:solidFill>
                  <a:srgbClr val="212121"/>
                </a:solidFill>
              </a:rPr>
              <a:t>。
</a:t>
            </a:r>
            <a:r>
              <a:rPr sz="1200" b="0" dirty="0" err="1">
                <a:solidFill>
                  <a:srgbClr val="212121"/>
                </a:solidFill>
              </a:rPr>
              <a:t>自然界に存在しない音響パターンがASRを混乱させる</a:t>
            </a:r>
            <a:r>
              <a:rPr sz="1200" b="0" dirty="0">
                <a:solidFill>
                  <a:srgbClr val="212121"/>
                </a:solidFill>
              </a:rPr>
              <a:t>。
</a:t>
            </a:r>
            <a:r>
              <a:rPr sz="1200" b="0" dirty="0" err="1">
                <a:solidFill>
                  <a:srgbClr val="212121"/>
                </a:solidFill>
              </a:rPr>
              <a:t>STOI・PESQはこの誤差を検出できない</a:t>
            </a:r>
            <a:r>
              <a:rPr sz="1200" b="0" dirty="0">
                <a:solidFill>
                  <a:srgbClr val="212121"/>
                </a:solidFill>
              </a:rPr>
              <a:t>。</a:t>
            </a:r>
          </a:p>
        </p:txBody>
      </p:sp>
      <p:sp>
        <p:nvSpPr>
          <p:cNvPr id="20" name="Rectangle 19"/>
          <p:cNvSpPr/>
          <p:nvPr/>
        </p:nvSpPr>
        <p:spPr>
          <a:xfrm>
            <a:off x="365760" y="5806440"/>
            <a:ext cx="11430000" cy="68580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5925312"/>
            <a:ext cx="11064240" cy="411480"/>
          </a:xfrm>
          <a:prstGeom prst="rect">
            <a:avLst/>
          </a:prstGeom>
          <a:noFill/>
        </p:spPr>
        <p:txBody>
          <a:bodyPr wrap="square">
            <a:spAutoFit/>
          </a:bodyPr>
          <a:lstStyle/>
          <a:p>
            <a:pPr algn="ctr"/>
            <a:r>
              <a:rPr sz="1400" b="1">
                <a:solidFill>
                  <a:srgbClr val="C62828"/>
                </a:solidFill>
              </a:rPr>
              <a:t>統計検定：34ノイズ条件のうち30条件でWilcoxon検定を実施 → 26/30条件で有意差 (p &lt; 0.05)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37160"/>
            <a:ext cx="10789920" cy="777240"/>
          </a:xfrm>
          <a:prstGeom prst="rect">
            <a:avLst/>
          </a:prstGeom>
          <a:noFill/>
        </p:spPr>
        <p:txBody>
          <a:bodyPr wrap="square">
            <a:spAutoFit/>
          </a:bodyPr>
          <a:lstStyle/>
          <a:p>
            <a:pPr algn="l"/>
            <a:r>
              <a:rPr sz="2600" b="1">
                <a:solidFill>
                  <a:srgbClr val="FFFFFF"/>
                </a:solidFill>
              </a:rPr>
              <a:t>なぜASRが悪化するのか：スペクトル分析</a:t>
            </a:r>
          </a:p>
        </p:txBody>
      </p:sp>
      <p:sp>
        <p:nvSpPr>
          <p:cNvPr id="4" name="TextBox 3"/>
          <p:cNvSpPr txBox="1"/>
          <p:nvPr/>
        </p:nvSpPr>
        <p:spPr>
          <a:xfrm>
            <a:off x="11247120" y="411480"/>
            <a:ext cx="822960" cy="365760"/>
          </a:xfrm>
          <a:prstGeom prst="rect">
            <a:avLst/>
          </a:prstGeom>
          <a:noFill/>
        </p:spPr>
        <p:txBody>
          <a:bodyPr wrap="square">
            <a:spAutoFit/>
          </a:bodyPr>
          <a:lstStyle/>
          <a:p>
            <a:pPr algn="r"/>
            <a:r>
              <a:rPr sz="1300" b="0">
                <a:solidFill>
                  <a:srgbClr val="78909C"/>
                </a:solidFill>
              </a:rPr>
              <a:t>5 / 5</a:t>
            </a:r>
          </a:p>
        </p:txBody>
      </p:sp>
      <p:sp>
        <p:nvSpPr>
          <p:cNvPr id="5" name="Rectangle 4"/>
          <p:cNvSpPr/>
          <p:nvPr/>
        </p:nvSpPr>
        <p:spPr>
          <a:xfrm>
            <a:off x="0" y="6594831"/>
            <a:ext cx="12188952" cy="27432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01968"/>
            <a:ext cx="11612880" cy="228600"/>
          </a:xfrm>
          <a:prstGeom prst="rect">
            <a:avLst/>
          </a:prstGeom>
          <a:noFill/>
        </p:spPr>
        <p:txBody>
          <a:bodyPr wrap="square">
            <a:spAutoFit/>
          </a:bodyPr>
          <a:lstStyle/>
          <a:p>
            <a:pPr algn="l"/>
            <a:r>
              <a:rPr sz="900" b="0">
                <a:solidFill>
                  <a:srgbClr val="78909C"/>
                </a:solidFill>
              </a:rPr>
              <a:t>骨伝導マイク音声認識研究 — 概要</a:t>
            </a:r>
          </a:p>
        </p:txBody>
      </p:sp>
      <p:pic>
        <p:nvPicPr>
          <p:cNvPr id="7" name="Picture 6" descr="image.png"/>
          <p:cNvPicPr>
            <a:picLocks noChangeAspect="1"/>
          </p:cNvPicPr>
          <p:nvPr/>
        </p:nvPicPr>
        <p:blipFill>
          <a:blip r:embed="rId3"/>
          <a:stretch>
            <a:fillRect/>
          </a:stretch>
        </p:blipFill>
        <p:spPr>
          <a:xfrm>
            <a:off x="685800" y="1302149"/>
            <a:ext cx="6446520" cy="5299819"/>
          </a:xfrm>
          <a:prstGeom prst="rect">
            <a:avLst/>
          </a:prstGeom>
        </p:spPr>
      </p:pic>
      <p:sp>
        <p:nvSpPr>
          <p:cNvPr id="8" name="TextBox 7"/>
          <p:cNvSpPr txBox="1"/>
          <p:nvPr/>
        </p:nvSpPr>
        <p:spPr>
          <a:xfrm>
            <a:off x="7818120" y="1371600"/>
            <a:ext cx="4160520" cy="347472"/>
          </a:xfrm>
          <a:prstGeom prst="rect">
            <a:avLst/>
          </a:prstGeom>
          <a:noFill/>
        </p:spPr>
        <p:txBody>
          <a:bodyPr wrap="square">
            <a:spAutoFit/>
          </a:bodyPr>
          <a:lstStyle/>
          <a:p>
            <a:pPr algn="l"/>
            <a:r>
              <a:rPr sz="1300" b="1">
                <a:solidFill>
                  <a:srgbClr val="1A237E"/>
                </a:solidFill>
              </a:rPr>
              <a:t>パネル(B)の差分グラフを読む</a:t>
            </a:r>
          </a:p>
        </p:txBody>
      </p:sp>
      <p:sp>
        <p:nvSpPr>
          <p:cNvPr id="9" name="TextBox 8"/>
          <p:cNvSpPr txBox="1"/>
          <p:nvPr/>
        </p:nvSpPr>
        <p:spPr>
          <a:xfrm>
            <a:off x="7818120" y="1755648"/>
            <a:ext cx="4160520" cy="411480"/>
          </a:xfrm>
          <a:prstGeom prst="rect">
            <a:avLst/>
          </a:prstGeom>
          <a:noFill/>
        </p:spPr>
        <p:txBody>
          <a:bodyPr wrap="square">
            <a:spAutoFit/>
          </a:bodyPr>
          <a:lstStyle/>
          <a:p>
            <a:pPr algn="l"/>
            <a:r>
              <a:rPr sz="1200" b="0">
                <a:solidFill>
                  <a:srgbClr val="78909C"/>
                </a:solidFill>
              </a:rPr>
              <a:t>赤塗り＝GTCRN がエネルギー追加
青塗り＝削除</a:t>
            </a:r>
          </a:p>
        </p:txBody>
      </p:sp>
      <p:sp>
        <p:nvSpPr>
          <p:cNvPr id="10" name="Rectangle 9"/>
          <p:cNvSpPr/>
          <p:nvPr/>
        </p:nvSpPr>
        <p:spPr>
          <a:xfrm>
            <a:off x="7818120" y="2286000"/>
            <a:ext cx="416052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60" y="2331720"/>
            <a:ext cx="1005840" cy="292608"/>
          </a:xfrm>
          <a:prstGeom prst="rect">
            <a:avLst/>
          </a:prstGeom>
          <a:noFill/>
        </p:spPr>
        <p:txBody>
          <a:bodyPr wrap="square">
            <a:spAutoFit/>
          </a:bodyPr>
          <a:lstStyle/>
          <a:p>
            <a:pPr algn="l"/>
            <a:r>
              <a:rPr sz="1100" b="1">
                <a:solidFill>
                  <a:srgbClr val="212121"/>
                </a:solidFill>
              </a:rPr>
              <a:t>0–50 Hz</a:t>
            </a:r>
          </a:p>
        </p:txBody>
      </p:sp>
      <p:sp>
        <p:nvSpPr>
          <p:cNvPr id="12" name="TextBox 11"/>
          <p:cNvSpPr txBox="1"/>
          <p:nvPr/>
        </p:nvSpPr>
        <p:spPr>
          <a:xfrm>
            <a:off x="8915400" y="2331720"/>
            <a:ext cx="1097280" cy="292608"/>
          </a:xfrm>
          <a:prstGeom prst="rect">
            <a:avLst/>
          </a:prstGeom>
          <a:noFill/>
        </p:spPr>
        <p:txBody>
          <a:bodyPr wrap="square">
            <a:spAutoFit/>
          </a:bodyPr>
          <a:lstStyle/>
          <a:p>
            <a:pPr algn="l"/>
            <a:r>
              <a:rPr sz="1300" b="1">
                <a:solidFill>
                  <a:srgbClr val="C62828"/>
                </a:solidFill>
              </a:rPr>
              <a:t>+15 dB</a:t>
            </a:r>
          </a:p>
        </p:txBody>
      </p:sp>
      <p:sp>
        <p:nvSpPr>
          <p:cNvPr id="13" name="TextBox 12"/>
          <p:cNvSpPr txBox="1"/>
          <p:nvPr/>
        </p:nvSpPr>
        <p:spPr>
          <a:xfrm>
            <a:off x="7909560" y="2633472"/>
            <a:ext cx="3931920" cy="256032"/>
          </a:xfrm>
          <a:prstGeom prst="rect">
            <a:avLst/>
          </a:prstGeom>
          <a:noFill/>
        </p:spPr>
        <p:txBody>
          <a:bodyPr wrap="square">
            <a:spAutoFit/>
          </a:bodyPr>
          <a:lstStyle/>
          <a:p>
            <a:pPr algn="l"/>
            <a:r>
              <a:rPr sz="1100" b="1">
                <a:solidFill>
                  <a:srgbClr val="C62828"/>
                </a:solidFill>
              </a:rPr>
              <a:t>極低域にアーティファクト</a:t>
            </a:r>
          </a:p>
        </p:txBody>
      </p:sp>
      <p:sp>
        <p:nvSpPr>
          <p:cNvPr id="14" name="TextBox 13"/>
          <p:cNvSpPr txBox="1"/>
          <p:nvPr/>
        </p:nvSpPr>
        <p:spPr>
          <a:xfrm>
            <a:off x="7909560" y="2889504"/>
            <a:ext cx="3931920" cy="256032"/>
          </a:xfrm>
          <a:prstGeom prst="rect">
            <a:avLst/>
          </a:prstGeom>
          <a:noFill/>
        </p:spPr>
        <p:txBody>
          <a:bodyPr wrap="square">
            <a:spAutoFit/>
          </a:bodyPr>
          <a:lstStyle/>
          <a:p>
            <a:pPr algn="l"/>
            <a:r>
              <a:rPr sz="1000" b="0">
                <a:solidFill>
                  <a:srgbClr val="78909C"/>
                </a:solidFill>
              </a:rPr>
              <a:t>ASR の音韻識別には無関係な帯域</a:t>
            </a:r>
          </a:p>
        </p:txBody>
      </p:sp>
      <p:sp>
        <p:nvSpPr>
          <p:cNvPr id="15" name="Rectangle 14"/>
          <p:cNvSpPr/>
          <p:nvPr/>
        </p:nvSpPr>
        <p:spPr>
          <a:xfrm>
            <a:off x="7818120" y="3291840"/>
            <a:ext cx="416052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09560" y="3337560"/>
            <a:ext cx="1005840" cy="292608"/>
          </a:xfrm>
          <a:prstGeom prst="rect">
            <a:avLst/>
          </a:prstGeom>
          <a:noFill/>
        </p:spPr>
        <p:txBody>
          <a:bodyPr wrap="square">
            <a:spAutoFit/>
          </a:bodyPr>
          <a:lstStyle/>
          <a:p>
            <a:pPr algn="l"/>
            <a:r>
              <a:rPr sz="1100" b="1">
                <a:solidFill>
                  <a:srgbClr val="212121"/>
                </a:solidFill>
              </a:rPr>
              <a:t>1–4 kHz</a:t>
            </a:r>
          </a:p>
        </p:txBody>
      </p:sp>
      <p:sp>
        <p:nvSpPr>
          <p:cNvPr id="17" name="TextBox 16"/>
          <p:cNvSpPr txBox="1"/>
          <p:nvPr/>
        </p:nvSpPr>
        <p:spPr>
          <a:xfrm>
            <a:off x="8915400" y="3337560"/>
            <a:ext cx="1097280" cy="292608"/>
          </a:xfrm>
          <a:prstGeom prst="rect">
            <a:avLst/>
          </a:prstGeom>
          <a:noFill/>
        </p:spPr>
        <p:txBody>
          <a:bodyPr wrap="square">
            <a:spAutoFit/>
          </a:bodyPr>
          <a:lstStyle/>
          <a:p>
            <a:pPr algn="l"/>
            <a:r>
              <a:rPr sz="1300" b="1">
                <a:solidFill>
                  <a:srgbClr val="FF6F00"/>
                </a:solidFill>
              </a:rPr>
              <a:t>−1〜2 dB</a:t>
            </a:r>
          </a:p>
        </p:txBody>
      </p:sp>
      <p:sp>
        <p:nvSpPr>
          <p:cNvPr id="18" name="TextBox 17"/>
          <p:cNvSpPr txBox="1"/>
          <p:nvPr/>
        </p:nvSpPr>
        <p:spPr>
          <a:xfrm>
            <a:off x="7909560" y="3639312"/>
            <a:ext cx="3931920" cy="256032"/>
          </a:xfrm>
          <a:prstGeom prst="rect">
            <a:avLst/>
          </a:prstGeom>
          <a:noFill/>
        </p:spPr>
        <p:txBody>
          <a:bodyPr wrap="square">
            <a:spAutoFit/>
          </a:bodyPr>
          <a:lstStyle/>
          <a:p>
            <a:pPr algn="l"/>
            <a:r>
              <a:rPr sz="1100" b="1">
                <a:solidFill>
                  <a:srgbClr val="FF6F00"/>
                </a:solidFill>
              </a:rPr>
              <a:t>フォルマント帯域を削減</a:t>
            </a:r>
          </a:p>
        </p:txBody>
      </p:sp>
      <p:sp>
        <p:nvSpPr>
          <p:cNvPr id="19" name="TextBox 18"/>
          <p:cNvSpPr txBox="1"/>
          <p:nvPr/>
        </p:nvSpPr>
        <p:spPr>
          <a:xfrm>
            <a:off x="7909560" y="3895344"/>
            <a:ext cx="3931920" cy="256032"/>
          </a:xfrm>
          <a:prstGeom prst="rect">
            <a:avLst/>
          </a:prstGeom>
          <a:noFill/>
        </p:spPr>
        <p:txBody>
          <a:bodyPr wrap="square">
            <a:spAutoFit/>
          </a:bodyPr>
          <a:lstStyle/>
          <a:p>
            <a:pPr algn="l"/>
            <a:r>
              <a:rPr sz="1000" b="0">
                <a:solidFill>
                  <a:srgbClr val="78909C"/>
                </a:solidFill>
              </a:rPr>
              <a:t>母音・子音の聞き分けに必要な成分</a:t>
            </a:r>
          </a:p>
        </p:txBody>
      </p:sp>
      <p:sp>
        <p:nvSpPr>
          <p:cNvPr id="20" name="Rectangle 19"/>
          <p:cNvSpPr/>
          <p:nvPr/>
        </p:nvSpPr>
        <p:spPr>
          <a:xfrm>
            <a:off x="7818120" y="4297680"/>
            <a:ext cx="416052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09560" y="4343400"/>
            <a:ext cx="1005840" cy="292608"/>
          </a:xfrm>
          <a:prstGeom prst="rect">
            <a:avLst/>
          </a:prstGeom>
          <a:noFill/>
        </p:spPr>
        <p:txBody>
          <a:bodyPr wrap="square">
            <a:spAutoFit/>
          </a:bodyPr>
          <a:lstStyle/>
          <a:p>
            <a:pPr algn="l"/>
            <a:r>
              <a:rPr sz="1100" b="1">
                <a:solidFill>
                  <a:srgbClr val="212121"/>
                </a:solidFill>
              </a:rPr>
              <a:t>4–8 kHz</a:t>
            </a:r>
          </a:p>
        </p:txBody>
      </p:sp>
      <p:sp>
        <p:nvSpPr>
          <p:cNvPr id="22" name="TextBox 21"/>
          <p:cNvSpPr txBox="1"/>
          <p:nvPr/>
        </p:nvSpPr>
        <p:spPr>
          <a:xfrm>
            <a:off x="8915400" y="4343400"/>
            <a:ext cx="1097280" cy="292608"/>
          </a:xfrm>
          <a:prstGeom prst="rect">
            <a:avLst/>
          </a:prstGeom>
          <a:noFill/>
        </p:spPr>
        <p:txBody>
          <a:bodyPr wrap="square">
            <a:spAutoFit/>
          </a:bodyPr>
          <a:lstStyle/>
          <a:p>
            <a:pPr algn="l"/>
            <a:r>
              <a:rPr sz="1300" b="1">
                <a:solidFill>
                  <a:srgbClr val="C62828"/>
                </a:solidFill>
              </a:rPr>
              <a:t>−12.7 dB</a:t>
            </a:r>
          </a:p>
        </p:txBody>
      </p:sp>
      <p:sp>
        <p:nvSpPr>
          <p:cNvPr id="23" name="TextBox 22"/>
          <p:cNvSpPr txBox="1"/>
          <p:nvPr/>
        </p:nvSpPr>
        <p:spPr>
          <a:xfrm>
            <a:off x="7909560" y="4645152"/>
            <a:ext cx="3931920" cy="256032"/>
          </a:xfrm>
          <a:prstGeom prst="rect">
            <a:avLst/>
          </a:prstGeom>
          <a:noFill/>
        </p:spPr>
        <p:txBody>
          <a:bodyPr wrap="square">
            <a:spAutoFit/>
          </a:bodyPr>
          <a:lstStyle/>
          <a:p>
            <a:pPr algn="l"/>
            <a:r>
              <a:rPr sz="1100" b="1">
                <a:solidFill>
                  <a:srgbClr val="C62828"/>
                </a:solidFill>
              </a:rPr>
              <a:t>高域を壊滅的に削除</a:t>
            </a:r>
          </a:p>
        </p:txBody>
      </p:sp>
      <p:sp>
        <p:nvSpPr>
          <p:cNvPr id="24" name="TextBox 23"/>
          <p:cNvSpPr txBox="1"/>
          <p:nvPr/>
        </p:nvSpPr>
        <p:spPr>
          <a:xfrm>
            <a:off x="7909560" y="4901184"/>
            <a:ext cx="3931920" cy="256032"/>
          </a:xfrm>
          <a:prstGeom prst="rect">
            <a:avLst/>
          </a:prstGeom>
          <a:noFill/>
        </p:spPr>
        <p:txBody>
          <a:bodyPr wrap="square">
            <a:spAutoFit/>
          </a:bodyPr>
          <a:lstStyle/>
          <a:p>
            <a:pPr algn="l"/>
            <a:r>
              <a:rPr sz="1000" b="0">
                <a:solidFill>
                  <a:srgbClr val="78909C"/>
                </a:solidFill>
              </a:rPr>
              <a:t>喉マイクで既に欠落→さらに除去</a:t>
            </a:r>
          </a:p>
        </p:txBody>
      </p:sp>
      <p:sp>
        <p:nvSpPr>
          <p:cNvPr id="25" name="Rectangle 24"/>
          <p:cNvSpPr/>
          <p:nvPr/>
        </p:nvSpPr>
        <p:spPr>
          <a:xfrm>
            <a:off x="7818120" y="5394960"/>
            <a:ext cx="4160520" cy="118872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55279" y="5440680"/>
            <a:ext cx="3840480" cy="292608"/>
          </a:xfrm>
          <a:prstGeom prst="rect">
            <a:avLst/>
          </a:prstGeom>
          <a:noFill/>
        </p:spPr>
        <p:txBody>
          <a:bodyPr wrap="square">
            <a:spAutoFit/>
          </a:bodyPr>
          <a:lstStyle/>
          <a:p>
            <a:pPr algn="l"/>
            <a:r>
              <a:rPr sz="1200" b="1">
                <a:solidFill>
                  <a:srgbClr val="C62828"/>
                </a:solidFill>
              </a:rPr>
              <a:t>本質的な問題</a:t>
            </a:r>
          </a:p>
        </p:txBody>
      </p:sp>
      <p:sp>
        <p:nvSpPr>
          <p:cNvPr id="27" name="TextBox 26"/>
          <p:cNvSpPr txBox="1"/>
          <p:nvPr/>
        </p:nvSpPr>
        <p:spPr>
          <a:xfrm>
            <a:off x="7955279" y="5760720"/>
            <a:ext cx="3840480" cy="777240"/>
          </a:xfrm>
          <a:prstGeom prst="rect">
            <a:avLst/>
          </a:prstGeom>
          <a:noFill/>
        </p:spPr>
        <p:txBody>
          <a:bodyPr wrap="square">
            <a:spAutoFit/>
          </a:bodyPr>
          <a:lstStyle/>
          <a:p>
            <a:pPr algn="l"/>
            <a:r>
              <a:rPr sz="1100" b="0">
                <a:solidFill>
                  <a:srgbClr val="1A237E"/>
                </a:solidFill>
              </a:rPr>
              <a:t>喉マイクは元々 2 kHz 以上が欠落。
GTCRN はそれを「ノイズ」と誤判定し
さらに削除 → 逆方向の動作。
STOI・PESQ はこの歪みを検出できない。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37160"/>
            <a:ext cx="10789920" cy="777240"/>
          </a:xfrm>
          <a:prstGeom prst="rect">
            <a:avLst/>
          </a:prstGeom>
          <a:noFill/>
        </p:spPr>
        <p:txBody>
          <a:bodyPr wrap="square">
            <a:spAutoFit/>
          </a:bodyPr>
          <a:lstStyle/>
          <a:p>
            <a:pPr algn="l"/>
            <a:r>
              <a:rPr sz="2600" b="1">
                <a:solidFill>
                  <a:srgbClr val="FFFFFF"/>
                </a:solidFill>
              </a:rPr>
              <a:t>解決策と結論：「音声を直す」より「ASRを慣れさせる」</a:t>
            </a:r>
          </a:p>
        </p:txBody>
      </p:sp>
      <p:sp>
        <p:nvSpPr>
          <p:cNvPr id="4" name="TextBox 3"/>
          <p:cNvSpPr txBox="1"/>
          <p:nvPr/>
        </p:nvSpPr>
        <p:spPr>
          <a:xfrm>
            <a:off x="11247120" y="411480"/>
            <a:ext cx="822960" cy="365760"/>
          </a:xfrm>
          <a:prstGeom prst="rect">
            <a:avLst/>
          </a:prstGeom>
          <a:noFill/>
        </p:spPr>
        <p:txBody>
          <a:bodyPr wrap="square">
            <a:spAutoFit/>
          </a:bodyPr>
          <a:lstStyle/>
          <a:p>
            <a:pPr algn="r"/>
            <a:r>
              <a:rPr sz="1300" b="0">
                <a:solidFill>
                  <a:srgbClr val="78909C"/>
                </a:solidFill>
              </a:rPr>
              <a:t>6 / 5</a:t>
            </a:r>
          </a:p>
        </p:txBody>
      </p:sp>
      <p:sp>
        <p:nvSpPr>
          <p:cNvPr id="5" name="Rectangle 4"/>
          <p:cNvSpPr/>
          <p:nvPr/>
        </p:nvSpPr>
        <p:spPr>
          <a:xfrm>
            <a:off x="0" y="6583680"/>
            <a:ext cx="12188952" cy="27432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01968"/>
            <a:ext cx="11612880" cy="228600"/>
          </a:xfrm>
          <a:prstGeom prst="rect">
            <a:avLst/>
          </a:prstGeom>
          <a:noFill/>
        </p:spPr>
        <p:txBody>
          <a:bodyPr wrap="square">
            <a:spAutoFit/>
          </a:bodyPr>
          <a:lstStyle/>
          <a:p>
            <a:pPr algn="l"/>
            <a:r>
              <a:rPr sz="900" b="0">
                <a:solidFill>
                  <a:srgbClr val="78909C"/>
                </a:solidFill>
              </a:rPr>
              <a:t>骨伝導マイク音声認識研究 — 概要</a:t>
            </a:r>
          </a:p>
        </p:txBody>
      </p:sp>
      <p:sp>
        <p:nvSpPr>
          <p:cNvPr id="7" name="Rectangle 6"/>
          <p:cNvSpPr/>
          <p:nvPr/>
        </p:nvSpPr>
        <p:spPr>
          <a:xfrm>
            <a:off x="365760" y="1325880"/>
            <a:ext cx="5394960" cy="3200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417320"/>
            <a:ext cx="5120640" cy="365760"/>
          </a:xfrm>
          <a:prstGeom prst="rect">
            <a:avLst/>
          </a:prstGeom>
          <a:noFill/>
        </p:spPr>
        <p:txBody>
          <a:bodyPr wrap="square">
            <a:spAutoFit/>
          </a:bodyPr>
          <a:lstStyle/>
          <a:p>
            <a:pPr algn="l"/>
            <a:r>
              <a:rPr sz="1400" b="1">
                <a:solidFill>
                  <a:srgbClr val="2E7D32"/>
                </a:solidFill>
              </a:rPr>
              <a:t>解決策：Whisper ファインチューニング（FT）</a:t>
            </a:r>
          </a:p>
        </p:txBody>
      </p:sp>
      <p:sp>
        <p:nvSpPr>
          <p:cNvPr id="9" name="TextBox 8"/>
          <p:cNvSpPr txBox="1"/>
          <p:nvPr/>
        </p:nvSpPr>
        <p:spPr>
          <a:xfrm>
            <a:off x="548640" y="1874519"/>
            <a:ext cx="5120640" cy="502920"/>
          </a:xfrm>
          <a:prstGeom prst="rect">
            <a:avLst/>
          </a:prstGeom>
          <a:noFill/>
        </p:spPr>
        <p:txBody>
          <a:bodyPr wrap="square">
            <a:spAutoFit/>
          </a:bodyPr>
          <a:lstStyle/>
          <a:p>
            <a:pPr algn="l"/>
            <a:r>
              <a:rPr sz="1300" b="0">
                <a:solidFill>
                  <a:srgbClr val="212121"/>
                </a:solidFill>
              </a:rPr>
              <a:t>喉マイク音声 4,000発話でWhisper smallを再学習
→ ASRモデルが喉マイクの音響特性を直接学習</a:t>
            </a:r>
          </a:p>
        </p:txBody>
      </p:sp>
      <p:pic>
        <p:nvPicPr>
          <p:cNvPr id="10" name="Picture 9" descr="image.png"/>
          <p:cNvPicPr>
            <a:picLocks noChangeAspect="1"/>
          </p:cNvPicPr>
          <p:nvPr/>
        </p:nvPicPr>
        <p:blipFill>
          <a:blip r:embed="rId2"/>
          <a:stretch>
            <a:fillRect/>
          </a:stretch>
        </p:blipFill>
        <p:spPr>
          <a:xfrm>
            <a:off x="457200" y="2423160"/>
            <a:ext cx="4846320" cy="1963595"/>
          </a:xfrm>
          <a:prstGeom prst="rect">
            <a:avLst/>
          </a:prstGeom>
        </p:spPr>
      </p:pic>
      <p:sp>
        <p:nvSpPr>
          <p:cNvPr id="11" name="Rectangle 10"/>
          <p:cNvSpPr/>
          <p:nvPr/>
        </p:nvSpPr>
        <p:spPr>
          <a:xfrm>
            <a:off x="6126480" y="1325880"/>
            <a:ext cx="566928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417320"/>
            <a:ext cx="5394960" cy="365760"/>
          </a:xfrm>
          <a:prstGeom prst="rect">
            <a:avLst/>
          </a:prstGeom>
          <a:noFill/>
        </p:spPr>
        <p:txBody>
          <a:bodyPr wrap="square">
            <a:spAutoFit/>
          </a:bodyPr>
          <a:lstStyle/>
          <a:p>
            <a:pPr algn="l"/>
            <a:r>
              <a:rPr sz="1400" b="1">
                <a:solidFill>
                  <a:srgbClr val="1A237E"/>
                </a:solidFill>
              </a:rPr>
              <a:t>補足：SE × FT の組み合わせ比較</a:t>
            </a:r>
          </a:p>
        </p:txBody>
      </p:sp>
      <p:pic>
        <p:nvPicPr>
          <p:cNvPr id="13" name="Picture 12" descr="image.png"/>
          <p:cNvPicPr>
            <a:picLocks noChangeAspect="1"/>
          </p:cNvPicPr>
          <p:nvPr/>
        </p:nvPicPr>
        <p:blipFill>
          <a:blip r:embed="rId3"/>
          <a:stretch>
            <a:fillRect/>
          </a:stretch>
        </p:blipFill>
        <p:spPr>
          <a:xfrm>
            <a:off x="6217920" y="1874519"/>
            <a:ext cx="5394960" cy="3146361"/>
          </a:xfrm>
          <a:prstGeom prst="rect">
            <a:avLst/>
          </a:prstGeom>
        </p:spPr>
      </p:pic>
      <p:sp>
        <p:nvSpPr>
          <p:cNvPr id="14" name="TextBox 13"/>
          <p:cNvSpPr txBox="1"/>
          <p:nvPr/>
        </p:nvSpPr>
        <p:spPr>
          <a:xfrm>
            <a:off x="6263640" y="4206240"/>
            <a:ext cx="5394960" cy="274320"/>
          </a:xfrm>
          <a:prstGeom prst="rect">
            <a:avLst/>
          </a:prstGeom>
          <a:noFill/>
        </p:spPr>
        <p:txBody>
          <a:bodyPr wrap="square">
            <a:spAutoFit/>
          </a:bodyPr>
          <a:lstStyle/>
          <a:p>
            <a:pPr algn="l"/>
            <a:r>
              <a:rPr sz="1200" b="0">
                <a:solidFill>
                  <a:srgbClr val="78909C"/>
                </a:solidFill>
              </a:rPr>
              <a:t>FT後もSEの逆効果は残るが悪影響は縮小（+0.091→+0.036）</a:t>
            </a:r>
          </a:p>
        </p:txBody>
      </p:sp>
      <p:sp>
        <p:nvSpPr>
          <p:cNvPr id="15" name="Rectangle 14"/>
          <p:cNvSpPr/>
          <p:nvPr/>
        </p:nvSpPr>
        <p:spPr>
          <a:xfrm>
            <a:off x="365760" y="4663440"/>
            <a:ext cx="11430000" cy="1874519"/>
          </a:xfrm>
          <a:prstGeom prst="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4736592"/>
            <a:ext cx="1828800" cy="347472"/>
          </a:xfrm>
          <a:prstGeom prst="rect">
            <a:avLst/>
          </a:prstGeom>
          <a:noFill/>
        </p:spPr>
        <p:txBody>
          <a:bodyPr wrap="square">
            <a:spAutoFit/>
          </a:bodyPr>
          <a:lstStyle/>
          <a:p>
            <a:pPr algn="l"/>
            <a:r>
              <a:rPr sz="1500" b="1">
                <a:solidFill>
                  <a:srgbClr val="1A237E"/>
                </a:solidFill>
              </a:rPr>
              <a:t>まとめ</a:t>
            </a:r>
          </a:p>
        </p:txBody>
      </p:sp>
      <p:sp>
        <p:nvSpPr>
          <p:cNvPr id="17" name="TextBox 16"/>
          <p:cNvSpPr txBox="1"/>
          <p:nvPr/>
        </p:nvSpPr>
        <p:spPr>
          <a:xfrm>
            <a:off x="548640" y="5120640"/>
            <a:ext cx="457200" cy="384048"/>
          </a:xfrm>
          <a:prstGeom prst="rect">
            <a:avLst/>
          </a:prstGeom>
          <a:noFill/>
        </p:spPr>
        <p:txBody>
          <a:bodyPr wrap="square">
            <a:spAutoFit/>
          </a:bodyPr>
          <a:lstStyle/>
          <a:p>
            <a:pPr algn="l"/>
            <a:r>
              <a:rPr sz="1400" b="1">
                <a:solidFill>
                  <a:srgbClr val="C62828"/>
                </a:solidFill>
              </a:rPr>
              <a:t>①</a:t>
            </a:r>
          </a:p>
        </p:txBody>
      </p:sp>
      <p:sp>
        <p:nvSpPr>
          <p:cNvPr id="18" name="TextBox 17"/>
          <p:cNvSpPr txBox="1"/>
          <p:nvPr/>
        </p:nvSpPr>
        <p:spPr>
          <a:xfrm>
            <a:off x="1005840" y="5120640"/>
            <a:ext cx="10607040" cy="384048"/>
          </a:xfrm>
          <a:prstGeom prst="rect">
            <a:avLst/>
          </a:prstGeom>
          <a:noFill/>
        </p:spPr>
        <p:txBody>
          <a:bodyPr wrap="square">
            <a:spAutoFit/>
          </a:bodyPr>
          <a:lstStyle/>
          <a:p>
            <a:pPr algn="l"/>
            <a:r>
              <a:rPr sz="1400" b="0">
                <a:solidFill>
                  <a:srgbClr val="212121"/>
                </a:solidFill>
              </a:rPr>
              <a:t>STOI↑PESQ↑でもCERが悪化する逆行現象が喉マイクでも全ノイズ条件で一貫して観測された</a:t>
            </a:r>
          </a:p>
        </p:txBody>
      </p:sp>
      <p:sp>
        <p:nvSpPr>
          <p:cNvPr id="19" name="TextBox 18"/>
          <p:cNvSpPr txBox="1"/>
          <p:nvPr/>
        </p:nvSpPr>
        <p:spPr>
          <a:xfrm>
            <a:off x="548640" y="5577840"/>
            <a:ext cx="457200" cy="384048"/>
          </a:xfrm>
          <a:prstGeom prst="rect">
            <a:avLst/>
          </a:prstGeom>
          <a:noFill/>
        </p:spPr>
        <p:txBody>
          <a:bodyPr wrap="square">
            <a:spAutoFit/>
          </a:bodyPr>
          <a:lstStyle/>
          <a:p>
            <a:pPr algn="l"/>
            <a:r>
              <a:rPr sz="1400" b="1">
                <a:solidFill>
                  <a:srgbClr val="FF6F00"/>
                </a:solidFill>
              </a:rPr>
              <a:t>②</a:t>
            </a:r>
          </a:p>
        </p:txBody>
      </p:sp>
      <p:sp>
        <p:nvSpPr>
          <p:cNvPr id="20" name="TextBox 19"/>
          <p:cNvSpPr txBox="1"/>
          <p:nvPr/>
        </p:nvSpPr>
        <p:spPr>
          <a:xfrm>
            <a:off x="1005840" y="5577840"/>
            <a:ext cx="10607040" cy="384048"/>
          </a:xfrm>
          <a:prstGeom prst="rect">
            <a:avLst/>
          </a:prstGeom>
          <a:noFill/>
        </p:spPr>
        <p:txBody>
          <a:bodyPr wrap="square">
            <a:spAutoFit/>
          </a:bodyPr>
          <a:lstStyle/>
          <a:p>
            <a:pPr algn="l"/>
            <a:r>
              <a:rPr sz="1400" b="0">
                <a:solidFill>
                  <a:srgbClr val="212121"/>
                </a:solidFill>
              </a:rPr>
              <a:t>知覚品質指標（STOI・PESQ）は喉マイクASR性能の指標として不適切</a:t>
            </a:r>
          </a:p>
        </p:txBody>
      </p:sp>
      <p:sp>
        <p:nvSpPr>
          <p:cNvPr id="21" name="TextBox 20"/>
          <p:cNvSpPr txBox="1"/>
          <p:nvPr/>
        </p:nvSpPr>
        <p:spPr>
          <a:xfrm>
            <a:off x="548640" y="6035040"/>
            <a:ext cx="457200" cy="384048"/>
          </a:xfrm>
          <a:prstGeom prst="rect">
            <a:avLst/>
          </a:prstGeom>
          <a:noFill/>
        </p:spPr>
        <p:txBody>
          <a:bodyPr wrap="square">
            <a:spAutoFit/>
          </a:bodyPr>
          <a:lstStyle/>
          <a:p>
            <a:pPr algn="l"/>
            <a:r>
              <a:rPr sz="1400" b="1">
                <a:solidFill>
                  <a:srgbClr val="2E7D32"/>
                </a:solidFill>
              </a:rPr>
              <a:t>③</a:t>
            </a:r>
          </a:p>
        </p:txBody>
      </p:sp>
      <p:sp>
        <p:nvSpPr>
          <p:cNvPr id="22" name="TextBox 21"/>
          <p:cNvSpPr txBox="1"/>
          <p:nvPr/>
        </p:nvSpPr>
        <p:spPr>
          <a:xfrm>
            <a:off x="1005840" y="6035040"/>
            <a:ext cx="10607040" cy="384048"/>
          </a:xfrm>
          <a:prstGeom prst="rect">
            <a:avLst/>
          </a:prstGeom>
          <a:noFill/>
        </p:spPr>
        <p:txBody>
          <a:bodyPr wrap="square">
            <a:spAutoFit/>
          </a:bodyPr>
          <a:lstStyle/>
          <a:p>
            <a:pPr algn="l"/>
            <a:r>
              <a:rPr sz="1400" b="0">
                <a:solidFill>
                  <a:srgbClr val="212121"/>
                </a:solidFill>
              </a:rPr>
              <a:t>Whisper FTでCER 72.4%改善（0.544→0.150，10話者）—音声処理よりASR適応が根本解決</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37160"/>
            <a:ext cx="10789920" cy="777240"/>
          </a:xfrm>
          <a:prstGeom prst="rect">
            <a:avLst/>
          </a:prstGeom>
          <a:noFill/>
        </p:spPr>
        <p:txBody>
          <a:bodyPr wrap="square">
            <a:spAutoFit/>
          </a:bodyPr>
          <a:lstStyle/>
          <a:p>
            <a:pPr algn="l"/>
            <a:r>
              <a:rPr sz="2600" b="1">
                <a:solidFill>
                  <a:srgbClr val="FFFFFF"/>
                </a:solidFill>
              </a:rPr>
              <a:t>本研究の新規性・限界・今後の展望</a:t>
            </a:r>
          </a:p>
        </p:txBody>
      </p:sp>
      <p:sp>
        <p:nvSpPr>
          <p:cNvPr id="4" name="TextBox 3"/>
          <p:cNvSpPr txBox="1"/>
          <p:nvPr/>
        </p:nvSpPr>
        <p:spPr>
          <a:xfrm>
            <a:off x="11247120" y="411480"/>
            <a:ext cx="822960" cy="365760"/>
          </a:xfrm>
          <a:prstGeom prst="rect">
            <a:avLst/>
          </a:prstGeom>
          <a:noFill/>
        </p:spPr>
        <p:txBody>
          <a:bodyPr wrap="square">
            <a:spAutoFit/>
          </a:bodyPr>
          <a:lstStyle/>
          <a:p>
            <a:pPr algn="r"/>
            <a:r>
              <a:rPr sz="1300" b="0">
                <a:solidFill>
                  <a:srgbClr val="78909C"/>
                </a:solidFill>
              </a:rPr>
              <a:t>7 / 5</a:t>
            </a:r>
          </a:p>
        </p:txBody>
      </p:sp>
      <p:sp>
        <p:nvSpPr>
          <p:cNvPr id="5" name="Rectangle 4"/>
          <p:cNvSpPr/>
          <p:nvPr/>
        </p:nvSpPr>
        <p:spPr>
          <a:xfrm>
            <a:off x="0" y="6583680"/>
            <a:ext cx="12188952" cy="27432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601968"/>
            <a:ext cx="11612880" cy="228600"/>
          </a:xfrm>
          <a:prstGeom prst="rect">
            <a:avLst/>
          </a:prstGeom>
          <a:noFill/>
        </p:spPr>
        <p:txBody>
          <a:bodyPr wrap="square">
            <a:spAutoFit/>
          </a:bodyPr>
          <a:lstStyle/>
          <a:p>
            <a:pPr algn="l"/>
            <a:r>
              <a:rPr sz="900" b="0">
                <a:solidFill>
                  <a:srgbClr val="78909C"/>
                </a:solidFill>
              </a:rPr>
              <a:t>骨伝導マイク音声認識研究 — 概要</a:t>
            </a:r>
          </a:p>
        </p:txBody>
      </p:sp>
      <p:sp>
        <p:nvSpPr>
          <p:cNvPr id="7" name="Rectangle 6"/>
          <p:cNvSpPr/>
          <p:nvPr/>
        </p:nvSpPr>
        <p:spPr>
          <a:xfrm>
            <a:off x="274320" y="1325880"/>
            <a:ext cx="3749039" cy="52120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417320"/>
            <a:ext cx="3474720" cy="347472"/>
          </a:xfrm>
          <a:prstGeom prst="rect">
            <a:avLst/>
          </a:prstGeom>
          <a:noFill/>
        </p:spPr>
        <p:txBody>
          <a:bodyPr wrap="square">
            <a:spAutoFit/>
          </a:bodyPr>
          <a:lstStyle/>
          <a:p>
            <a:pPr algn="l"/>
            <a:r>
              <a:rPr sz="1400" b="1">
                <a:solidFill>
                  <a:srgbClr val="2E7D32"/>
                </a:solidFill>
              </a:rPr>
              <a:t>本研究の新規性</a:t>
            </a:r>
          </a:p>
        </p:txBody>
      </p:sp>
      <p:sp>
        <p:nvSpPr>
          <p:cNvPr id="9" name="Rectangle 8"/>
          <p:cNvSpPr/>
          <p:nvPr/>
        </p:nvSpPr>
        <p:spPr>
          <a:xfrm>
            <a:off x="411480" y="1874519"/>
            <a:ext cx="3474720" cy="13716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920239"/>
            <a:ext cx="3291840" cy="502920"/>
          </a:xfrm>
          <a:prstGeom prst="rect">
            <a:avLst/>
          </a:prstGeom>
          <a:noFill/>
        </p:spPr>
        <p:txBody>
          <a:bodyPr wrap="square">
            <a:spAutoFit/>
          </a:bodyPr>
          <a:lstStyle/>
          <a:p>
            <a:pPr algn="l"/>
            <a:r>
              <a:rPr sz="1200" b="1">
                <a:solidFill>
                  <a:srgbClr val="2E7D32"/>
                </a:solidFill>
              </a:rPr>
              <a:t>● 喉マイク特有のドメインで
SE逆効果を系統的に実証</a:t>
            </a:r>
          </a:p>
        </p:txBody>
      </p:sp>
      <p:sp>
        <p:nvSpPr>
          <p:cNvPr id="11" name="TextBox 10"/>
          <p:cNvSpPr txBox="1"/>
          <p:nvPr/>
        </p:nvSpPr>
        <p:spPr>
          <a:xfrm>
            <a:off x="502920" y="2441447"/>
            <a:ext cx="3291840" cy="731520"/>
          </a:xfrm>
          <a:prstGeom prst="rect">
            <a:avLst/>
          </a:prstGeom>
          <a:noFill/>
        </p:spPr>
        <p:txBody>
          <a:bodyPr wrap="square">
            <a:spAutoFit/>
          </a:bodyPr>
          <a:lstStyle/>
          <a:p>
            <a:pPr algn="l"/>
            <a:r>
              <a:rPr sz="1100" b="0">
                <a:solidFill>
                  <a:srgbClr val="212121"/>
                </a:solidFill>
              </a:rPr>
              <a:t>Ochiai・Mawalim は気導マイク対象。
高周波が構造的に欠落したドメインでの
検証は本研究が初。</a:t>
            </a:r>
          </a:p>
        </p:txBody>
      </p:sp>
      <p:sp>
        <p:nvSpPr>
          <p:cNvPr id="12" name="Rectangle 11"/>
          <p:cNvSpPr/>
          <p:nvPr/>
        </p:nvSpPr>
        <p:spPr>
          <a:xfrm>
            <a:off x="411480" y="3383279"/>
            <a:ext cx="3474720" cy="13716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3428999"/>
            <a:ext cx="3291840" cy="502920"/>
          </a:xfrm>
          <a:prstGeom prst="rect">
            <a:avLst/>
          </a:prstGeom>
          <a:noFill/>
        </p:spPr>
        <p:txBody>
          <a:bodyPr wrap="square">
            <a:spAutoFit/>
          </a:bodyPr>
          <a:lstStyle/>
          <a:p>
            <a:pPr algn="l"/>
            <a:r>
              <a:rPr sz="1200" b="1">
                <a:solidFill>
                  <a:srgbClr val="2E7D32"/>
                </a:solidFill>
              </a:rPr>
              <a:t>● 三重パラドックスの定量化</a:t>
            </a:r>
          </a:p>
        </p:txBody>
      </p:sp>
      <p:sp>
        <p:nvSpPr>
          <p:cNvPr id="14" name="TextBox 13"/>
          <p:cNvSpPr txBox="1"/>
          <p:nvPr/>
        </p:nvSpPr>
        <p:spPr>
          <a:xfrm>
            <a:off x="502920" y="3950207"/>
            <a:ext cx="3291840" cy="731520"/>
          </a:xfrm>
          <a:prstGeom prst="rect">
            <a:avLst/>
          </a:prstGeom>
          <a:noFill/>
        </p:spPr>
        <p:txBody>
          <a:bodyPr wrap="square">
            <a:spAutoFit/>
          </a:bodyPr>
          <a:lstStyle/>
          <a:p>
            <a:pPr algn="l"/>
            <a:r>
              <a:rPr sz="1100" b="0">
                <a:solidFill>
                  <a:srgbClr val="212121"/>
                </a:solidFill>
              </a:rPr>
              <a:t>STOI↑PESQ↑CER↑が全ノイズ条件で
一貫することを30条件・統計検定で示した。</a:t>
            </a:r>
          </a:p>
        </p:txBody>
      </p:sp>
      <p:sp>
        <p:nvSpPr>
          <p:cNvPr id="15" name="Rectangle 14"/>
          <p:cNvSpPr/>
          <p:nvPr/>
        </p:nvSpPr>
        <p:spPr>
          <a:xfrm>
            <a:off x="411480" y="4892039"/>
            <a:ext cx="3474720" cy="13716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4937759"/>
            <a:ext cx="3291840" cy="502920"/>
          </a:xfrm>
          <a:prstGeom prst="rect">
            <a:avLst/>
          </a:prstGeom>
          <a:noFill/>
        </p:spPr>
        <p:txBody>
          <a:bodyPr wrap="square">
            <a:spAutoFit/>
          </a:bodyPr>
          <a:lstStyle/>
          <a:p>
            <a:pPr algn="l"/>
            <a:r>
              <a:rPr sz="1200" b="1">
                <a:solidFill>
                  <a:srgbClr val="2E7D32"/>
                </a:solidFill>
              </a:rPr>
              <a:t>● スペクトル分析による
メカニズムの可視化</a:t>
            </a:r>
          </a:p>
        </p:txBody>
      </p:sp>
      <p:sp>
        <p:nvSpPr>
          <p:cNvPr id="17" name="TextBox 16"/>
          <p:cNvSpPr txBox="1"/>
          <p:nvPr/>
        </p:nvSpPr>
        <p:spPr>
          <a:xfrm>
            <a:off x="502920" y="5458967"/>
            <a:ext cx="3291840" cy="731520"/>
          </a:xfrm>
          <a:prstGeom prst="rect">
            <a:avLst/>
          </a:prstGeom>
          <a:noFill/>
        </p:spPr>
        <p:txBody>
          <a:bodyPr wrap="square">
            <a:spAutoFit/>
          </a:bodyPr>
          <a:lstStyle/>
          <a:p>
            <a:pPr algn="l"/>
            <a:r>
              <a:rPr sz="1100" b="0">
                <a:solidFill>
                  <a:srgbClr val="212121"/>
                </a:solidFill>
              </a:rPr>
              <a:t>4–8 kHz での −12.7 dB 削除という
具体的な原因を実測で特定。</a:t>
            </a:r>
          </a:p>
        </p:txBody>
      </p:sp>
      <p:sp>
        <p:nvSpPr>
          <p:cNvPr id="18" name="Rectangle 17"/>
          <p:cNvSpPr/>
          <p:nvPr/>
        </p:nvSpPr>
        <p:spPr>
          <a:xfrm>
            <a:off x="4206240" y="1325880"/>
            <a:ext cx="3749039" cy="5212080"/>
          </a:xfrm>
          <a:prstGeom prst="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3400" y="1417320"/>
            <a:ext cx="3474720" cy="347472"/>
          </a:xfrm>
          <a:prstGeom prst="rect">
            <a:avLst/>
          </a:prstGeom>
          <a:noFill/>
        </p:spPr>
        <p:txBody>
          <a:bodyPr wrap="square">
            <a:spAutoFit/>
          </a:bodyPr>
          <a:lstStyle/>
          <a:p>
            <a:pPr algn="l"/>
            <a:r>
              <a:rPr sz="1400" b="1">
                <a:solidFill>
                  <a:srgbClr val="FF6F00"/>
                </a:solidFill>
              </a:rPr>
              <a:t>現状の限界</a:t>
            </a:r>
          </a:p>
        </p:txBody>
      </p:sp>
      <p:sp>
        <p:nvSpPr>
          <p:cNvPr id="20" name="Rectangle 19"/>
          <p:cNvSpPr/>
          <p:nvPr/>
        </p:nvSpPr>
        <p:spPr>
          <a:xfrm>
            <a:off x="4343400" y="1874519"/>
            <a:ext cx="3474720" cy="1005840"/>
          </a:xfrm>
          <a:prstGeom prst="rect">
            <a:avLst/>
          </a:prstGeom>
          <a:solidFill>
            <a:srgbClr val="FFF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1920239"/>
            <a:ext cx="3291840" cy="292608"/>
          </a:xfrm>
          <a:prstGeom prst="rect">
            <a:avLst/>
          </a:prstGeom>
          <a:noFill/>
        </p:spPr>
        <p:txBody>
          <a:bodyPr wrap="square">
            <a:spAutoFit/>
          </a:bodyPr>
          <a:lstStyle/>
          <a:p>
            <a:pPr algn="l"/>
            <a:r>
              <a:rPr sz="1200" b="1">
                <a:solidFill>
                  <a:srgbClr val="FF6F00"/>
                </a:solidFill>
              </a:rPr>
              <a:t>▲ 既存モデルの組み合わせ</a:t>
            </a:r>
          </a:p>
        </p:txBody>
      </p:sp>
      <p:sp>
        <p:nvSpPr>
          <p:cNvPr id="22" name="TextBox 21"/>
          <p:cNvSpPr txBox="1"/>
          <p:nvPr/>
        </p:nvSpPr>
        <p:spPr>
          <a:xfrm>
            <a:off x="4434840" y="2240279"/>
            <a:ext cx="3291840" cy="594360"/>
          </a:xfrm>
          <a:prstGeom prst="rect">
            <a:avLst/>
          </a:prstGeom>
          <a:noFill/>
        </p:spPr>
        <p:txBody>
          <a:bodyPr wrap="square">
            <a:spAutoFit/>
          </a:bodyPr>
          <a:lstStyle/>
          <a:p>
            <a:pPr algn="l"/>
            <a:r>
              <a:rPr sz="1100" b="0">
                <a:solidFill>
                  <a:srgbClr val="212121"/>
                </a:solidFill>
              </a:rPr>
              <a:t>GTCRN も Whisper も既存モデルの
適用のみ。SE の喉マイク向け
再設計はしていない。</a:t>
            </a:r>
          </a:p>
        </p:txBody>
      </p:sp>
      <p:sp>
        <p:nvSpPr>
          <p:cNvPr id="23" name="Rectangle 22"/>
          <p:cNvSpPr/>
          <p:nvPr/>
        </p:nvSpPr>
        <p:spPr>
          <a:xfrm>
            <a:off x="4343400" y="2990087"/>
            <a:ext cx="3474720" cy="1005840"/>
          </a:xfrm>
          <a:prstGeom prst="rect">
            <a:avLst/>
          </a:prstGeom>
          <a:solidFill>
            <a:srgbClr val="FFF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34840" y="3035807"/>
            <a:ext cx="3291840" cy="292608"/>
          </a:xfrm>
          <a:prstGeom prst="rect">
            <a:avLst/>
          </a:prstGeom>
          <a:noFill/>
        </p:spPr>
        <p:txBody>
          <a:bodyPr wrap="square">
            <a:spAutoFit/>
          </a:bodyPr>
          <a:lstStyle/>
          <a:p>
            <a:pPr algn="l"/>
            <a:r>
              <a:rPr sz="1200" b="1">
                <a:solidFill>
                  <a:srgbClr val="FF6F00"/>
                </a:solidFill>
              </a:rPr>
              <a:t>▲ 韓国語・単一データセット</a:t>
            </a:r>
          </a:p>
        </p:txBody>
      </p:sp>
      <p:sp>
        <p:nvSpPr>
          <p:cNvPr id="25" name="TextBox 24"/>
          <p:cNvSpPr txBox="1"/>
          <p:nvPr/>
        </p:nvSpPr>
        <p:spPr>
          <a:xfrm>
            <a:off x="4434840" y="3355847"/>
            <a:ext cx="3291840" cy="594360"/>
          </a:xfrm>
          <a:prstGeom prst="rect">
            <a:avLst/>
          </a:prstGeom>
          <a:noFill/>
        </p:spPr>
        <p:txBody>
          <a:bodyPr wrap="square">
            <a:spAutoFit/>
          </a:bodyPr>
          <a:lstStyle/>
          <a:p>
            <a:pPr algn="l"/>
            <a:r>
              <a:rPr sz="1100" b="0">
                <a:solidFill>
                  <a:srgbClr val="212121"/>
                </a:solidFill>
              </a:rPr>
              <a:t>TAPS のみ使用。他言語・他データへの
汎化性は未検証。</a:t>
            </a:r>
          </a:p>
        </p:txBody>
      </p:sp>
      <p:sp>
        <p:nvSpPr>
          <p:cNvPr id="26" name="Rectangle 25"/>
          <p:cNvSpPr/>
          <p:nvPr/>
        </p:nvSpPr>
        <p:spPr>
          <a:xfrm>
            <a:off x="4343400" y="4105655"/>
            <a:ext cx="3474720" cy="1005840"/>
          </a:xfrm>
          <a:prstGeom prst="rect">
            <a:avLst/>
          </a:prstGeom>
          <a:solidFill>
            <a:srgbClr val="FFF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34840" y="4151375"/>
            <a:ext cx="3291840" cy="292608"/>
          </a:xfrm>
          <a:prstGeom prst="rect">
            <a:avLst/>
          </a:prstGeom>
          <a:noFill/>
        </p:spPr>
        <p:txBody>
          <a:bodyPr wrap="square">
            <a:spAutoFit/>
          </a:bodyPr>
          <a:lstStyle/>
          <a:p>
            <a:pPr algn="l"/>
            <a:r>
              <a:rPr sz="1200" b="1">
                <a:solidFill>
                  <a:srgbClr val="FF6F00"/>
                </a:solidFill>
              </a:rPr>
              <a:t>▲ クリーン条件でのFT</a:t>
            </a:r>
          </a:p>
        </p:txBody>
      </p:sp>
      <p:sp>
        <p:nvSpPr>
          <p:cNvPr id="28" name="TextBox 27"/>
          <p:cNvSpPr txBox="1"/>
          <p:nvPr/>
        </p:nvSpPr>
        <p:spPr>
          <a:xfrm>
            <a:off x="4434840" y="4471415"/>
            <a:ext cx="3291840" cy="594360"/>
          </a:xfrm>
          <a:prstGeom prst="rect">
            <a:avLst/>
          </a:prstGeom>
          <a:noFill/>
        </p:spPr>
        <p:txBody>
          <a:bodyPr wrap="square">
            <a:spAutoFit/>
          </a:bodyPr>
          <a:lstStyle/>
          <a:p>
            <a:pPr algn="l"/>
            <a:r>
              <a:rPr sz="1100" b="0">
                <a:solidFill>
                  <a:srgbClr val="212121"/>
                </a:solidFill>
              </a:rPr>
              <a:t>FT はクリーン音声のみ。
ノイズ下での頑健性評価が不足。</a:t>
            </a:r>
          </a:p>
        </p:txBody>
      </p:sp>
      <p:sp>
        <p:nvSpPr>
          <p:cNvPr id="29" name="Rectangle 28"/>
          <p:cNvSpPr/>
          <p:nvPr/>
        </p:nvSpPr>
        <p:spPr>
          <a:xfrm>
            <a:off x="4343400" y="5221223"/>
            <a:ext cx="3474720" cy="1005840"/>
          </a:xfrm>
          <a:prstGeom prst="rect">
            <a:avLst/>
          </a:prstGeom>
          <a:solidFill>
            <a:srgbClr val="FFF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34840" y="5266943"/>
            <a:ext cx="3291840" cy="292608"/>
          </a:xfrm>
          <a:prstGeom prst="rect">
            <a:avLst/>
          </a:prstGeom>
          <a:noFill/>
        </p:spPr>
        <p:txBody>
          <a:bodyPr wrap="square">
            <a:spAutoFit/>
          </a:bodyPr>
          <a:lstStyle/>
          <a:p>
            <a:pPr algn="l"/>
            <a:r>
              <a:rPr sz="1200" b="1">
                <a:solidFill>
                  <a:srgbClr val="FF6F00"/>
                </a:solidFill>
              </a:rPr>
              <a:t>▲ 音素レベルの分析なし</a:t>
            </a:r>
          </a:p>
        </p:txBody>
      </p:sp>
      <p:sp>
        <p:nvSpPr>
          <p:cNvPr id="31" name="TextBox 30"/>
          <p:cNvSpPr txBox="1"/>
          <p:nvPr/>
        </p:nvSpPr>
        <p:spPr>
          <a:xfrm>
            <a:off x="4434840" y="5586983"/>
            <a:ext cx="3291840" cy="594360"/>
          </a:xfrm>
          <a:prstGeom prst="rect">
            <a:avLst/>
          </a:prstGeom>
          <a:noFill/>
        </p:spPr>
        <p:txBody>
          <a:bodyPr wrap="square">
            <a:spAutoFit/>
          </a:bodyPr>
          <a:lstStyle/>
          <a:p>
            <a:pPr algn="l"/>
            <a:r>
              <a:rPr sz="1100" b="0">
                <a:solidFill>
                  <a:srgbClr val="212121"/>
                </a:solidFill>
              </a:rPr>
              <a:t>どの音素が特に誤認識されるかの
詳細分析は未実施。</a:t>
            </a:r>
          </a:p>
        </p:txBody>
      </p:sp>
      <p:sp>
        <p:nvSpPr>
          <p:cNvPr id="32" name="Rectangle 31"/>
          <p:cNvSpPr/>
          <p:nvPr/>
        </p:nvSpPr>
        <p:spPr>
          <a:xfrm>
            <a:off x="8138160" y="1325880"/>
            <a:ext cx="3749039" cy="52120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75320" y="1417320"/>
            <a:ext cx="3474720" cy="347472"/>
          </a:xfrm>
          <a:prstGeom prst="rect">
            <a:avLst/>
          </a:prstGeom>
          <a:noFill/>
        </p:spPr>
        <p:txBody>
          <a:bodyPr wrap="square">
            <a:spAutoFit/>
          </a:bodyPr>
          <a:lstStyle/>
          <a:p>
            <a:pPr algn="l"/>
            <a:r>
              <a:rPr sz="1400" b="1">
                <a:solidFill>
                  <a:srgbClr val="1A237E"/>
                </a:solidFill>
              </a:rPr>
              <a:t>今後の展望</a:t>
            </a:r>
          </a:p>
        </p:txBody>
      </p:sp>
      <p:sp>
        <p:nvSpPr>
          <p:cNvPr id="34" name="Rectangle 33"/>
          <p:cNvSpPr/>
          <p:nvPr/>
        </p:nvSpPr>
        <p:spPr>
          <a:xfrm>
            <a:off x="8275320" y="1874519"/>
            <a:ext cx="3474720" cy="1005840"/>
          </a:xfrm>
          <a:prstGeom prst="rect">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66760" y="1920239"/>
            <a:ext cx="3291840" cy="292608"/>
          </a:xfrm>
          <a:prstGeom prst="rect">
            <a:avLst/>
          </a:prstGeom>
          <a:noFill/>
        </p:spPr>
        <p:txBody>
          <a:bodyPr wrap="square">
            <a:spAutoFit/>
          </a:bodyPr>
          <a:lstStyle/>
          <a:p>
            <a:pPr algn="l"/>
            <a:r>
              <a:rPr sz="1200" b="1">
                <a:solidFill>
                  <a:srgbClr val="1A237E"/>
                </a:solidFill>
              </a:rPr>
              <a:t>→ ドメイン適合型 SE の開発</a:t>
            </a:r>
          </a:p>
        </p:txBody>
      </p:sp>
      <p:sp>
        <p:nvSpPr>
          <p:cNvPr id="36" name="TextBox 35"/>
          <p:cNvSpPr txBox="1"/>
          <p:nvPr/>
        </p:nvSpPr>
        <p:spPr>
          <a:xfrm>
            <a:off x="8366760" y="2240279"/>
            <a:ext cx="3291840" cy="594360"/>
          </a:xfrm>
          <a:prstGeom prst="rect">
            <a:avLst/>
          </a:prstGeom>
          <a:noFill/>
        </p:spPr>
        <p:txBody>
          <a:bodyPr wrap="square">
            <a:spAutoFit/>
          </a:bodyPr>
          <a:lstStyle/>
          <a:p>
            <a:pPr algn="l"/>
            <a:r>
              <a:rPr sz="1100" b="0">
                <a:solidFill>
                  <a:srgbClr val="212121"/>
                </a:solidFill>
              </a:rPr>
              <a:t>TAPS で学習した SE-conformer
（Kim et al. 2025）との組み合わせ。
FT × 適合型SE で CER がどこまで下がるか。</a:t>
            </a:r>
          </a:p>
        </p:txBody>
      </p:sp>
      <p:sp>
        <p:nvSpPr>
          <p:cNvPr id="37" name="Rectangle 36"/>
          <p:cNvSpPr/>
          <p:nvPr/>
        </p:nvSpPr>
        <p:spPr>
          <a:xfrm>
            <a:off x="8275320" y="2990087"/>
            <a:ext cx="3474720" cy="1005840"/>
          </a:xfrm>
          <a:prstGeom prst="rect">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66760" y="3035807"/>
            <a:ext cx="3291840" cy="292608"/>
          </a:xfrm>
          <a:prstGeom prst="rect">
            <a:avLst/>
          </a:prstGeom>
          <a:noFill/>
        </p:spPr>
        <p:txBody>
          <a:bodyPr wrap="square">
            <a:spAutoFit/>
          </a:bodyPr>
          <a:lstStyle/>
          <a:p>
            <a:pPr algn="l"/>
            <a:r>
              <a:rPr sz="1200" b="1">
                <a:solidFill>
                  <a:srgbClr val="1A237E"/>
                </a:solidFill>
              </a:rPr>
              <a:t>→ ノイズ下での FT 評価</a:t>
            </a:r>
          </a:p>
        </p:txBody>
      </p:sp>
      <p:sp>
        <p:nvSpPr>
          <p:cNvPr id="39" name="TextBox 38"/>
          <p:cNvSpPr txBox="1"/>
          <p:nvPr/>
        </p:nvSpPr>
        <p:spPr>
          <a:xfrm>
            <a:off x="8366760" y="3355847"/>
            <a:ext cx="3291840" cy="594360"/>
          </a:xfrm>
          <a:prstGeom prst="rect">
            <a:avLst/>
          </a:prstGeom>
          <a:noFill/>
        </p:spPr>
        <p:txBody>
          <a:bodyPr wrap="square">
            <a:spAutoFit/>
          </a:bodyPr>
          <a:lstStyle/>
          <a:p>
            <a:pPr algn="l"/>
            <a:r>
              <a:rPr sz="1100" b="0">
                <a:solidFill>
                  <a:srgbClr val="212121"/>
                </a:solidFill>
              </a:rPr>
              <a:t>実環境ノイズ（MUSAN・DEMAND）を
使った頑健な学習と評価。</a:t>
            </a:r>
          </a:p>
        </p:txBody>
      </p:sp>
      <p:sp>
        <p:nvSpPr>
          <p:cNvPr id="40" name="Rectangle 39"/>
          <p:cNvSpPr/>
          <p:nvPr/>
        </p:nvSpPr>
        <p:spPr>
          <a:xfrm>
            <a:off x="8275320" y="4105655"/>
            <a:ext cx="3474720" cy="1005840"/>
          </a:xfrm>
          <a:prstGeom prst="rect">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66760" y="4151375"/>
            <a:ext cx="3291840" cy="292608"/>
          </a:xfrm>
          <a:prstGeom prst="rect">
            <a:avLst/>
          </a:prstGeom>
          <a:noFill/>
        </p:spPr>
        <p:txBody>
          <a:bodyPr wrap="square">
            <a:spAutoFit/>
          </a:bodyPr>
          <a:lstStyle/>
          <a:p>
            <a:pPr algn="l"/>
            <a:r>
              <a:rPr sz="1200" b="1">
                <a:solidFill>
                  <a:srgbClr val="1A237E"/>
                </a:solidFill>
              </a:rPr>
              <a:t>→ 音素誤認識の分析</a:t>
            </a:r>
          </a:p>
        </p:txBody>
      </p:sp>
      <p:sp>
        <p:nvSpPr>
          <p:cNvPr id="42" name="TextBox 41"/>
          <p:cNvSpPr txBox="1"/>
          <p:nvPr/>
        </p:nvSpPr>
        <p:spPr>
          <a:xfrm>
            <a:off x="8366760" y="4471415"/>
            <a:ext cx="3291840" cy="594360"/>
          </a:xfrm>
          <a:prstGeom prst="rect">
            <a:avLst/>
          </a:prstGeom>
          <a:noFill/>
        </p:spPr>
        <p:txBody>
          <a:bodyPr wrap="square">
            <a:spAutoFit/>
          </a:bodyPr>
          <a:lstStyle/>
          <a:p>
            <a:pPr algn="l"/>
            <a:r>
              <a:rPr sz="1100" b="0">
                <a:solidFill>
                  <a:srgbClr val="212121"/>
                </a:solidFill>
              </a:rPr>
              <a:t>喉マイクで特に苦手な音素を特定し
データ収集・学習戦略に活かす。</a:t>
            </a:r>
          </a:p>
        </p:txBody>
      </p:sp>
      <p:sp>
        <p:nvSpPr>
          <p:cNvPr id="43" name="Rectangle 42"/>
          <p:cNvSpPr/>
          <p:nvPr/>
        </p:nvSpPr>
        <p:spPr>
          <a:xfrm>
            <a:off x="8275320" y="5221223"/>
            <a:ext cx="3474720" cy="1005840"/>
          </a:xfrm>
          <a:prstGeom prst="rect">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366760" y="5266943"/>
            <a:ext cx="3291840" cy="292608"/>
          </a:xfrm>
          <a:prstGeom prst="rect">
            <a:avLst/>
          </a:prstGeom>
          <a:noFill/>
        </p:spPr>
        <p:txBody>
          <a:bodyPr wrap="square">
            <a:spAutoFit/>
          </a:bodyPr>
          <a:lstStyle/>
          <a:p>
            <a:pPr algn="l"/>
            <a:r>
              <a:rPr sz="1200" b="1">
                <a:solidFill>
                  <a:srgbClr val="1A237E"/>
                </a:solidFill>
              </a:rPr>
              <a:t>→ Whisper large-v3 との比較</a:t>
            </a:r>
          </a:p>
        </p:txBody>
      </p:sp>
      <p:sp>
        <p:nvSpPr>
          <p:cNvPr id="45" name="TextBox 44"/>
          <p:cNvSpPr txBox="1"/>
          <p:nvPr/>
        </p:nvSpPr>
        <p:spPr>
          <a:xfrm>
            <a:off x="8366760" y="5586983"/>
            <a:ext cx="3291840" cy="594360"/>
          </a:xfrm>
          <a:prstGeom prst="rect">
            <a:avLst/>
          </a:prstGeom>
          <a:noFill/>
        </p:spPr>
        <p:txBody>
          <a:bodyPr wrap="square">
            <a:spAutoFit/>
          </a:bodyPr>
          <a:lstStyle/>
          <a:p>
            <a:pPr algn="l"/>
            <a:r>
              <a:rPr sz="1100" b="0">
                <a:solidFill>
                  <a:srgbClr val="212121"/>
                </a:solidFill>
              </a:rPr>
              <a:t>モデルサイズとドメイン適応効果
のトレードオフを定量化。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692</Words>
  <Application>Microsoft Macintosh PowerPoint</Application>
  <PresentationFormat>ユーザー設定</PresentationFormat>
  <Paragraphs>118</Paragraphs>
  <Slides>7</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学生</cp:lastModifiedBy>
  <cp:revision>4</cp:revision>
  <dcterms:created xsi:type="dcterms:W3CDTF">2013-01-27T09:14:16Z</dcterms:created>
  <dcterms:modified xsi:type="dcterms:W3CDTF">2026-04-14T17:56:26Z</dcterms:modified>
  <cp:category/>
</cp:coreProperties>
</file>