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60320"/>
            <a:ext cx="12188952" cy="54864"/>
          </a:xfrm>
          <a:prstGeom prst="rect">
            <a:avLst/>
          </a:prstGeom>
          <a:solidFill>
            <a:srgbClr val="219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
            <a:ext cx="11064240" cy="1828800"/>
          </a:xfrm>
          <a:prstGeom prst="rect">
            <a:avLst/>
          </a:prstGeom>
          <a:noFill/>
        </p:spPr>
        <p:txBody>
          <a:bodyPr wrap="square">
            <a:spAutoFit/>
          </a:bodyPr>
          <a:lstStyle/>
          <a:p>
            <a:pPr algn="l"/>
            <a:r>
              <a:rPr sz="3600" b="1">
                <a:solidFill>
                  <a:srgbClr val="FFFFFF"/>
                </a:solidFill>
              </a:rPr>
              <a:t>喉マイク音声認識の改善に
音声強調は役立つか？</a:t>
            </a:r>
          </a:p>
        </p:txBody>
      </p:sp>
      <p:sp>
        <p:nvSpPr>
          <p:cNvPr id="5" name="TextBox 4"/>
          <p:cNvSpPr txBox="1"/>
          <p:nvPr/>
        </p:nvSpPr>
        <p:spPr>
          <a:xfrm>
            <a:off x="548640" y="2697480"/>
            <a:ext cx="11064240" cy="548640"/>
          </a:xfrm>
          <a:prstGeom prst="rect">
            <a:avLst/>
          </a:prstGeom>
          <a:noFill/>
        </p:spPr>
        <p:txBody>
          <a:bodyPr wrap="square">
            <a:spAutoFit/>
          </a:bodyPr>
          <a:lstStyle/>
          <a:p>
            <a:pPr algn="l"/>
            <a:r>
              <a:rPr sz="1700" b="0">
                <a:solidFill>
                  <a:srgbClr val="BBDEFB"/>
                </a:solidFill>
              </a:rPr>
              <a:t>知覚品質（STOI・PESQ）とASR性能（CER）の逆行現象を喉マイクドメインで実証</a:t>
            </a:r>
          </a:p>
        </p:txBody>
      </p:sp>
      <p:sp>
        <p:nvSpPr>
          <p:cNvPr id="6" name="Rectangle 5"/>
          <p:cNvSpPr/>
          <p:nvPr/>
        </p:nvSpPr>
        <p:spPr>
          <a:xfrm>
            <a:off x="5486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56432"/>
            <a:ext cx="2468880" cy="438912"/>
          </a:xfrm>
          <a:prstGeom prst="rect">
            <a:avLst/>
          </a:prstGeom>
          <a:noFill/>
        </p:spPr>
        <p:txBody>
          <a:bodyPr wrap="square">
            <a:spAutoFit/>
          </a:bodyPr>
          <a:lstStyle/>
          <a:p>
            <a:pPr algn="ctr"/>
            <a:r>
              <a:rPr sz="1400" b="0">
                <a:solidFill>
                  <a:srgbClr val="90CAF9"/>
                </a:solidFill>
              </a:rPr>
              <a:t>骨伝導マイク</a:t>
            </a:r>
          </a:p>
        </p:txBody>
      </p:sp>
      <p:sp>
        <p:nvSpPr>
          <p:cNvPr id="8" name="Rectangle 7"/>
          <p:cNvSpPr/>
          <p:nvPr/>
        </p:nvSpPr>
        <p:spPr>
          <a:xfrm>
            <a:off x="32918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91840" y="3456432"/>
            <a:ext cx="2468880" cy="438912"/>
          </a:xfrm>
          <a:prstGeom prst="rect">
            <a:avLst/>
          </a:prstGeom>
          <a:noFill/>
        </p:spPr>
        <p:txBody>
          <a:bodyPr wrap="square">
            <a:spAutoFit/>
          </a:bodyPr>
          <a:lstStyle/>
          <a:p>
            <a:pPr algn="ctr"/>
            <a:r>
              <a:rPr sz="1400" b="0">
                <a:solidFill>
                  <a:srgbClr val="90CAF9"/>
                </a:solidFill>
              </a:rPr>
              <a:t>音声強調（SE）</a:t>
            </a:r>
          </a:p>
        </p:txBody>
      </p:sp>
      <p:sp>
        <p:nvSpPr>
          <p:cNvPr id="10" name="Rectangle 9"/>
          <p:cNvSpPr/>
          <p:nvPr/>
        </p:nvSpPr>
        <p:spPr>
          <a:xfrm>
            <a:off x="60350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0" y="3456432"/>
            <a:ext cx="2468880" cy="438912"/>
          </a:xfrm>
          <a:prstGeom prst="rect">
            <a:avLst/>
          </a:prstGeom>
          <a:noFill/>
        </p:spPr>
        <p:txBody>
          <a:bodyPr wrap="square">
            <a:spAutoFit/>
          </a:bodyPr>
          <a:lstStyle/>
          <a:p>
            <a:pPr algn="ctr"/>
            <a:r>
              <a:rPr sz="1400" b="0">
                <a:solidFill>
                  <a:srgbClr val="90CAF9"/>
                </a:solidFill>
              </a:rPr>
              <a:t>Whisper ASR</a:t>
            </a:r>
          </a:p>
        </p:txBody>
      </p:sp>
      <p:sp>
        <p:nvSpPr>
          <p:cNvPr id="12" name="Rectangle 11"/>
          <p:cNvSpPr/>
          <p:nvPr/>
        </p:nvSpPr>
        <p:spPr>
          <a:xfrm>
            <a:off x="87782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0" y="3456432"/>
            <a:ext cx="2468880" cy="438912"/>
          </a:xfrm>
          <a:prstGeom prst="rect">
            <a:avLst/>
          </a:prstGeom>
          <a:noFill/>
        </p:spPr>
        <p:txBody>
          <a:bodyPr wrap="square">
            <a:spAutoFit/>
          </a:bodyPr>
          <a:lstStyle/>
          <a:p>
            <a:pPr algn="ctr"/>
            <a:r>
              <a:rPr sz="1400" b="0">
                <a:solidFill>
                  <a:srgbClr val="90CAF9"/>
                </a:solidFill>
              </a:rPr>
              <a:t>CER評価</a:t>
            </a:r>
          </a:p>
        </p:txBody>
      </p:sp>
      <p:sp>
        <p:nvSpPr>
          <p:cNvPr id="14" name="TextBox 13"/>
          <p:cNvSpPr txBox="1"/>
          <p:nvPr/>
        </p:nvSpPr>
        <p:spPr>
          <a:xfrm>
            <a:off x="548640" y="4160520"/>
            <a:ext cx="11064240" cy="365760"/>
          </a:xfrm>
          <a:prstGeom prst="rect">
            <a:avLst/>
          </a:prstGeom>
          <a:noFill/>
        </p:spPr>
        <p:txBody>
          <a:bodyPr wrap="square">
            <a:spAutoFit/>
          </a:bodyPr>
          <a:lstStyle/>
          <a:p>
            <a:pPr algn="l"/>
            <a:r>
              <a:rPr sz="1300" b="0">
                <a:solidFill>
                  <a:srgbClr val="78909C"/>
                </a:solidFill>
              </a:rPr>
              <a:t>使用データ: TAPS Dataset（韓国語 60話者・6,000発話）</a:t>
            </a:r>
          </a:p>
        </p:txBody>
      </p:sp>
      <p:sp>
        <p:nvSpPr>
          <p:cNvPr id="15" name="Rectangle 14"/>
          <p:cNvSpPr/>
          <p:nvPr/>
        </p:nvSpPr>
        <p:spPr>
          <a:xfrm>
            <a:off x="0" y="6583680"/>
            <a:ext cx="12188952" cy="274320"/>
          </a:xfrm>
          <a:prstGeom prst="rect">
            <a:avLst/>
          </a:prstGeom>
          <a:solidFill>
            <a:srgbClr val="0D1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47120" y="6601968"/>
            <a:ext cx="822960" cy="228600"/>
          </a:xfrm>
          <a:prstGeom prst="rect">
            <a:avLst/>
          </a:prstGeom>
          <a:noFill/>
        </p:spPr>
        <p:txBody>
          <a:bodyPr wrap="square">
            <a:spAutoFit/>
          </a:bodyPr>
          <a:lstStyle/>
          <a:p>
            <a:pPr algn="r"/>
            <a:r>
              <a:rPr sz="900" b="0">
                <a:solidFill>
                  <a:srgbClr val="78909C"/>
                </a:solidFill>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喉マイクとは？　なぜASRが難しいか</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2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325880"/>
            <a:ext cx="5486400" cy="43891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17320"/>
            <a:ext cx="5212080" cy="411480"/>
          </a:xfrm>
          <a:prstGeom prst="rect">
            <a:avLst/>
          </a:prstGeom>
          <a:noFill/>
        </p:spPr>
        <p:txBody>
          <a:bodyPr wrap="square">
            <a:spAutoFit/>
          </a:bodyPr>
          <a:lstStyle/>
          <a:p>
            <a:pPr algn="l"/>
            <a:r>
              <a:rPr sz="1500" b="1">
                <a:solidFill>
                  <a:srgbClr val="1A237E"/>
                </a:solidFill>
              </a:rPr>
              <a:t>喉マイク（骨伝導マイク）とは</a:t>
            </a:r>
          </a:p>
        </p:txBody>
      </p:sp>
      <p:sp>
        <p:nvSpPr>
          <p:cNvPr id="9" name="TextBox 8"/>
          <p:cNvSpPr txBox="1"/>
          <p:nvPr/>
        </p:nvSpPr>
        <p:spPr>
          <a:xfrm>
            <a:off x="548640" y="1920240"/>
            <a:ext cx="5120640" cy="274320"/>
          </a:xfrm>
          <a:prstGeom prst="rect">
            <a:avLst/>
          </a:prstGeom>
          <a:noFill/>
        </p:spPr>
        <p:txBody>
          <a:bodyPr wrap="square">
            <a:spAutoFit/>
          </a:bodyPr>
          <a:lstStyle/>
          <a:p>
            <a:pPr algn="l"/>
            <a:r>
              <a:rPr sz="1300" b="0">
                <a:solidFill>
                  <a:srgbClr val="212121"/>
                </a:solidFill>
              </a:rPr>
              <a:t>・ 声帯の振動を皮膚・骨から直接収音</a:t>
            </a:r>
          </a:p>
        </p:txBody>
      </p:sp>
      <p:sp>
        <p:nvSpPr>
          <p:cNvPr id="10" name="TextBox 9"/>
          <p:cNvSpPr txBox="1"/>
          <p:nvPr/>
        </p:nvSpPr>
        <p:spPr>
          <a:xfrm>
            <a:off x="548640" y="2203704"/>
            <a:ext cx="5120640" cy="274320"/>
          </a:xfrm>
          <a:prstGeom prst="rect">
            <a:avLst/>
          </a:prstGeom>
          <a:noFill/>
        </p:spPr>
        <p:txBody>
          <a:bodyPr wrap="square">
            <a:spAutoFit/>
          </a:bodyPr>
          <a:lstStyle/>
          <a:p>
            <a:pPr algn="l"/>
            <a:r>
              <a:rPr sz="1300" b="0">
                <a:solidFill>
                  <a:srgbClr val="212121"/>
                </a:solidFill>
              </a:rPr>
              <a:t>・ 周囲の騒音を拾わない → 高騒音環境で有用</a:t>
            </a:r>
          </a:p>
        </p:txBody>
      </p:sp>
      <p:sp>
        <p:nvSpPr>
          <p:cNvPr id="11" name="TextBox 10"/>
          <p:cNvSpPr txBox="1"/>
          <p:nvPr/>
        </p:nvSpPr>
        <p:spPr>
          <a:xfrm>
            <a:off x="548640" y="2487168"/>
            <a:ext cx="5120640" cy="274320"/>
          </a:xfrm>
          <a:prstGeom prst="rect">
            <a:avLst/>
          </a:prstGeom>
          <a:noFill/>
        </p:spPr>
        <p:txBody>
          <a:bodyPr wrap="square">
            <a:spAutoFit/>
          </a:bodyPr>
          <a:lstStyle/>
          <a:p>
            <a:pPr algn="l"/>
            <a:r>
              <a:rPr sz="1300" b="0">
                <a:solidFill>
                  <a:srgbClr val="212121"/>
                </a:solidFill>
              </a:rPr>
              <a:t>・ 軍・工業・スポーツ・ヘルメット着用場面</a:t>
            </a:r>
          </a:p>
        </p:txBody>
      </p:sp>
      <p:sp>
        <p:nvSpPr>
          <p:cNvPr id="12" name="TextBox 11"/>
          <p:cNvSpPr txBox="1"/>
          <p:nvPr/>
        </p:nvSpPr>
        <p:spPr>
          <a:xfrm>
            <a:off x="548640" y="2770632"/>
            <a:ext cx="5120640" cy="274320"/>
          </a:xfrm>
          <a:prstGeom prst="rect">
            <a:avLst/>
          </a:prstGeom>
          <a:noFill/>
        </p:spPr>
        <p:txBody>
          <a:bodyPr wrap="square">
            <a:spAutoFit/>
          </a:bodyPr>
          <a:lstStyle/>
          <a:p>
            <a:pPr algn="l"/>
            <a:r>
              <a:rPr sz="1300" b="0">
                <a:solidFill>
                  <a:srgbClr val="212121"/>
                </a:solidFill>
              </a:rPr>
              <a:t/>
            </a:r>
          </a:p>
        </p:txBody>
      </p:sp>
      <p:sp>
        <p:nvSpPr>
          <p:cNvPr id="13" name="TextBox 12"/>
          <p:cNvSpPr txBox="1"/>
          <p:nvPr/>
        </p:nvSpPr>
        <p:spPr>
          <a:xfrm>
            <a:off x="548640" y="3054096"/>
            <a:ext cx="5120640" cy="274320"/>
          </a:xfrm>
          <a:prstGeom prst="rect">
            <a:avLst/>
          </a:prstGeom>
          <a:noFill/>
        </p:spPr>
        <p:txBody>
          <a:bodyPr wrap="square">
            <a:spAutoFit/>
          </a:bodyPr>
          <a:lstStyle/>
          <a:p>
            <a:pPr algn="l"/>
            <a:r>
              <a:rPr sz="1300" b="1">
                <a:solidFill>
                  <a:srgbClr val="1A237E"/>
                </a:solidFill>
              </a:rPr>
              <a:t>問題点</a:t>
            </a:r>
          </a:p>
        </p:txBody>
      </p:sp>
      <p:sp>
        <p:nvSpPr>
          <p:cNvPr id="14" name="TextBox 13"/>
          <p:cNvSpPr txBox="1"/>
          <p:nvPr/>
        </p:nvSpPr>
        <p:spPr>
          <a:xfrm>
            <a:off x="548640" y="3337560"/>
            <a:ext cx="5120640" cy="274320"/>
          </a:xfrm>
          <a:prstGeom prst="rect">
            <a:avLst/>
          </a:prstGeom>
          <a:noFill/>
        </p:spPr>
        <p:txBody>
          <a:bodyPr wrap="square">
            <a:spAutoFit/>
          </a:bodyPr>
          <a:lstStyle/>
          <a:p>
            <a:pPr algn="l"/>
            <a:r>
              <a:rPr sz="1300" b="0">
                <a:solidFill>
                  <a:srgbClr val="212121"/>
                </a:solidFill>
              </a:rPr>
              <a:t>・ 低域エネルギーが大半を占める</a:t>
            </a:r>
          </a:p>
        </p:txBody>
      </p:sp>
      <p:sp>
        <p:nvSpPr>
          <p:cNvPr id="15" name="TextBox 14"/>
          <p:cNvSpPr txBox="1"/>
          <p:nvPr/>
        </p:nvSpPr>
        <p:spPr>
          <a:xfrm>
            <a:off x="548640" y="3621024"/>
            <a:ext cx="5120640" cy="274320"/>
          </a:xfrm>
          <a:prstGeom prst="rect">
            <a:avLst/>
          </a:prstGeom>
          <a:noFill/>
        </p:spPr>
        <p:txBody>
          <a:bodyPr wrap="square">
            <a:spAutoFit/>
          </a:bodyPr>
          <a:lstStyle/>
          <a:p>
            <a:pPr algn="l"/>
            <a:r>
              <a:rPr sz="1300" b="0">
                <a:solidFill>
                  <a:srgbClr val="212121"/>
                </a:solidFill>
              </a:rPr>
              <a:t>・ 子音など高周波成分が大きく欠落</a:t>
            </a:r>
          </a:p>
        </p:txBody>
      </p:sp>
      <p:sp>
        <p:nvSpPr>
          <p:cNvPr id="16" name="TextBox 15"/>
          <p:cNvSpPr txBox="1"/>
          <p:nvPr/>
        </p:nvSpPr>
        <p:spPr>
          <a:xfrm>
            <a:off x="548640" y="3904488"/>
            <a:ext cx="5120640" cy="274320"/>
          </a:xfrm>
          <a:prstGeom prst="rect">
            <a:avLst/>
          </a:prstGeom>
          <a:noFill/>
        </p:spPr>
        <p:txBody>
          <a:bodyPr wrap="square">
            <a:spAutoFit/>
          </a:bodyPr>
          <a:lstStyle/>
          <a:p>
            <a:pPr algn="l"/>
            <a:r>
              <a:rPr sz="1300" b="0">
                <a:solidFill>
                  <a:srgbClr val="212121"/>
                </a:solidFill>
              </a:rPr>
              <a:t>→ 通常のASRには「未知の音」として届く</a:t>
            </a:r>
          </a:p>
        </p:txBody>
      </p:sp>
      <p:sp>
        <p:nvSpPr>
          <p:cNvPr id="17" name="TextBox 16"/>
          <p:cNvSpPr txBox="1"/>
          <p:nvPr/>
        </p:nvSpPr>
        <p:spPr>
          <a:xfrm>
            <a:off x="548640" y="4187952"/>
            <a:ext cx="5120640" cy="274320"/>
          </a:xfrm>
          <a:prstGeom prst="rect">
            <a:avLst/>
          </a:prstGeom>
          <a:noFill/>
        </p:spPr>
        <p:txBody>
          <a:bodyPr wrap="square">
            <a:spAutoFit/>
          </a:bodyPr>
          <a:lstStyle/>
          <a:p>
            <a:pPr algn="l"/>
            <a:r>
              <a:rPr sz="1300" b="0">
                <a:solidFill>
                  <a:srgbClr val="212121"/>
                </a:solidFill>
              </a:rPr>
              <a:t/>
            </a:r>
          </a:p>
        </p:txBody>
      </p:sp>
      <p:sp>
        <p:nvSpPr>
          <p:cNvPr id="18" name="TextBox 17"/>
          <p:cNvSpPr txBox="1"/>
          <p:nvPr/>
        </p:nvSpPr>
        <p:spPr>
          <a:xfrm>
            <a:off x="548640" y="4471416"/>
            <a:ext cx="5120640" cy="274320"/>
          </a:xfrm>
          <a:prstGeom prst="rect">
            <a:avLst/>
          </a:prstGeom>
          <a:noFill/>
        </p:spPr>
        <p:txBody>
          <a:bodyPr wrap="square">
            <a:spAutoFit/>
          </a:bodyPr>
          <a:lstStyle/>
          <a:p>
            <a:pPr algn="l"/>
            <a:r>
              <a:rPr sz="1300" b="0">
                <a:solidFill>
                  <a:srgbClr val="212121"/>
                </a:solidFill>
              </a:rPr>
              <a:t>結果：一般的な音声認識では</a:t>
            </a:r>
          </a:p>
        </p:txBody>
      </p:sp>
      <p:sp>
        <p:nvSpPr>
          <p:cNvPr id="19" name="TextBox 18"/>
          <p:cNvSpPr txBox="1"/>
          <p:nvPr/>
        </p:nvSpPr>
        <p:spPr>
          <a:xfrm>
            <a:off x="548640" y="4754880"/>
            <a:ext cx="5120640" cy="274320"/>
          </a:xfrm>
          <a:prstGeom prst="rect">
            <a:avLst/>
          </a:prstGeom>
          <a:noFill/>
        </p:spPr>
        <p:txBody>
          <a:bodyPr wrap="square">
            <a:spAutoFit/>
          </a:bodyPr>
          <a:lstStyle/>
          <a:p>
            <a:pPr algn="l"/>
            <a:r>
              <a:rPr sz="1300" b="0">
                <a:solidFill>
                  <a:srgbClr val="212121"/>
                </a:solidFill>
              </a:rPr>
              <a:t>　　　CER（文字誤り率）が非常に高くなる</a:t>
            </a:r>
          </a:p>
        </p:txBody>
      </p:sp>
      <p:pic>
        <p:nvPicPr>
          <p:cNvPr id="20" name="Picture 19" descr="image.png"/>
          <p:cNvPicPr>
            <a:picLocks noChangeAspect="1"/>
          </p:cNvPicPr>
          <p:nvPr/>
        </p:nvPicPr>
        <p:blipFill>
          <a:blip r:embed="rId2"/>
          <a:stretch>
            <a:fillRect/>
          </a:stretch>
        </p:blipFill>
        <p:spPr>
          <a:xfrm>
            <a:off x="6126480" y="1417320"/>
            <a:ext cx="5577840" cy="2919436"/>
          </a:xfrm>
          <a:prstGeom prst="rect">
            <a:avLst/>
          </a:prstGeom>
        </p:spPr>
      </p:pic>
      <p:sp>
        <p:nvSpPr>
          <p:cNvPr id="21" name="TextBox 20"/>
          <p:cNvSpPr txBox="1"/>
          <p:nvPr/>
        </p:nvSpPr>
        <p:spPr>
          <a:xfrm>
            <a:off x="6126480" y="4846320"/>
            <a:ext cx="5760720" cy="320040"/>
          </a:xfrm>
          <a:prstGeom prst="rect">
            <a:avLst/>
          </a:prstGeom>
          <a:noFill/>
        </p:spPr>
        <p:txBody>
          <a:bodyPr wrap="square">
            <a:spAutoFit/>
          </a:bodyPr>
          <a:lstStyle/>
          <a:p>
            <a:pPr algn="ctr"/>
            <a:r>
              <a:rPr sz="1000" b="0">
                <a:solidFill>
                  <a:srgbClr val="78909C"/>
                </a:solidFill>
              </a:rPr>
              <a:t>図：気導マイクと喉マイクの周波数特性の違い（模式図）</a:t>
            </a:r>
          </a:p>
        </p:txBody>
      </p:sp>
      <p:sp>
        <p:nvSpPr>
          <p:cNvPr id="22" name="Rectangle 21"/>
          <p:cNvSpPr/>
          <p:nvPr/>
        </p:nvSpPr>
        <p:spPr>
          <a:xfrm>
            <a:off x="365760" y="5806440"/>
            <a:ext cx="11430000" cy="6858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925312"/>
            <a:ext cx="11064240" cy="411480"/>
          </a:xfrm>
          <a:prstGeom prst="rect">
            <a:avLst/>
          </a:prstGeom>
          <a:noFill/>
        </p:spPr>
        <p:txBody>
          <a:bodyPr wrap="square">
            <a:spAutoFit/>
          </a:bodyPr>
          <a:lstStyle/>
          <a:p>
            <a:pPr algn="ctr"/>
            <a:r>
              <a:rPr sz="1500" b="1">
                <a:solidFill>
                  <a:srgbClr val="C62828"/>
                </a:solidFill>
              </a:rPr>
              <a:t>喉マイク生音声のCER: 0.269　vs　気導マイク: 0.131　→ 約2倍の誤り率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先行研究：「音声強調でASRを改善できる」は本当か？</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3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325880"/>
            <a:ext cx="5394960" cy="21031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17320"/>
            <a:ext cx="5120640" cy="365760"/>
          </a:xfrm>
          <a:prstGeom prst="rect">
            <a:avLst/>
          </a:prstGeom>
          <a:noFill/>
        </p:spPr>
        <p:txBody>
          <a:bodyPr wrap="square">
            <a:spAutoFit/>
          </a:bodyPr>
          <a:lstStyle/>
          <a:p>
            <a:pPr algn="l"/>
            <a:r>
              <a:rPr sz="1500" b="1">
                <a:solidFill>
                  <a:srgbClr val="1A237E"/>
                </a:solidFill>
              </a:rPr>
              <a:t>音声強調（SE）とは</a:t>
            </a:r>
          </a:p>
        </p:txBody>
      </p:sp>
      <p:sp>
        <p:nvSpPr>
          <p:cNvPr id="9" name="TextBox 8"/>
          <p:cNvSpPr txBox="1"/>
          <p:nvPr/>
        </p:nvSpPr>
        <p:spPr>
          <a:xfrm>
            <a:off x="548640" y="1874519"/>
            <a:ext cx="5120640" cy="347472"/>
          </a:xfrm>
          <a:prstGeom prst="rect">
            <a:avLst/>
          </a:prstGeom>
          <a:noFill/>
        </p:spPr>
        <p:txBody>
          <a:bodyPr wrap="square">
            <a:spAutoFit/>
          </a:bodyPr>
          <a:lstStyle/>
          <a:p>
            <a:pPr algn="l"/>
            <a:r>
              <a:rPr sz="1300" b="0">
                <a:solidFill>
                  <a:srgbClr val="212121"/>
                </a:solidFill>
              </a:rPr>
              <a:t>・ ノイズを除去し，音声を聴きやすくする技術</a:t>
            </a:r>
          </a:p>
        </p:txBody>
      </p:sp>
      <p:sp>
        <p:nvSpPr>
          <p:cNvPr id="10" name="TextBox 9"/>
          <p:cNvSpPr txBox="1"/>
          <p:nvPr/>
        </p:nvSpPr>
        <p:spPr>
          <a:xfrm>
            <a:off x="548640" y="2249423"/>
            <a:ext cx="5120640" cy="347472"/>
          </a:xfrm>
          <a:prstGeom prst="rect">
            <a:avLst/>
          </a:prstGeom>
          <a:noFill/>
        </p:spPr>
        <p:txBody>
          <a:bodyPr wrap="square">
            <a:spAutoFit/>
          </a:bodyPr>
          <a:lstStyle/>
          <a:p>
            <a:pPr algn="l"/>
            <a:r>
              <a:rPr sz="1300" b="0">
                <a:solidFill>
                  <a:srgbClr val="212121"/>
                </a:solidFill>
              </a:rPr>
              <a:t>・ STOI（了解度）・PESQ（音質）で評価される</a:t>
            </a:r>
          </a:p>
        </p:txBody>
      </p:sp>
      <p:sp>
        <p:nvSpPr>
          <p:cNvPr id="11" name="TextBox 10"/>
          <p:cNvSpPr txBox="1"/>
          <p:nvPr/>
        </p:nvSpPr>
        <p:spPr>
          <a:xfrm>
            <a:off x="548640" y="2624327"/>
            <a:ext cx="5120640" cy="347472"/>
          </a:xfrm>
          <a:prstGeom prst="rect">
            <a:avLst/>
          </a:prstGeom>
          <a:noFill/>
        </p:spPr>
        <p:txBody>
          <a:bodyPr wrap="square">
            <a:spAutoFit/>
          </a:bodyPr>
          <a:lstStyle/>
          <a:p>
            <a:pPr algn="l"/>
            <a:r>
              <a:rPr sz="1300" b="0">
                <a:solidFill>
                  <a:srgbClr val="212121"/>
                </a:solidFill>
              </a:rPr>
              <a:t>・ 「ASRの前処理として使えば精度が上がる」</a:t>
            </a:r>
          </a:p>
        </p:txBody>
      </p:sp>
      <p:sp>
        <p:nvSpPr>
          <p:cNvPr id="12" name="TextBox 11"/>
          <p:cNvSpPr txBox="1"/>
          <p:nvPr/>
        </p:nvSpPr>
        <p:spPr>
          <a:xfrm>
            <a:off x="548640" y="2999231"/>
            <a:ext cx="5120640" cy="347472"/>
          </a:xfrm>
          <a:prstGeom prst="rect">
            <a:avLst/>
          </a:prstGeom>
          <a:noFill/>
        </p:spPr>
        <p:txBody>
          <a:bodyPr wrap="square">
            <a:spAutoFit/>
          </a:bodyPr>
          <a:lstStyle/>
          <a:p>
            <a:pPr algn="l"/>
            <a:r>
              <a:rPr sz="1300" b="0">
                <a:solidFill>
                  <a:srgbClr val="212121"/>
                </a:solidFill>
              </a:rPr>
              <a:t>・ という期待のもとに広く使われてきた</a:t>
            </a:r>
          </a:p>
        </p:txBody>
      </p:sp>
      <p:sp>
        <p:nvSpPr>
          <p:cNvPr id="13" name="Rectangle 12"/>
          <p:cNvSpPr/>
          <p:nvPr/>
        </p:nvSpPr>
        <p:spPr>
          <a:xfrm>
            <a:off x="6035040" y="1325880"/>
            <a:ext cx="5760720" cy="210312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417320"/>
            <a:ext cx="5486400" cy="365760"/>
          </a:xfrm>
          <a:prstGeom prst="rect">
            <a:avLst/>
          </a:prstGeom>
          <a:noFill/>
        </p:spPr>
        <p:txBody>
          <a:bodyPr wrap="square">
            <a:spAutoFit/>
          </a:bodyPr>
          <a:lstStyle/>
          <a:p>
            <a:pPr algn="l"/>
            <a:r>
              <a:rPr sz="1500" b="1">
                <a:solidFill>
                  <a:srgbClr val="C62828"/>
                </a:solidFill>
              </a:rPr>
              <a:t>通説を覆した先行研究</a:t>
            </a:r>
          </a:p>
        </p:txBody>
      </p:sp>
      <p:sp>
        <p:nvSpPr>
          <p:cNvPr id="15" name="Rectangle 14"/>
          <p:cNvSpPr/>
          <p:nvPr/>
        </p:nvSpPr>
        <p:spPr>
          <a:xfrm>
            <a:off x="6172200" y="1828800"/>
            <a:ext cx="5394960" cy="749808"/>
          </a:xfrm>
          <a:prstGeom prst="rect">
            <a:avLst/>
          </a:prstGeom>
          <a:solidFill>
            <a:srgbClr val="FF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865376"/>
            <a:ext cx="5120640" cy="292608"/>
          </a:xfrm>
          <a:prstGeom prst="rect">
            <a:avLst/>
          </a:prstGeom>
          <a:noFill/>
        </p:spPr>
        <p:txBody>
          <a:bodyPr wrap="square">
            <a:spAutoFit/>
          </a:bodyPr>
          <a:lstStyle/>
          <a:p>
            <a:pPr algn="l"/>
            <a:r>
              <a:rPr sz="1200" b="1">
                <a:solidFill>
                  <a:srgbClr val="C62828"/>
                </a:solidFill>
              </a:rPr>
              <a:t>Ochiai et al. (TASLP 2024)</a:t>
            </a:r>
          </a:p>
        </p:txBody>
      </p:sp>
      <p:sp>
        <p:nvSpPr>
          <p:cNvPr id="17" name="TextBox 16"/>
          <p:cNvSpPr txBox="1"/>
          <p:nvPr/>
        </p:nvSpPr>
        <p:spPr>
          <a:xfrm>
            <a:off x="6309360" y="2176272"/>
            <a:ext cx="5120640" cy="347472"/>
          </a:xfrm>
          <a:prstGeom prst="rect">
            <a:avLst/>
          </a:prstGeom>
          <a:noFill/>
        </p:spPr>
        <p:txBody>
          <a:bodyPr wrap="square">
            <a:spAutoFit/>
          </a:bodyPr>
          <a:lstStyle/>
          <a:p>
            <a:pPr algn="l"/>
            <a:r>
              <a:rPr sz="1200" b="0">
                <a:solidFill>
                  <a:srgbClr val="212121"/>
                </a:solidFill>
              </a:rPr>
              <a:t>SEが生成する「アーティファクト誤差」が
残留ノイズよりASRに有害と実証</a:t>
            </a:r>
          </a:p>
        </p:txBody>
      </p:sp>
      <p:sp>
        <p:nvSpPr>
          <p:cNvPr id="18" name="Rectangle 17"/>
          <p:cNvSpPr/>
          <p:nvPr/>
        </p:nvSpPr>
        <p:spPr>
          <a:xfrm>
            <a:off x="6172200" y="2697480"/>
            <a:ext cx="5394960" cy="749808"/>
          </a:xfrm>
          <a:prstGeom prst="rect">
            <a:avLst/>
          </a:prstGeom>
          <a:solidFill>
            <a:srgbClr val="FF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2734056"/>
            <a:ext cx="5120640" cy="292608"/>
          </a:xfrm>
          <a:prstGeom prst="rect">
            <a:avLst/>
          </a:prstGeom>
          <a:noFill/>
        </p:spPr>
        <p:txBody>
          <a:bodyPr wrap="square">
            <a:spAutoFit/>
          </a:bodyPr>
          <a:lstStyle/>
          <a:p>
            <a:pPr algn="l"/>
            <a:r>
              <a:rPr sz="1200" b="1">
                <a:solidFill>
                  <a:srgbClr val="C62828"/>
                </a:solidFill>
              </a:rPr>
              <a:t>Mawalim et al. (Interspeech 2024)</a:t>
            </a:r>
          </a:p>
        </p:txBody>
      </p:sp>
      <p:sp>
        <p:nvSpPr>
          <p:cNvPr id="20" name="TextBox 19"/>
          <p:cNvSpPr txBox="1"/>
          <p:nvPr/>
        </p:nvSpPr>
        <p:spPr>
          <a:xfrm>
            <a:off x="6309360" y="3044952"/>
            <a:ext cx="5120640" cy="347472"/>
          </a:xfrm>
          <a:prstGeom prst="rect">
            <a:avLst/>
          </a:prstGeom>
          <a:noFill/>
        </p:spPr>
        <p:txBody>
          <a:bodyPr wrap="square">
            <a:spAutoFit/>
          </a:bodyPr>
          <a:lstStyle/>
          <a:p>
            <a:pPr algn="l"/>
            <a:r>
              <a:rPr sz="1200" b="0">
                <a:solidFill>
                  <a:srgbClr val="212121"/>
                </a:solidFill>
              </a:rPr>
              <a:t>最新DL-SEは実環境でASRを
必ずしも改善しないことを確認</a:t>
            </a:r>
          </a:p>
        </p:txBody>
      </p:sp>
      <p:sp>
        <p:nvSpPr>
          <p:cNvPr id="21" name="Rectangle 20"/>
          <p:cNvSpPr/>
          <p:nvPr/>
        </p:nvSpPr>
        <p:spPr>
          <a:xfrm>
            <a:off x="365760" y="3611880"/>
            <a:ext cx="11430000" cy="960120"/>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657600"/>
            <a:ext cx="2286000" cy="320040"/>
          </a:xfrm>
          <a:prstGeom prst="rect">
            <a:avLst/>
          </a:prstGeom>
          <a:noFill/>
        </p:spPr>
        <p:txBody>
          <a:bodyPr wrap="square">
            <a:spAutoFit/>
          </a:bodyPr>
          <a:lstStyle/>
          <a:p>
            <a:pPr algn="l"/>
            <a:r>
              <a:rPr sz="1400" b="1">
                <a:solidFill>
                  <a:srgbClr val="FF6F00"/>
                </a:solidFill>
              </a:rPr>
              <a:t>未解決の問い</a:t>
            </a:r>
          </a:p>
        </p:txBody>
      </p:sp>
      <p:sp>
        <p:nvSpPr>
          <p:cNvPr id="23" name="TextBox 22"/>
          <p:cNvSpPr txBox="1"/>
          <p:nvPr/>
        </p:nvSpPr>
        <p:spPr>
          <a:xfrm>
            <a:off x="548640" y="4023360"/>
            <a:ext cx="11064240" cy="502920"/>
          </a:xfrm>
          <a:prstGeom prst="rect">
            <a:avLst/>
          </a:prstGeom>
          <a:noFill/>
        </p:spPr>
        <p:txBody>
          <a:bodyPr wrap="square">
            <a:spAutoFit/>
          </a:bodyPr>
          <a:lstStyle/>
          <a:p>
            <a:pPr algn="l"/>
            <a:r>
              <a:rPr sz="1400" b="0">
                <a:solidFill>
                  <a:srgbClr val="212121"/>
                </a:solidFill>
              </a:rPr>
              <a:t>上記現象は「一般的なマイク・一般ノイズ」での研究。高周波成分が欠落した喉マイクというドメイン外入力に対してSEを適用したとき，知覚品質とASR性能はどう変化するか？</a:t>
            </a:r>
          </a:p>
        </p:txBody>
      </p:sp>
      <p:sp>
        <p:nvSpPr>
          <p:cNvPr id="24" name="Rectangle 23"/>
          <p:cNvSpPr/>
          <p:nvPr/>
        </p:nvSpPr>
        <p:spPr>
          <a:xfrm>
            <a:off x="365760" y="4754880"/>
            <a:ext cx="11430000" cy="17373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846320"/>
            <a:ext cx="4572000" cy="320040"/>
          </a:xfrm>
          <a:prstGeom prst="rect">
            <a:avLst/>
          </a:prstGeom>
          <a:noFill/>
        </p:spPr>
        <p:txBody>
          <a:bodyPr wrap="square">
            <a:spAutoFit/>
          </a:bodyPr>
          <a:lstStyle/>
          <a:p>
            <a:pPr algn="l"/>
            <a:r>
              <a:rPr sz="1300" b="1">
                <a:solidFill>
                  <a:srgbClr val="1A237E"/>
                </a:solidFill>
              </a:rPr>
              <a:t>本研究で使用したSEモデル</a:t>
            </a:r>
          </a:p>
        </p:txBody>
      </p:sp>
      <p:sp>
        <p:nvSpPr>
          <p:cNvPr id="26" name="TextBox 25"/>
          <p:cNvSpPr txBox="1"/>
          <p:nvPr/>
        </p:nvSpPr>
        <p:spPr>
          <a:xfrm>
            <a:off x="548640" y="5212080"/>
            <a:ext cx="4114800" cy="274320"/>
          </a:xfrm>
          <a:prstGeom prst="rect">
            <a:avLst/>
          </a:prstGeom>
          <a:noFill/>
        </p:spPr>
        <p:txBody>
          <a:bodyPr wrap="square">
            <a:spAutoFit/>
          </a:bodyPr>
          <a:lstStyle/>
          <a:p>
            <a:pPr algn="l"/>
            <a:r>
              <a:rPr sz="1300" b="1">
                <a:solidFill>
                  <a:srgbClr val="FF9800"/>
                </a:solidFill>
              </a:rPr>
              <a:t>● DSP-only</a:t>
            </a:r>
          </a:p>
        </p:txBody>
      </p:sp>
      <p:sp>
        <p:nvSpPr>
          <p:cNvPr id="27" name="TextBox 26"/>
          <p:cNvSpPr txBox="1"/>
          <p:nvPr/>
        </p:nvSpPr>
        <p:spPr>
          <a:xfrm>
            <a:off x="4846320" y="5212080"/>
            <a:ext cx="6858000" cy="274320"/>
          </a:xfrm>
          <a:prstGeom prst="rect">
            <a:avLst/>
          </a:prstGeom>
          <a:noFill/>
        </p:spPr>
        <p:txBody>
          <a:bodyPr wrap="square">
            <a:spAutoFit/>
          </a:bodyPr>
          <a:lstStyle/>
          <a:p>
            <a:pPr algn="l"/>
            <a:r>
              <a:rPr sz="1300" b="0">
                <a:solidFill>
                  <a:srgbClr val="212121"/>
                </a:solidFill>
              </a:rPr>
              <a:t>ハイパスフィルタ（300Hz）＋プリエンファシス＋正規化</a:t>
            </a:r>
          </a:p>
        </p:txBody>
      </p:sp>
      <p:sp>
        <p:nvSpPr>
          <p:cNvPr id="28" name="TextBox 27"/>
          <p:cNvSpPr txBox="1"/>
          <p:nvPr/>
        </p:nvSpPr>
        <p:spPr>
          <a:xfrm>
            <a:off x="548640" y="5760720"/>
            <a:ext cx="4114800" cy="274320"/>
          </a:xfrm>
          <a:prstGeom prst="rect">
            <a:avLst/>
          </a:prstGeom>
          <a:noFill/>
        </p:spPr>
        <p:txBody>
          <a:bodyPr wrap="square">
            <a:spAutoFit/>
          </a:bodyPr>
          <a:lstStyle/>
          <a:p>
            <a:pPr algn="l"/>
            <a:r>
              <a:rPr sz="1300" b="1">
                <a:solidFill>
                  <a:srgbClr val="43A047"/>
                </a:solidFill>
              </a:rPr>
              <a:t>● GTCRN（48K パラメータの軽量DNN）</a:t>
            </a:r>
          </a:p>
        </p:txBody>
      </p:sp>
      <p:sp>
        <p:nvSpPr>
          <p:cNvPr id="29" name="TextBox 28"/>
          <p:cNvSpPr txBox="1"/>
          <p:nvPr/>
        </p:nvSpPr>
        <p:spPr>
          <a:xfrm>
            <a:off x="4846320" y="5760720"/>
            <a:ext cx="6858000" cy="274320"/>
          </a:xfrm>
          <a:prstGeom prst="rect">
            <a:avLst/>
          </a:prstGeom>
          <a:noFill/>
        </p:spPr>
        <p:txBody>
          <a:bodyPr wrap="square">
            <a:spAutoFit/>
          </a:bodyPr>
          <a:lstStyle/>
          <a:p>
            <a:pPr algn="l"/>
            <a:r>
              <a:rPr sz="1300" b="0">
                <a:solidFill>
                  <a:srgbClr val="212121"/>
                </a:solidFill>
              </a:rPr>
              <a:t>DNS3（気導マイク・英語）で学習済み → 喉マイクはドメイン外</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主要発見：知覚品質↑なのにASR性能↓（三重パラドックス）</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4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pic>
        <p:nvPicPr>
          <p:cNvPr id="7" name="Picture 6" descr="image.png"/>
          <p:cNvPicPr>
            <a:picLocks noChangeAspect="1"/>
          </p:cNvPicPr>
          <p:nvPr/>
        </p:nvPicPr>
        <p:blipFill>
          <a:blip r:embed="rId2"/>
          <a:stretch>
            <a:fillRect/>
          </a:stretch>
        </p:blipFill>
        <p:spPr>
          <a:xfrm>
            <a:off x="365760" y="1371600"/>
            <a:ext cx="5486400" cy="3016598"/>
          </a:xfrm>
          <a:prstGeom prst="rect">
            <a:avLst/>
          </a:prstGeom>
        </p:spPr>
      </p:pic>
      <p:sp>
        <p:nvSpPr>
          <p:cNvPr id="8" name="TextBox 7"/>
          <p:cNvSpPr txBox="1"/>
          <p:nvPr/>
        </p:nvSpPr>
        <p:spPr>
          <a:xfrm>
            <a:off x="365760" y="4846320"/>
            <a:ext cx="5669280" cy="320040"/>
          </a:xfrm>
          <a:prstGeom prst="rect">
            <a:avLst/>
          </a:prstGeom>
          <a:noFill/>
        </p:spPr>
        <p:txBody>
          <a:bodyPr wrap="square">
            <a:spAutoFit/>
          </a:bodyPr>
          <a:lstStyle/>
          <a:p>
            <a:pPr algn="ctr"/>
            <a:r>
              <a:rPr sz="1000" b="0">
                <a:solidFill>
                  <a:srgbClr val="78909C"/>
                </a:solidFill>
              </a:rPr>
              <a:t>図：SNR 0 dB 白色ノイズ条件での SE前後の指標変化</a:t>
            </a:r>
          </a:p>
        </p:txBody>
      </p:sp>
      <p:sp>
        <p:nvSpPr>
          <p:cNvPr id="9" name="Rectangle 8"/>
          <p:cNvSpPr/>
          <p:nvPr/>
        </p:nvSpPr>
        <p:spPr>
          <a:xfrm>
            <a:off x="6217920" y="1371600"/>
            <a:ext cx="5577840" cy="347472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463040"/>
            <a:ext cx="5303520" cy="384048"/>
          </a:xfrm>
          <a:prstGeom prst="rect">
            <a:avLst/>
          </a:prstGeom>
          <a:noFill/>
        </p:spPr>
        <p:txBody>
          <a:bodyPr wrap="square">
            <a:spAutoFit/>
          </a:bodyPr>
          <a:lstStyle/>
          <a:p>
            <a:pPr algn="l"/>
            <a:r>
              <a:rPr sz="1600" b="1">
                <a:solidFill>
                  <a:srgbClr val="C62828"/>
                </a:solidFill>
              </a:rPr>
              <a:t>何が起きているか</a:t>
            </a:r>
          </a:p>
        </p:txBody>
      </p:sp>
      <p:sp>
        <p:nvSpPr>
          <p:cNvPr id="11" name="TextBox 10"/>
          <p:cNvSpPr txBox="1"/>
          <p:nvPr/>
        </p:nvSpPr>
        <p:spPr>
          <a:xfrm>
            <a:off x="6355080" y="1965960"/>
            <a:ext cx="5303520" cy="347472"/>
          </a:xfrm>
          <a:prstGeom prst="rect">
            <a:avLst/>
          </a:prstGeom>
          <a:noFill/>
        </p:spPr>
        <p:txBody>
          <a:bodyPr wrap="square">
            <a:spAutoFit/>
          </a:bodyPr>
          <a:lstStyle/>
          <a:p>
            <a:pPr algn="l"/>
            <a:r>
              <a:rPr sz="1300" b="0">
                <a:solidFill>
                  <a:srgbClr val="212121"/>
                </a:solidFill>
              </a:rPr>
              <a:t>GTCRN（SE）を適用すると…</a:t>
            </a:r>
          </a:p>
        </p:txBody>
      </p:sp>
      <p:sp>
        <p:nvSpPr>
          <p:cNvPr id="12" name="TextBox 11"/>
          <p:cNvSpPr txBox="1"/>
          <p:nvPr/>
        </p:nvSpPr>
        <p:spPr>
          <a:xfrm>
            <a:off x="6355080" y="2350008"/>
            <a:ext cx="5303520" cy="347472"/>
          </a:xfrm>
          <a:prstGeom prst="rect">
            <a:avLst/>
          </a:prstGeom>
          <a:noFill/>
        </p:spPr>
        <p:txBody>
          <a:bodyPr wrap="square">
            <a:spAutoFit/>
          </a:bodyPr>
          <a:lstStyle/>
          <a:p>
            <a:pPr algn="l"/>
            <a:r>
              <a:rPr sz="1300" b="0">
                <a:solidFill>
                  <a:srgbClr val="2E7D32"/>
                </a:solidFill>
              </a:rPr>
              <a:t>  STOI（了解度）: 0.585 → 0.721 ↑ 改善</a:t>
            </a:r>
          </a:p>
        </p:txBody>
      </p:sp>
      <p:sp>
        <p:nvSpPr>
          <p:cNvPr id="13" name="TextBox 12"/>
          <p:cNvSpPr txBox="1"/>
          <p:nvPr/>
        </p:nvSpPr>
        <p:spPr>
          <a:xfrm>
            <a:off x="6355080" y="2734056"/>
            <a:ext cx="5303520" cy="347472"/>
          </a:xfrm>
          <a:prstGeom prst="rect">
            <a:avLst/>
          </a:prstGeom>
          <a:noFill/>
        </p:spPr>
        <p:txBody>
          <a:bodyPr wrap="square">
            <a:spAutoFit/>
          </a:bodyPr>
          <a:lstStyle/>
          <a:p>
            <a:pPr algn="l"/>
            <a:r>
              <a:rPr sz="1300" b="0">
                <a:solidFill>
                  <a:srgbClr val="2E7D32"/>
                </a:solidFill>
              </a:rPr>
              <a:t>  PESQ（音質）:   1.018 → 1.706 ↑ 改善</a:t>
            </a:r>
          </a:p>
        </p:txBody>
      </p:sp>
      <p:sp>
        <p:nvSpPr>
          <p:cNvPr id="14" name="TextBox 13"/>
          <p:cNvSpPr txBox="1"/>
          <p:nvPr/>
        </p:nvSpPr>
        <p:spPr>
          <a:xfrm>
            <a:off x="6355080" y="3118104"/>
            <a:ext cx="5303520" cy="347472"/>
          </a:xfrm>
          <a:prstGeom prst="rect">
            <a:avLst/>
          </a:prstGeom>
          <a:noFill/>
        </p:spPr>
        <p:txBody>
          <a:bodyPr wrap="square">
            <a:spAutoFit/>
          </a:bodyPr>
          <a:lstStyle/>
          <a:p>
            <a:pPr algn="l"/>
            <a:r>
              <a:rPr sz="1300" b="0">
                <a:solidFill>
                  <a:srgbClr val="C62828"/>
                </a:solidFill>
              </a:rPr>
              <a:t>  CER（ASR誤り率）: 0.882 → 1.214 ↑ 悪化</a:t>
            </a:r>
          </a:p>
        </p:txBody>
      </p:sp>
      <p:sp>
        <p:nvSpPr>
          <p:cNvPr id="15" name="TextBox 14"/>
          <p:cNvSpPr txBox="1"/>
          <p:nvPr/>
        </p:nvSpPr>
        <p:spPr>
          <a:xfrm>
            <a:off x="6355080" y="3502152"/>
            <a:ext cx="5303520" cy="347472"/>
          </a:xfrm>
          <a:prstGeom prst="rect">
            <a:avLst/>
          </a:prstGeom>
          <a:noFill/>
        </p:spPr>
        <p:txBody>
          <a:bodyPr wrap="square">
            <a:spAutoFit/>
          </a:bodyPr>
          <a:lstStyle/>
          <a:p>
            <a:pPr algn="l"/>
            <a:r>
              <a:rPr sz="1300" b="0">
                <a:solidFill>
                  <a:srgbClr val="212121"/>
                </a:solidFill>
              </a:rPr>
              <a:t/>
            </a:r>
          </a:p>
        </p:txBody>
      </p:sp>
      <p:sp>
        <p:nvSpPr>
          <p:cNvPr id="16" name="TextBox 15"/>
          <p:cNvSpPr txBox="1"/>
          <p:nvPr/>
        </p:nvSpPr>
        <p:spPr>
          <a:xfrm>
            <a:off x="6355080" y="3886200"/>
            <a:ext cx="5303520" cy="347472"/>
          </a:xfrm>
          <a:prstGeom prst="rect">
            <a:avLst/>
          </a:prstGeom>
          <a:noFill/>
        </p:spPr>
        <p:txBody>
          <a:bodyPr wrap="square">
            <a:spAutoFit/>
          </a:bodyPr>
          <a:lstStyle/>
          <a:p>
            <a:pPr algn="l"/>
            <a:r>
              <a:rPr sz="1300" b="1">
                <a:solidFill>
                  <a:srgbClr val="1A237E"/>
                </a:solidFill>
              </a:rPr>
              <a:t>「聴こえやすくなったのに認識できない」</a:t>
            </a:r>
          </a:p>
        </p:txBody>
      </p:sp>
      <p:sp>
        <p:nvSpPr>
          <p:cNvPr id="17" name="Rectangle 16"/>
          <p:cNvSpPr/>
          <p:nvPr/>
        </p:nvSpPr>
        <p:spPr>
          <a:xfrm>
            <a:off x="6217920" y="4983480"/>
            <a:ext cx="5577840" cy="1051560"/>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5029200"/>
            <a:ext cx="5303520" cy="347472"/>
          </a:xfrm>
          <a:prstGeom prst="rect">
            <a:avLst/>
          </a:prstGeom>
          <a:noFill/>
        </p:spPr>
        <p:txBody>
          <a:bodyPr wrap="square">
            <a:spAutoFit/>
          </a:bodyPr>
          <a:lstStyle/>
          <a:p>
            <a:pPr algn="l"/>
            <a:r>
              <a:rPr sz="1200" b="1">
                <a:solidFill>
                  <a:srgbClr val="FF6F00"/>
                </a:solidFill>
              </a:rPr>
              <a:t>原因（Ochiai et al. TASLP 2024 の枠組みより）</a:t>
            </a:r>
          </a:p>
        </p:txBody>
      </p:sp>
      <p:sp>
        <p:nvSpPr>
          <p:cNvPr id="19" name="TextBox 18"/>
          <p:cNvSpPr txBox="1"/>
          <p:nvPr/>
        </p:nvSpPr>
        <p:spPr>
          <a:xfrm>
            <a:off x="6355080" y="5394960"/>
            <a:ext cx="5303520" cy="594360"/>
          </a:xfrm>
          <a:prstGeom prst="rect">
            <a:avLst/>
          </a:prstGeom>
          <a:noFill/>
        </p:spPr>
        <p:txBody>
          <a:bodyPr wrap="square">
            <a:spAutoFit/>
          </a:bodyPr>
          <a:lstStyle/>
          <a:p>
            <a:pPr algn="l"/>
            <a:r>
              <a:rPr sz="1200" b="0">
                <a:solidFill>
                  <a:srgbClr val="212121"/>
                </a:solidFill>
              </a:rPr>
              <a:t>SEの非線形処理が「アーティファクト誤差」を生成。
自然界に存在しない音響パターンがASRを混乱させる。
STOI・PESQはこの誤差を検出できない。</a:t>
            </a:r>
          </a:p>
        </p:txBody>
      </p:sp>
      <p:sp>
        <p:nvSpPr>
          <p:cNvPr id="20" name="Rectangle 19"/>
          <p:cNvSpPr/>
          <p:nvPr/>
        </p:nvSpPr>
        <p:spPr>
          <a:xfrm>
            <a:off x="365760" y="5806440"/>
            <a:ext cx="11430000" cy="6858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925312"/>
            <a:ext cx="11064240" cy="411480"/>
          </a:xfrm>
          <a:prstGeom prst="rect">
            <a:avLst/>
          </a:prstGeom>
          <a:noFill/>
        </p:spPr>
        <p:txBody>
          <a:bodyPr wrap="square">
            <a:spAutoFit/>
          </a:bodyPr>
          <a:lstStyle/>
          <a:p>
            <a:pPr algn="ctr"/>
            <a:r>
              <a:rPr sz="1400" b="1">
                <a:solidFill>
                  <a:srgbClr val="C62828"/>
                </a:solidFill>
              </a:rPr>
              <a:t>統計検定：34ノイズ条件のうち30条件でWilcoxon検定を実施 → 26/30条件で有意差 (p &lt; 0.05)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解決策と結論：「音声を直す」より「ASRを慣れさせる」</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5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325880"/>
            <a:ext cx="5394960" cy="32004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17320"/>
            <a:ext cx="5120640" cy="365760"/>
          </a:xfrm>
          <a:prstGeom prst="rect">
            <a:avLst/>
          </a:prstGeom>
          <a:noFill/>
        </p:spPr>
        <p:txBody>
          <a:bodyPr wrap="square">
            <a:spAutoFit/>
          </a:bodyPr>
          <a:lstStyle/>
          <a:p>
            <a:pPr algn="l"/>
            <a:r>
              <a:rPr sz="1400" b="1">
                <a:solidFill>
                  <a:srgbClr val="2E7D32"/>
                </a:solidFill>
              </a:rPr>
              <a:t>解決策：Whisper ファインチューニング（FT）</a:t>
            </a:r>
          </a:p>
        </p:txBody>
      </p:sp>
      <p:sp>
        <p:nvSpPr>
          <p:cNvPr id="9" name="TextBox 8"/>
          <p:cNvSpPr txBox="1"/>
          <p:nvPr/>
        </p:nvSpPr>
        <p:spPr>
          <a:xfrm>
            <a:off x="548640" y="1874519"/>
            <a:ext cx="5120640" cy="502920"/>
          </a:xfrm>
          <a:prstGeom prst="rect">
            <a:avLst/>
          </a:prstGeom>
          <a:noFill/>
        </p:spPr>
        <p:txBody>
          <a:bodyPr wrap="square">
            <a:spAutoFit/>
          </a:bodyPr>
          <a:lstStyle/>
          <a:p>
            <a:pPr algn="l"/>
            <a:r>
              <a:rPr sz="1300" b="0">
                <a:solidFill>
                  <a:srgbClr val="212121"/>
                </a:solidFill>
              </a:rPr>
              <a:t>喉マイク音声 4,000発話でWhisper smallを再学習
→ ASRモデルが喉マイクの音響特性を直接学習</a:t>
            </a:r>
          </a:p>
        </p:txBody>
      </p:sp>
      <p:pic>
        <p:nvPicPr>
          <p:cNvPr id="10" name="Picture 9" descr="image.png"/>
          <p:cNvPicPr>
            <a:picLocks noChangeAspect="1"/>
          </p:cNvPicPr>
          <p:nvPr/>
        </p:nvPicPr>
        <p:blipFill>
          <a:blip r:embed="rId2"/>
          <a:stretch>
            <a:fillRect/>
          </a:stretch>
        </p:blipFill>
        <p:spPr>
          <a:xfrm>
            <a:off x="457200" y="2468880"/>
            <a:ext cx="5029200" cy="2664372"/>
          </a:xfrm>
          <a:prstGeom prst="rect">
            <a:avLst/>
          </a:prstGeom>
        </p:spPr>
      </p:pic>
      <p:sp>
        <p:nvSpPr>
          <p:cNvPr id="11" name="Rectangle 10"/>
          <p:cNvSpPr/>
          <p:nvPr/>
        </p:nvSpPr>
        <p:spPr>
          <a:xfrm>
            <a:off x="6126480" y="1325880"/>
            <a:ext cx="566928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1417320"/>
            <a:ext cx="5394960" cy="365760"/>
          </a:xfrm>
          <a:prstGeom prst="rect">
            <a:avLst/>
          </a:prstGeom>
          <a:noFill/>
        </p:spPr>
        <p:txBody>
          <a:bodyPr wrap="square">
            <a:spAutoFit/>
          </a:bodyPr>
          <a:lstStyle/>
          <a:p>
            <a:pPr algn="l"/>
            <a:r>
              <a:rPr sz="1400" b="1">
                <a:solidFill>
                  <a:srgbClr val="1A237E"/>
                </a:solidFill>
              </a:rPr>
              <a:t>補足：SE × FT の組み合わせ比較</a:t>
            </a:r>
          </a:p>
        </p:txBody>
      </p:sp>
      <p:pic>
        <p:nvPicPr>
          <p:cNvPr id="13" name="Picture 12" descr="image.png"/>
          <p:cNvPicPr>
            <a:picLocks noChangeAspect="1"/>
          </p:cNvPicPr>
          <p:nvPr/>
        </p:nvPicPr>
        <p:blipFill>
          <a:blip r:embed="rId3"/>
          <a:stretch>
            <a:fillRect/>
          </a:stretch>
        </p:blipFill>
        <p:spPr>
          <a:xfrm>
            <a:off x="6217920" y="1874519"/>
            <a:ext cx="5394960" cy="3146361"/>
          </a:xfrm>
          <a:prstGeom prst="rect">
            <a:avLst/>
          </a:prstGeom>
        </p:spPr>
      </p:pic>
      <p:sp>
        <p:nvSpPr>
          <p:cNvPr id="14" name="TextBox 13"/>
          <p:cNvSpPr txBox="1"/>
          <p:nvPr/>
        </p:nvSpPr>
        <p:spPr>
          <a:xfrm>
            <a:off x="6263640" y="4206240"/>
            <a:ext cx="5394960" cy="274320"/>
          </a:xfrm>
          <a:prstGeom prst="rect">
            <a:avLst/>
          </a:prstGeom>
          <a:noFill/>
        </p:spPr>
        <p:txBody>
          <a:bodyPr wrap="square">
            <a:spAutoFit/>
          </a:bodyPr>
          <a:lstStyle/>
          <a:p>
            <a:pPr algn="l"/>
            <a:r>
              <a:rPr sz="1200" b="0">
                <a:solidFill>
                  <a:srgbClr val="78909C"/>
                </a:solidFill>
              </a:rPr>
              <a:t>FT後もSEの逆効果は残るが悪影響は縮小（+0.091→+0.036）</a:t>
            </a:r>
          </a:p>
        </p:txBody>
      </p:sp>
      <p:sp>
        <p:nvSpPr>
          <p:cNvPr id="15" name="Rectangle 14"/>
          <p:cNvSpPr/>
          <p:nvPr/>
        </p:nvSpPr>
        <p:spPr>
          <a:xfrm>
            <a:off x="365760" y="4663440"/>
            <a:ext cx="11430000" cy="1874519"/>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736592"/>
            <a:ext cx="1828800" cy="347472"/>
          </a:xfrm>
          <a:prstGeom prst="rect">
            <a:avLst/>
          </a:prstGeom>
          <a:noFill/>
        </p:spPr>
        <p:txBody>
          <a:bodyPr wrap="square">
            <a:spAutoFit/>
          </a:bodyPr>
          <a:lstStyle/>
          <a:p>
            <a:pPr algn="l"/>
            <a:r>
              <a:rPr sz="1500" b="1">
                <a:solidFill>
                  <a:srgbClr val="1A237E"/>
                </a:solidFill>
              </a:rPr>
              <a:t>まとめ</a:t>
            </a:r>
          </a:p>
        </p:txBody>
      </p:sp>
      <p:sp>
        <p:nvSpPr>
          <p:cNvPr id="17" name="TextBox 16"/>
          <p:cNvSpPr txBox="1"/>
          <p:nvPr/>
        </p:nvSpPr>
        <p:spPr>
          <a:xfrm>
            <a:off x="548640" y="5120640"/>
            <a:ext cx="457200" cy="384048"/>
          </a:xfrm>
          <a:prstGeom prst="rect">
            <a:avLst/>
          </a:prstGeom>
          <a:noFill/>
        </p:spPr>
        <p:txBody>
          <a:bodyPr wrap="square">
            <a:spAutoFit/>
          </a:bodyPr>
          <a:lstStyle/>
          <a:p>
            <a:pPr algn="l"/>
            <a:r>
              <a:rPr sz="1400" b="1">
                <a:solidFill>
                  <a:srgbClr val="C62828"/>
                </a:solidFill>
              </a:rPr>
              <a:t>①</a:t>
            </a:r>
          </a:p>
        </p:txBody>
      </p:sp>
      <p:sp>
        <p:nvSpPr>
          <p:cNvPr id="18" name="TextBox 17"/>
          <p:cNvSpPr txBox="1"/>
          <p:nvPr/>
        </p:nvSpPr>
        <p:spPr>
          <a:xfrm>
            <a:off x="1005840" y="5120640"/>
            <a:ext cx="10607040" cy="384048"/>
          </a:xfrm>
          <a:prstGeom prst="rect">
            <a:avLst/>
          </a:prstGeom>
          <a:noFill/>
        </p:spPr>
        <p:txBody>
          <a:bodyPr wrap="square">
            <a:spAutoFit/>
          </a:bodyPr>
          <a:lstStyle/>
          <a:p>
            <a:pPr algn="l"/>
            <a:r>
              <a:rPr sz="1400" b="0">
                <a:solidFill>
                  <a:srgbClr val="212121"/>
                </a:solidFill>
              </a:rPr>
              <a:t>STOI↑PESQ↑でもCERが悪化する逆行現象が喉マイクでも全ノイズ条件で一貫して観測された</a:t>
            </a:r>
          </a:p>
        </p:txBody>
      </p:sp>
      <p:sp>
        <p:nvSpPr>
          <p:cNvPr id="19" name="TextBox 18"/>
          <p:cNvSpPr txBox="1"/>
          <p:nvPr/>
        </p:nvSpPr>
        <p:spPr>
          <a:xfrm>
            <a:off x="548640" y="5577840"/>
            <a:ext cx="457200" cy="384048"/>
          </a:xfrm>
          <a:prstGeom prst="rect">
            <a:avLst/>
          </a:prstGeom>
          <a:noFill/>
        </p:spPr>
        <p:txBody>
          <a:bodyPr wrap="square">
            <a:spAutoFit/>
          </a:bodyPr>
          <a:lstStyle/>
          <a:p>
            <a:pPr algn="l"/>
            <a:r>
              <a:rPr sz="1400" b="1">
                <a:solidFill>
                  <a:srgbClr val="FF6F00"/>
                </a:solidFill>
              </a:rPr>
              <a:t>②</a:t>
            </a:r>
          </a:p>
        </p:txBody>
      </p:sp>
      <p:sp>
        <p:nvSpPr>
          <p:cNvPr id="20" name="TextBox 19"/>
          <p:cNvSpPr txBox="1"/>
          <p:nvPr/>
        </p:nvSpPr>
        <p:spPr>
          <a:xfrm>
            <a:off x="1005840" y="5577840"/>
            <a:ext cx="10607040" cy="384048"/>
          </a:xfrm>
          <a:prstGeom prst="rect">
            <a:avLst/>
          </a:prstGeom>
          <a:noFill/>
        </p:spPr>
        <p:txBody>
          <a:bodyPr wrap="square">
            <a:spAutoFit/>
          </a:bodyPr>
          <a:lstStyle/>
          <a:p>
            <a:pPr algn="l"/>
            <a:r>
              <a:rPr sz="1400" b="0">
                <a:solidFill>
                  <a:srgbClr val="212121"/>
                </a:solidFill>
              </a:rPr>
              <a:t>知覚品質指標（STOI・PESQ）は喉マイクASR性能の指標として不適切</a:t>
            </a:r>
          </a:p>
        </p:txBody>
      </p:sp>
      <p:sp>
        <p:nvSpPr>
          <p:cNvPr id="21" name="TextBox 20"/>
          <p:cNvSpPr txBox="1"/>
          <p:nvPr/>
        </p:nvSpPr>
        <p:spPr>
          <a:xfrm>
            <a:off x="548640" y="6035040"/>
            <a:ext cx="457200" cy="384048"/>
          </a:xfrm>
          <a:prstGeom prst="rect">
            <a:avLst/>
          </a:prstGeom>
          <a:noFill/>
        </p:spPr>
        <p:txBody>
          <a:bodyPr wrap="square">
            <a:spAutoFit/>
          </a:bodyPr>
          <a:lstStyle/>
          <a:p>
            <a:pPr algn="l"/>
            <a:r>
              <a:rPr sz="1400" b="1">
                <a:solidFill>
                  <a:srgbClr val="2E7D32"/>
                </a:solidFill>
              </a:rPr>
              <a:t>③</a:t>
            </a:r>
          </a:p>
        </p:txBody>
      </p:sp>
      <p:sp>
        <p:nvSpPr>
          <p:cNvPr id="22" name="TextBox 21"/>
          <p:cNvSpPr txBox="1"/>
          <p:nvPr/>
        </p:nvSpPr>
        <p:spPr>
          <a:xfrm>
            <a:off x="1005840" y="6035040"/>
            <a:ext cx="10607040" cy="384048"/>
          </a:xfrm>
          <a:prstGeom prst="rect">
            <a:avLst/>
          </a:prstGeom>
          <a:noFill/>
        </p:spPr>
        <p:txBody>
          <a:bodyPr wrap="square">
            <a:spAutoFit/>
          </a:bodyPr>
          <a:lstStyle/>
          <a:p>
            <a:pPr algn="l"/>
            <a:r>
              <a:rPr sz="1400" b="0">
                <a:solidFill>
                  <a:srgbClr val="212121"/>
                </a:solidFill>
              </a:rPr>
              <a:t>Whisper FTでCER 72.4%改善（0.544→0.150，10話者）—音声処理よりASR適応が根本解決</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