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発話ごとのイコライザ（上限）</c:v>
                </c:pt>
              </c:strCache>
            </c:strRef>
          </c:tx>
          <c:spPr>
            <a:solidFill>
              <a:srgbClr val="A6A6A6"/>
            </a:solidFill>
            <a:effectLst/>
          </c:spPr>
          <c:invertIfNegative val="0"/>
          <c:dLbls>
            <c:numFmt formatCode="0.0" sourceLinked="0"/>
            <c:txPr>
              <a:bodyPr/>
              <a:lstStyle/>
              <a:p>
                <a:pPr>
                  <a:defRPr b="0" i="0" strike="noStrike" sz="1100" u="none">
                    <a:solidFill>
                      <a:srgbClr val="2D2D2D"/>
                    </a:solidFill>
                    <a:latin typeface="Arial"/>
                  </a:defRPr>
                </a:pPr>
              </a:p>
            </c:txPr>
            <c:showLegendKey val="0"/>
            <c:showVal val="1"/>
            <c:showCatName val="0"/>
            <c:showSerName val="0"/>
            <c:showPercent val="0"/>
            <c:showBubbleSize val="0"/>
            <c:showLeaderLines val="0"/>
          </c:dLbls>
          <c:cat>
            <c:multiLvlStrRef>
              <c:f>Sheet1!$A$2:$A$5</c:f>
              <c:multiLvlStrCache>
                <c:ptCount val="4"/>
                <c:lvl>
                  <c:pt idx="0">
                    <c:v>Whisper-small</c:v>
                  </c:pt>
                  <c:pt idx="1">
                    <c:v>Whisper-medium</c:v>
                  </c:pt>
                  <c:pt idx="2">
                    <c:v>large-v3-turbo</c:v>
                  </c:pt>
                  <c:pt idx="3">
                    <c:v>FT Whisper</c:v>
                  </c:pt>
                </c:lvl>
              </c:multiLvlStrCache>
            </c:multiLvlStrRef>
          </c:cat>
          <c:val>
            <c:numRef>
              <c:f>Sheet1!$B$2:$B$5</c:f>
              <c:numCache>
                <c:formatCode>General</c:formatCode>
                <c:ptCount val="4"/>
                <c:pt idx="0">
                  <c:v>0.9</c:v>
                </c:pt>
                <c:pt idx="1">
                  <c:v>0.2</c:v>
                </c:pt>
                <c:pt idx="2">
                  <c:v>0.2</c:v>
                </c:pt>
                <c:pt idx="3">
                  <c:v>0.1</c:v>
                </c:pt>
              </c:numCache>
            </c:numRef>
          </c:val>
        </c:ser>
        <c:ser>
          <c:idx val="1"/>
          <c:order val="1"/>
          <c:tx>
            <c:strRef>
              <c:f>Sheet1!$C$1</c:f>
              <c:strCache>
                <c:ptCount val="1"/>
                <c:pt idx="0">
                  <c:v>包絡だけ移す</c:v>
                </c:pt>
              </c:strCache>
            </c:strRef>
          </c:tx>
          <c:spPr>
            <a:solidFill>
              <a:srgbClr val="2E75B6"/>
            </a:solidFill>
            <a:effectLst/>
          </c:spPr>
          <c:invertIfNegative val="0"/>
          <c:dLbls>
            <c:numFmt formatCode="0.0" sourceLinked="0"/>
            <c:txPr>
              <a:bodyPr/>
              <a:lstStyle/>
              <a:p>
                <a:pPr>
                  <a:defRPr b="0" i="0" strike="noStrike" sz="1100" u="none">
                    <a:solidFill>
                      <a:srgbClr val="2D2D2D"/>
                    </a:solidFill>
                    <a:latin typeface="Arial"/>
                  </a:defRPr>
                </a:pPr>
              </a:p>
            </c:txPr>
            <c:showLegendKey val="0"/>
            <c:showVal val="1"/>
            <c:showCatName val="0"/>
            <c:showSerName val="0"/>
            <c:showPercent val="0"/>
            <c:showBubbleSize val="0"/>
            <c:showLeaderLines val="0"/>
          </c:dLbls>
          <c:cat>
            <c:multiLvlStrRef>
              <c:f>Sheet1!$A$2:$A$5</c:f>
              <c:multiLvlStrCache>
                <c:ptCount val="4"/>
                <c:lvl>
                  <c:pt idx="0">
                    <c:v>Whisper-small</c:v>
                  </c:pt>
                  <c:pt idx="1">
                    <c:v>Whisper-medium</c:v>
                  </c:pt>
                  <c:pt idx="2">
                    <c:v>large-v3-turbo</c:v>
                  </c:pt>
                  <c:pt idx="3">
                    <c:v>FT Whisper</c:v>
                  </c:pt>
                </c:lvl>
              </c:multiLvlStrCache>
            </c:multiLvlStrRef>
          </c:cat>
          <c:val>
            <c:numRef>
              <c:f>Sheet1!$C$2:$C$5</c:f>
              <c:numCache>
                <c:formatCode>General</c:formatCode>
                <c:ptCount val="4"/>
                <c:pt idx="0">
                  <c:v>-1.8</c:v>
                </c:pt>
                <c:pt idx="1">
                  <c:v>-4</c:v>
                </c:pt>
                <c:pt idx="2">
                  <c:v>-4.9</c:v>
                </c:pt>
                <c:pt idx="3">
                  <c:v>-6.3</c:v>
                </c:pt>
              </c:numCache>
            </c:numRef>
          </c:val>
        </c:ser>
        <c:ser>
          <c:idx val="2"/>
          <c:order val="2"/>
          <c:tx>
            <c:strRef>
              <c:f>Sheet1!$D$1</c:f>
              <c:strCache>
                <c:ptCount val="1"/>
                <c:pt idx="0">
                  <c:v>融合A</c:v>
                </c:pt>
              </c:strCache>
            </c:strRef>
          </c:tx>
          <c:spPr>
            <a:solidFill>
              <a:srgbClr val="1F4E79"/>
            </a:solidFill>
            <a:effectLst/>
          </c:spPr>
          <c:invertIfNegative val="0"/>
          <c:dLbls>
            <c:numFmt formatCode="0.0" sourceLinked="0"/>
            <c:txPr>
              <a:bodyPr/>
              <a:lstStyle/>
              <a:p>
                <a:pPr>
                  <a:defRPr b="0" i="0" strike="noStrike" sz="1100" u="none">
                    <a:solidFill>
                      <a:srgbClr val="2D2D2D"/>
                    </a:solidFill>
                    <a:latin typeface="Arial"/>
                  </a:defRPr>
                </a:pPr>
              </a:p>
            </c:txPr>
            <c:showLegendKey val="0"/>
            <c:showVal val="1"/>
            <c:showCatName val="0"/>
            <c:showSerName val="0"/>
            <c:showPercent val="0"/>
            <c:showBubbleSize val="0"/>
            <c:showLeaderLines val="0"/>
          </c:dLbls>
          <c:cat>
            <c:multiLvlStrRef>
              <c:f>Sheet1!$A$2:$A$5</c:f>
              <c:multiLvlStrCache>
                <c:ptCount val="4"/>
                <c:lvl>
                  <c:pt idx="0">
                    <c:v>Whisper-small</c:v>
                  </c:pt>
                  <c:pt idx="1">
                    <c:v>Whisper-medium</c:v>
                  </c:pt>
                  <c:pt idx="2">
                    <c:v>large-v3-turbo</c:v>
                  </c:pt>
                  <c:pt idx="3">
                    <c:v>FT Whisper</c:v>
                  </c:pt>
                </c:lvl>
              </c:multiLvlStrCache>
            </c:multiLvlStrRef>
          </c:cat>
          <c:val>
            <c:numRef>
              <c:f>Sheet1!$D$2:$D$5</c:f>
              <c:numCache>
                <c:formatCode>General</c:formatCode>
                <c:ptCount val="4"/>
                <c:pt idx="0">
                  <c:v>-3.1</c:v>
                </c:pt>
                <c:pt idx="1">
                  <c:v>-4.6</c:v>
                </c:pt>
                <c:pt idx="2">
                  <c:v>-4.9</c:v>
                </c:pt>
                <c:pt idx="3">
                  <c:v>-8</c:v>
                </c:pt>
              </c:numCache>
            </c:numRef>
          </c:val>
        </c:ser>
        <c:dLbls>
          <c:numFmt formatCode="0.0" sourceLinked="0"/>
          <c:txPr>
            <a:bodyPr/>
            <a:lstStyle/>
            <a:p>
              <a:pPr>
                <a:defRPr b="0" i="0" strike="noStrike" sz="1100" u="none">
                  <a:solidFill>
                    <a:srgbClr val="2D2D2D"/>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2D2D2D"/>
                </a:solidFill>
                <a:latin typeface="Yu Gothic"/>
              </a:defRPr>
            </a:pPr>
            <a:endParaRPr lang="en-US"/>
          </a:p>
        </c:txPr>
        <c:crossAx val="2094734552"/>
        <c:crosses val="autoZero"/>
        <c:auto val="1"/>
        <c:lblAlgn val="ctr"/>
        <c:noMultiLvlLbl val="1"/>
      </c:catAx>
      <c:valAx>
        <c:axId val="2094734552"/>
        <c:scaling>
          <c:orientation val="minMax"/>
          <c:max val="2"/>
          <c:min val="-9"/>
        </c:scaling>
        <c:delete val="0"/>
        <c:axPos val="l"/>
        <c:majorGridlines>
          <c:spPr>
            <a:ln w="6350" cap="flat">
              <a:solidFill>
                <a:srgbClr val="E6E6E6"/>
              </a:solidFill>
              <a:prstDash val="solid"/>
              <a:round/>
            </a:ln>
          </c:spPr>
        </c:majorGridlines>
        <c:title>
          <c:tx>
            <c:rich>
              <a:bodyPr/>
              <a:lstStyle/>
              <a:p>
                <a:pPr>
                  <a:defRPr sz="1200" b="0" i="0" u="none" strike="noStrike">
                    <a:solidFill>
                      <a:srgbClr val="777777"/>
                    </a:solidFill>
                    <a:latin typeface="Arial"/>
                  </a:defRPr>
                </a:pPr>
                <a:r>
                  <a:rPr sz="1200" b="0" i="0" u="none" strike="noStrike">
                    <a:solidFill>
                      <a:srgbClr val="777777"/>
                    </a:solidFill>
                    <a:latin typeface="Arial"/>
                  </a:rPr>
                  <a:t>生成モデル比の誤り率の変化 [%]</a:t>
                </a:r>
              </a:p>
            </c:rich>
          </c:tx>
          <c:layout/>
          <c:overlay val="0"/>
        </c:title>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777777"/>
                </a:solidFill>
                <a:latin typeface="Arial"/>
              </a:defRPr>
            </a:pPr>
            <a:endParaRPr lang="en-US"/>
          </a:p>
        </c:txPr>
        <c:crossAx val="2094734554"/>
        <c:crosses val="autoZero"/>
        <c:crossBetween val="between"/>
        <c:majorUnit val="3"/>
      </c:valAx>
      <c:spPr>
        <a:noFill/>
        <a:ln>
          <a:noFill/>
        </a:ln>
        <a:effectLst/>
      </c:spPr>
    </c:plotArea>
    <c:legend>
      <c:legendPos val="t"/>
      <c:overlay val="0"/>
      <c:txPr>
        <a:bodyPr/>
        <a:lstStyle/>
        <a:p>
          <a:pPr>
            <a:defRPr sz="1300">
              <a:solidFill>
                <a:srgbClr val="2D2D2D"/>
              </a:solidFill>
              <a:latin typeface="Yu Gothic"/>
              <a:cs typeface="Yu Gothic"/>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【台本】（約50秒）
喉マイクは首の振動を拾うので騒音に強いのですが、TAPS では 8 kHz で収録されていて、4 kHz 以上の成分が最初からありません。そのまま Whisper に入れると誤り率は 0.45 です。
そこで、NVIDIA が公開している事前学習済みの生成モデルを、喉マイクから気導マイクへの対で追加学習し、欠けた成分を補います。さらに、Whisper の損失で学習した音声強調の出力と、振幅を半分ずつ混ぜます。これを融合Aと呼んでいます。混ぜるだけなので新しい学習はいりません。
評価は9種の認識器で行い、損失と設定の選択には Whisper-small だけを使っています。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【台本】（約60秒）
主な結果です。左から、処理なし、TAPS が公開している従来の音声強調、生成モデル、融合Aです。
生成モデルは、系統の違う認識器も含めた9種すべてで、従来の強調より誤りを 19〜32% 減らしました。
特に見てほしいのは太字の行で、喉マイクの音で追加学習した Whisper です。以前の実験では、この Whisper に音声強調を足すと逆に悪くなっていましたが、生成モデルなら 0.138 から 0.092 まで下がりました。認識器を学習し直した後でも、前処理で上乗せできます。
融合A は Whisper 系にさらに 2〜8% 効きますが、作りの違う Zipformer では悪化します。融合の上乗せは、学習を3回やり直しても再現しました。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【台本】（約45秒）
評価が TAPS の中で閉じているので、別のデータセットでも確かめました。フランス語の VibraVox です。
TAPS で作った部品をそのまま使うと、どの処理も処理なしより悪くなりました。音量や帯域をそろえても変わらなかったので、機器の違いが効いていると考えています。
一方、VibraVox の対データで同じ手順の適応をやり直すと、生成モデルで誤りが 70〜82% 減り、融合A でさらに減りました。手法の作り方はデータセットを越えて成り立ちますが、部品は機器ごとに適応が必要です。ただ、1,000 対、1.3 時間ほどのデータで、全データの改善量の 86% が得られています。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【台本】（約60秒）
今週の新しい分析です。融合A がなぜ Whisper に効くのかを、音声処理の観点から調べました。
まず、融合A が平均的な音色、つまりスペクトルの傾きや高域の量を変えているだけなのかを確かめました。灰色は、生成モデルの出力にイコライザをかけて、その発話の融合A と同じ平均スペクトルにしたものです。融合A の出力を見て作るので本来は使えない上限ですが、それでも誤りはまったく減りませんでした。
一方、青の、時間とともに変わるスペクトル包絡だけを移したものは、融合A の効果の 6割から10割を取り戻しました。
また、フォルマントや傾きなど発話ごとの音響特徴の変化は、誤りの減り方と相関しませんでした。効いているのは平均的な音色ではなく、フレームごとに動く包絡の変化だと言えます。
ちなみに Zipformer では逆に、固定のイコライザだけなら良くなり、時間変化する部分が悪化の原因でした。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【台本】（約40秒）
まとめです。事前学習済みの生成モデルで欠けた成分を補うことが土台で、9種すべての認識器に効き、喉マイクで学習した Whisper にも上乗せできました。Whisper 用の音声強調を混ぜると Whisper 系にさらに数%効き、その効果は時間とともに変わる包絡から来ています。別の喉マイクでは部品の適応し直しが必要ですが、作り方は再現しました。
次は、日本音響学会の春季研究発表会に4ページで申し込みます。分析では、融合をどのフレームにかけると効くのかを確かめている途中です。計算量が大きいのが課題で、生成の回数を減らす方向を試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914400"/>
          </a:xfrm>
          <a:prstGeom prst="rect">
            <a:avLst/>
          </a:prstGeom>
          <a:noFill/>
          <a:ln/>
        </p:spPr>
        <p:txBody>
          <a:bodyPr wrap="square" lIns="0" tIns="0" rIns="0" bIns="0" rtlCol="0" anchor="ctr"/>
          <a:lstStyle/>
          <a:p>
            <a:pPr indent="0" marL="0">
              <a:buNone/>
            </a:pPr>
            <a:r>
              <a:rPr lang="en-US" sz="2800" b="1" dirty="0">
                <a:solidFill>
                  <a:srgbClr val="1F4E79"/>
                </a:solidFill>
                <a:latin typeface="Yu Gothic" pitchFamily="34" charset="0"/>
                <a:ea typeface="Yu Gothic" pitchFamily="34" charset="-122"/>
                <a:cs typeface="Yu Gothic" pitchFamily="34" charset="-120"/>
              </a:rPr>
              <a:t>欠けた高域を生成モデルで補い、Whisper 用の強調を混ぜる</a:t>
            </a:r>
            <a:endParaRPr lang="en-US" sz="2800" dirty="0"/>
          </a:p>
        </p:txBody>
      </p:sp>
      <p:pic>
        <p:nvPicPr>
          <p:cNvPr id="3" name="Image 0" descr="/Users/KASU/bone_conduction_research/results/figures/method_overview.png">    </p:cNvPr>
          <p:cNvPicPr>
            <a:picLocks noChangeAspect="1"/>
          </p:cNvPicPr>
          <p:nvPr/>
        </p:nvPicPr>
        <p:blipFill>
          <a:blip r:embed="rId1"/>
          <a:stretch>
            <a:fillRect/>
          </a:stretch>
        </p:blipFill>
        <p:spPr>
          <a:xfrm>
            <a:off x="548640" y="1371600"/>
            <a:ext cx="6949440" cy="4211361"/>
          </a:xfrm>
          <a:prstGeom prst="rect">
            <a:avLst/>
          </a:prstGeom>
        </p:spPr>
      </p:pic>
      <p:sp>
        <p:nvSpPr>
          <p:cNvPr id="4" name="Text 1"/>
          <p:cNvSpPr/>
          <p:nvPr/>
        </p:nvSpPr>
        <p:spPr>
          <a:xfrm>
            <a:off x="7863840" y="1463040"/>
            <a:ext cx="3779215" cy="4572000"/>
          </a:xfrm>
          <a:prstGeom prst="rect">
            <a:avLst/>
          </a:prstGeom>
          <a:noFill/>
          <a:ln/>
        </p:spPr>
        <p:txBody>
          <a:bodyPr wrap="square" lIns="0" tIns="0" rIns="0" bIns="0" rtlCol="0" anchor="t"/>
          <a:lstStyle/>
          <a:p>
            <a:pPr marL="228600" indent="-228600">
              <a:lnSpc>
                <a:spcPct val="115000"/>
              </a:lnSpc>
              <a:spcAft>
                <a:spcPts val="1600"/>
              </a:spcAft>
              <a:buSzPct val="100000"/>
              <a:buChar char="•"/>
            </a:pPr>
            <a:r>
              <a:rPr lang="en-US" sz="1800" dirty="0">
                <a:solidFill>
                  <a:srgbClr val="2D2D2D"/>
                </a:solidFill>
                <a:latin typeface="Yu Gothic" pitchFamily="34" charset="0"/>
                <a:ea typeface="Yu Gothic" pitchFamily="34" charset="-122"/>
                <a:cs typeface="Yu Gothic" pitchFamily="34" charset="-120"/>
              </a:rPr>
              <a:t>喉マイクは騒音に強いが、</a:t>
            </a:r>
            <a:pPr indent="0" marL="0">
              <a:lnSpc>
                <a:spcPct val="115000"/>
              </a:lnSpc>
              <a:spcAft>
                <a:spcPts val="1600"/>
              </a:spcAft>
              <a:buNone/>
            </a:pPr>
            <a:r>
              <a:rPr lang="en-US" sz="1800" b="1" dirty="0">
                <a:solidFill>
                  <a:srgbClr val="2D2D2D"/>
                </a:solidFill>
                <a:latin typeface="Yu Gothic" pitchFamily="34" charset="0"/>
                <a:ea typeface="Yu Gothic" pitchFamily="34" charset="-122"/>
                <a:cs typeface="Yu Gothic" pitchFamily="34" charset="-120"/>
              </a:rPr>
              <a:t>4 kHz 以上が無い</a:t>
            </a:r>
            <a:endParaRPr lang="en-US" sz="1800" dirty="0"/>
          </a:p>
          <a:p>
            <a:pPr marL="228600" indent="-228600">
              <a:lnSpc>
                <a:spcPct val="115000"/>
              </a:lnSpc>
              <a:spcAft>
                <a:spcPts val="1600"/>
              </a:spcAft>
              <a:buSzPct val="100000"/>
              <a:buChar char="•"/>
            </a:pPr>
            <a:r>
              <a:rPr lang="en-US" sz="1800" dirty="0">
                <a:solidFill>
                  <a:srgbClr val="2D2D2D"/>
                </a:solidFill>
                <a:latin typeface="Yu Gothic" pitchFamily="34" charset="0"/>
                <a:ea typeface="Yu Gothic" pitchFamily="34" charset="-122"/>
                <a:cs typeface="Yu Gothic" pitchFamily="34" charset="-120"/>
              </a:rPr>
              <a:t>生成モデル（NVIDIA、4.3億パラメータ）を喉マイク→気導マイクの対で適応</a:t>
            </a:r>
            <a:endParaRPr lang="en-US" sz="1800" dirty="0"/>
          </a:p>
          <a:p>
            <a:pPr marL="228600" indent="-228600">
              <a:lnSpc>
                <a:spcPct val="115000"/>
              </a:lnSpc>
              <a:spcAft>
                <a:spcPts val="1600"/>
              </a:spcAft>
              <a:buSzPct val="100000"/>
              <a:buChar char="•"/>
            </a:pPr>
            <a:r>
              <a:rPr lang="en-US" sz="1800" dirty="0">
                <a:solidFill>
                  <a:srgbClr val="2D2D2D"/>
                </a:solidFill>
                <a:latin typeface="Yu Gothic" pitchFamily="34" charset="0"/>
                <a:ea typeface="Yu Gothic" pitchFamily="34" charset="-122"/>
                <a:cs typeface="Yu Gothic" pitchFamily="34" charset="-120"/>
              </a:rPr>
              <a:t>Whisper 用の音声強調と</a:t>
            </a:r>
            <a:pPr indent="0" marL="0">
              <a:lnSpc>
                <a:spcPct val="115000"/>
              </a:lnSpc>
              <a:spcAft>
                <a:spcPts val="1600"/>
              </a:spcAft>
              <a:buNone/>
            </a:pPr>
            <a:r>
              <a:rPr lang="en-US" sz="1800" b="1" dirty="0">
                <a:solidFill>
                  <a:srgbClr val="2D2D2D"/>
                </a:solidFill>
                <a:latin typeface="Yu Gothic" pitchFamily="34" charset="0"/>
                <a:ea typeface="Yu Gothic" pitchFamily="34" charset="-122"/>
                <a:cs typeface="Yu Gothic" pitchFamily="34" charset="-120"/>
              </a:rPr>
              <a:t>振幅を半々で混ぜる</a:t>
            </a:r>
            <a:pPr indent="0" marL="0">
              <a:lnSpc>
                <a:spcPct val="115000"/>
              </a:lnSpc>
              <a:spcAft>
                <a:spcPts val="1600"/>
              </a:spcAft>
              <a:buNone/>
            </a:pPr>
            <a:r>
              <a:rPr lang="en-US" sz="1800" dirty="0">
                <a:solidFill>
                  <a:srgbClr val="2D2D2D"/>
                </a:solidFill>
                <a:latin typeface="Yu Gothic" pitchFamily="34" charset="0"/>
                <a:ea typeface="Yu Gothic" pitchFamily="34" charset="-122"/>
                <a:cs typeface="Yu Gothic" pitchFamily="34" charset="-120"/>
              </a:rPr>
              <a:t>（融合A、学習不要）</a:t>
            </a:r>
            <a:endParaRPr lang="en-US" sz="1800" dirty="0"/>
          </a:p>
          <a:p>
            <a:pPr marL="228600" indent="-228600">
              <a:lnSpc>
                <a:spcPct val="115000"/>
              </a:lnSpc>
              <a:spcAft>
                <a:spcPts val="1600"/>
              </a:spcAft>
              <a:buSzPct val="100000"/>
              <a:buChar char="•"/>
            </a:pPr>
            <a:r>
              <a:rPr lang="en-US" sz="1800" dirty="0">
                <a:solidFill>
                  <a:srgbClr val="2D2D2D"/>
                </a:solidFill>
                <a:latin typeface="Yu Gothic" pitchFamily="34" charset="0"/>
                <a:ea typeface="Yu Gothic" pitchFamily="34" charset="-122"/>
                <a:cs typeface="Yu Gothic" pitchFamily="34" charset="-120"/>
              </a:rPr>
              <a:t>9種の認識器で評価（損失・選択は Whisper-small のみ）</a:t>
            </a:r>
            <a:endParaRPr lang="en-US" sz="1800" dirty="0"/>
          </a:p>
        </p:txBody>
      </p:sp>
      <p:sp>
        <p:nvSpPr>
          <p:cNvPr id="5" name="Text 2"/>
          <p:cNvSpPr/>
          <p:nvPr/>
        </p:nvSpPr>
        <p:spPr>
          <a:xfrm>
            <a:off x="548640" y="6309360"/>
            <a:ext cx="11094415" cy="320040"/>
          </a:xfrm>
          <a:prstGeom prst="rect">
            <a:avLst/>
          </a:prstGeom>
          <a:noFill/>
          <a:ln/>
        </p:spPr>
        <p:txBody>
          <a:bodyPr wrap="square" lIns="0" tIns="0" rIns="0" bIns="0" rtlCol="0" anchor="t"/>
          <a:lstStyle/>
          <a:p>
            <a:pPr indent="0" marL="0">
              <a:buNone/>
            </a:pPr>
            <a:r>
              <a:rPr lang="en-US" sz="1200" dirty="0">
                <a:solidFill>
                  <a:srgbClr val="777777"/>
                </a:solidFill>
                <a:latin typeface="Yu Gothic" pitchFamily="34" charset="0"/>
                <a:ea typeface="Yu Gothic" pitchFamily="34" charset="-122"/>
                <a:cs typeface="Yu Gothic" pitchFamily="34" charset="-120"/>
              </a:rPr>
              <a:t>データ: TAPS（韓国語、喉マイクと気導マイクの同時収録。test 10話者・1,000発話、学習と話者は重ならない）</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914400"/>
          </a:xfrm>
          <a:prstGeom prst="rect">
            <a:avLst/>
          </a:prstGeom>
          <a:noFill/>
          <a:ln/>
        </p:spPr>
        <p:txBody>
          <a:bodyPr wrap="square" lIns="0" tIns="0" rIns="0" bIns="0" rtlCol="0" anchor="ctr"/>
          <a:lstStyle/>
          <a:p>
            <a:pPr indent="0" marL="0">
              <a:buNone/>
            </a:pPr>
            <a:r>
              <a:rPr lang="en-US" sz="2800" b="1" dirty="0">
                <a:solidFill>
                  <a:srgbClr val="1F4E79"/>
                </a:solidFill>
                <a:latin typeface="Yu Gothic" pitchFamily="34" charset="0"/>
                <a:ea typeface="Yu Gothic" pitchFamily="34" charset="-122"/>
                <a:cs typeface="Yu Gothic" pitchFamily="34" charset="-120"/>
              </a:rPr>
              <a:t>生成モデルは9種すべてで誤りを減らし、喉マイク用に学習した Whisper にも効いた</a:t>
            </a:r>
            <a:endParaRPr lang="en-US" sz="2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7680960" cy="914400"/>
        </p:xfrm>
        <a:graphic>
          <a:graphicData uri="http://schemas.openxmlformats.org/drawingml/2006/table">
            <a:tbl>
              <a:tblPr/>
              <a:tblGrid>
                <a:gridCol w="2926080"/>
                <a:gridCol w="1188720"/>
                <a:gridCol w="1188720"/>
                <a:gridCol w="1188720"/>
                <a:gridCol w="1188720"/>
              </a:tblGrid>
              <a:tr h="457200">
                <a:tc>
                  <a:txBody>
                    <a:bodyPr/>
                    <a:lstStyle/>
                    <a:p>
                      <a:pPr indent="0" marL="0">
                        <a:buNone/>
                      </a:pP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algn="ctr" indent="0" marL="0">
                        <a:buNone/>
                      </a:pPr>
                      <a:r>
                        <a:rPr lang="en-US" sz="1600" b="1" dirty="0">
                          <a:solidFill>
                            <a:srgbClr val="1F4E79"/>
                          </a:solidFill>
                          <a:latin typeface="Yu Gothic" pitchFamily="34" charset="0"/>
                          <a:ea typeface="Yu Gothic" pitchFamily="34" charset="-122"/>
                          <a:cs typeface="Yu Gothic" pitchFamily="34" charset="-120"/>
                        </a:rPr>
                        <a:t>処理なし</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algn="ctr" indent="0" marL="0">
                        <a:buNone/>
                      </a:pPr>
                      <a:r>
                        <a:rPr lang="en-US" sz="1600" b="1" dirty="0">
                          <a:solidFill>
                            <a:srgbClr val="1F4E79"/>
                          </a:solidFill>
                          <a:latin typeface="Yu Gothic" pitchFamily="34" charset="0"/>
                          <a:ea typeface="Yu Gothic" pitchFamily="34" charset="-122"/>
                          <a:cs typeface="Yu Gothic" pitchFamily="34" charset="-120"/>
                        </a:rPr>
                        <a:t>従来の強調</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algn="ctr" indent="0" marL="0">
                        <a:buNone/>
                      </a:pPr>
                      <a:r>
                        <a:rPr lang="en-US" sz="1600" b="1" dirty="0">
                          <a:solidFill>
                            <a:srgbClr val="1F4E79"/>
                          </a:solidFill>
                          <a:latin typeface="Yu Gothic" pitchFamily="34" charset="0"/>
                          <a:ea typeface="Yu Gothic" pitchFamily="34" charset="-122"/>
                          <a:cs typeface="Yu Gothic" pitchFamily="34" charset="-120"/>
                        </a:rPr>
                        <a:t>生成モデル</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algn="ctr" indent="0" marL="0">
                        <a:buNone/>
                      </a:pPr>
                      <a:r>
                        <a:rPr lang="en-US" sz="1600" b="1" dirty="0">
                          <a:solidFill>
                            <a:srgbClr val="1F4E79"/>
                          </a:solidFill>
                          <a:latin typeface="Yu Gothic" pitchFamily="34" charset="0"/>
                          <a:ea typeface="Yu Gothic" pitchFamily="34" charset="-122"/>
                          <a:cs typeface="Yu Gothic" pitchFamily="34" charset="-120"/>
                        </a:rPr>
                        <a:t>融合A</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r>
              <a:tr h="457200">
                <a:tc>
                  <a:txBody>
                    <a:bodyPr/>
                    <a:lstStyle/>
                    <a:p>
                      <a:pPr indent="0" marL="0">
                        <a:buNone/>
                      </a:pPr>
                      <a:r>
                        <a:rPr lang="en-US" sz="1600" dirty="0">
                          <a:solidFill>
                            <a:srgbClr val="2D2D2D"/>
                          </a:solidFill>
                          <a:latin typeface="Yu Gothic" pitchFamily="34" charset="0"/>
                          <a:ea typeface="Yu Gothic" pitchFamily="34" charset="-122"/>
                          <a:cs typeface="Yu Gothic" pitchFamily="34" charset="-120"/>
                        </a:rPr>
                        <a:t>Whisper-small*</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2D2D2D"/>
                          </a:solidFill>
                          <a:latin typeface="Yu Gothic" pitchFamily="34" charset="0"/>
                          <a:ea typeface="Yu Gothic" pitchFamily="34" charset="-122"/>
                          <a:cs typeface="Yu Gothic" pitchFamily="34" charset="-120"/>
                        </a:rPr>
                        <a:t>0.447</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2D2D2D"/>
                          </a:solidFill>
                          <a:latin typeface="Yu Gothic" pitchFamily="34" charset="0"/>
                          <a:ea typeface="Yu Gothic" pitchFamily="34" charset="-122"/>
                          <a:cs typeface="Yu Gothic" pitchFamily="34" charset="-120"/>
                        </a:rPr>
                        <a:t>0.230</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2D2D2D"/>
                          </a:solidFill>
                          <a:latin typeface="Yu Gothic" pitchFamily="34" charset="0"/>
                          <a:ea typeface="Yu Gothic" pitchFamily="34" charset="-122"/>
                          <a:cs typeface="Yu Gothic" pitchFamily="34" charset="-120"/>
                        </a:rPr>
                        <a:t>0.169</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2D2D2D"/>
                          </a:solidFill>
                          <a:latin typeface="Yu Gothic" pitchFamily="34" charset="0"/>
                          <a:ea typeface="Yu Gothic" pitchFamily="34" charset="-122"/>
                          <a:cs typeface="Yu Gothic" pitchFamily="34" charset="-120"/>
                        </a:rPr>
                        <a:t>0.163</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457200">
                <a:tc>
                  <a:txBody>
                    <a:bodyPr/>
                    <a:lstStyle/>
                    <a:p>
                      <a:pPr indent="0" marL="0">
                        <a:buNone/>
                      </a:pPr>
                      <a:r>
                        <a:rPr lang="en-US" sz="1600" dirty="0">
                          <a:solidFill>
                            <a:srgbClr val="2D2D2D"/>
                          </a:solidFill>
                          <a:latin typeface="Yu Gothic" pitchFamily="34" charset="0"/>
                          <a:ea typeface="Yu Gothic" pitchFamily="34" charset="-122"/>
                          <a:cs typeface="Yu Gothic" pitchFamily="34" charset="-120"/>
                        </a:rPr>
                        <a:t>Whisper-medium</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2D2D2D"/>
                          </a:solidFill>
                          <a:latin typeface="Yu Gothic" pitchFamily="34" charset="0"/>
                          <a:ea typeface="Yu Gothic" pitchFamily="34" charset="-122"/>
                          <a:cs typeface="Yu Gothic" pitchFamily="34" charset="-120"/>
                        </a:rPr>
                        <a:t>0.337</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2D2D2D"/>
                          </a:solidFill>
                          <a:latin typeface="Yu Gothic" pitchFamily="34" charset="0"/>
                          <a:ea typeface="Yu Gothic" pitchFamily="34" charset="-122"/>
                          <a:cs typeface="Yu Gothic" pitchFamily="34" charset="-120"/>
                        </a:rPr>
                        <a:t>0.196</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2D2D2D"/>
                          </a:solidFill>
                          <a:latin typeface="Yu Gothic" pitchFamily="34" charset="0"/>
                          <a:ea typeface="Yu Gothic" pitchFamily="34" charset="-122"/>
                          <a:cs typeface="Yu Gothic" pitchFamily="34" charset="-120"/>
                        </a:rPr>
                        <a:t>0.151</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2D2D2D"/>
                          </a:solidFill>
                          <a:latin typeface="Yu Gothic" pitchFamily="34" charset="0"/>
                          <a:ea typeface="Yu Gothic" pitchFamily="34" charset="-122"/>
                          <a:cs typeface="Yu Gothic" pitchFamily="34" charset="-120"/>
                        </a:rPr>
                        <a:t>0.144</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457200">
                <a:tc>
                  <a:txBody>
                    <a:bodyPr/>
                    <a:lstStyle/>
                    <a:p>
                      <a:pPr indent="0" marL="0">
                        <a:buNone/>
                      </a:pPr>
                      <a:r>
                        <a:rPr lang="en-US" sz="1600" dirty="0">
                          <a:solidFill>
                            <a:srgbClr val="2D2D2D"/>
                          </a:solidFill>
                          <a:latin typeface="Yu Gothic" pitchFamily="34" charset="0"/>
                          <a:ea typeface="Yu Gothic" pitchFamily="34" charset="-122"/>
                          <a:cs typeface="Yu Gothic" pitchFamily="34" charset="-120"/>
                        </a:rPr>
                        <a:t>Whisper-large-v3-turbo</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2D2D2D"/>
                          </a:solidFill>
                          <a:latin typeface="Yu Gothic" pitchFamily="34" charset="0"/>
                          <a:ea typeface="Yu Gothic" pitchFamily="34" charset="-122"/>
                          <a:cs typeface="Yu Gothic" pitchFamily="34" charset="-120"/>
                        </a:rPr>
                        <a:t>0.257</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2D2D2D"/>
                          </a:solidFill>
                          <a:latin typeface="Yu Gothic" pitchFamily="34" charset="0"/>
                          <a:ea typeface="Yu Gothic" pitchFamily="34" charset="-122"/>
                          <a:cs typeface="Yu Gothic" pitchFamily="34" charset="-120"/>
                        </a:rPr>
                        <a:t>0.170</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2D2D2D"/>
                          </a:solidFill>
                          <a:latin typeface="Yu Gothic" pitchFamily="34" charset="0"/>
                          <a:ea typeface="Yu Gothic" pitchFamily="34" charset="-122"/>
                          <a:cs typeface="Yu Gothic" pitchFamily="34" charset="-120"/>
                        </a:rPr>
                        <a:t>0.131</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2D2D2D"/>
                          </a:solidFill>
                          <a:latin typeface="Yu Gothic" pitchFamily="34" charset="0"/>
                          <a:ea typeface="Yu Gothic" pitchFamily="34" charset="-122"/>
                          <a:cs typeface="Yu Gothic" pitchFamily="34" charset="-120"/>
                        </a:rPr>
                        <a:t>0.125</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457200">
                <a:tc>
                  <a:txBody>
                    <a:bodyPr/>
                    <a:lstStyle/>
                    <a:p>
                      <a:pPr indent="0" marL="0">
                        <a:buNone/>
                      </a:pPr>
                      <a:r>
                        <a:rPr lang="en-US" sz="1600" b="1" dirty="0">
                          <a:solidFill>
                            <a:srgbClr val="2D2D2D"/>
                          </a:solidFill>
                          <a:latin typeface="Yu Gothic" pitchFamily="34" charset="0"/>
                          <a:ea typeface="Yu Gothic" pitchFamily="34" charset="-122"/>
                          <a:cs typeface="Yu Gothic" pitchFamily="34" charset="-120"/>
                        </a:rPr>
                        <a:t>FT Whisper（喉マイク）</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b="1" dirty="0">
                          <a:solidFill>
                            <a:srgbClr val="1F4E79"/>
                          </a:solidFill>
                          <a:latin typeface="Yu Gothic" pitchFamily="34" charset="0"/>
                          <a:ea typeface="Yu Gothic" pitchFamily="34" charset="-122"/>
                          <a:cs typeface="Yu Gothic" pitchFamily="34" charset="-120"/>
                        </a:rPr>
                        <a:t>0.138</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2D2D2D"/>
                          </a:solidFill>
                          <a:latin typeface="Yu Gothic" pitchFamily="34" charset="0"/>
                          <a:ea typeface="Yu Gothic" pitchFamily="34" charset="-122"/>
                          <a:cs typeface="Yu Gothic" pitchFamily="34" charset="-120"/>
                        </a:rPr>
                        <a:t>0.146</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2D2D2D"/>
                          </a:solidFill>
                          <a:latin typeface="Yu Gothic" pitchFamily="34" charset="0"/>
                          <a:ea typeface="Yu Gothic" pitchFamily="34" charset="-122"/>
                          <a:cs typeface="Yu Gothic" pitchFamily="34" charset="-120"/>
                        </a:rPr>
                        <a:t>0.100</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b="1" dirty="0">
                          <a:solidFill>
                            <a:srgbClr val="1F4E79"/>
                          </a:solidFill>
                          <a:latin typeface="Yu Gothic" pitchFamily="34" charset="0"/>
                          <a:ea typeface="Yu Gothic" pitchFamily="34" charset="-122"/>
                          <a:cs typeface="Yu Gothic" pitchFamily="34" charset="-120"/>
                        </a:rPr>
                        <a:t>0.092</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457200">
                <a:tc>
                  <a:txBody>
                    <a:bodyPr/>
                    <a:lstStyle/>
                    <a:p>
                      <a:pPr indent="0" marL="0">
                        <a:buNone/>
                      </a:pPr>
                      <a:r>
                        <a:rPr lang="en-US" sz="1600" dirty="0">
                          <a:solidFill>
                            <a:srgbClr val="2D2D2D"/>
                          </a:solidFill>
                          <a:latin typeface="Yu Gothic" pitchFamily="34" charset="0"/>
                          <a:ea typeface="Yu Gothic" pitchFamily="34" charset="-122"/>
                          <a:cs typeface="Yu Gothic" pitchFamily="34" charset="-120"/>
                        </a:rPr>
                        <a:t>Qwen3-ASR</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2D2D2D"/>
                          </a:solidFill>
                          <a:latin typeface="Yu Gothic" pitchFamily="34" charset="0"/>
                          <a:ea typeface="Yu Gothic" pitchFamily="34" charset="-122"/>
                          <a:cs typeface="Yu Gothic" pitchFamily="34" charset="-120"/>
                        </a:rPr>
                        <a:t>0.243</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2D2D2D"/>
                          </a:solidFill>
                          <a:latin typeface="Yu Gothic" pitchFamily="34" charset="0"/>
                          <a:ea typeface="Yu Gothic" pitchFamily="34" charset="-122"/>
                          <a:cs typeface="Yu Gothic" pitchFamily="34" charset="-120"/>
                        </a:rPr>
                        <a:t>0.136</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2D2D2D"/>
                          </a:solidFill>
                          <a:latin typeface="Yu Gothic" pitchFamily="34" charset="0"/>
                          <a:ea typeface="Yu Gothic" pitchFamily="34" charset="-122"/>
                          <a:cs typeface="Yu Gothic" pitchFamily="34" charset="-120"/>
                        </a:rPr>
                        <a:t>0.097</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2D2D2D"/>
                          </a:solidFill>
                          <a:latin typeface="Yu Gothic" pitchFamily="34" charset="0"/>
                          <a:ea typeface="Yu Gothic" pitchFamily="34" charset="-122"/>
                          <a:cs typeface="Yu Gothic" pitchFamily="34" charset="-120"/>
                        </a:rPr>
                        <a:t>0.094</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457200">
                <a:tc>
                  <a:txBody>
                    <a:bodyPr/>
                    <a:lstStyle/>
                    <a:p>
                      <a:pPr indent="0" marL="0">
                        <a:buNone/>
                      </a:pPr>
                      <a:r>
                        <a:rPr lang="en-US" sz="1600" dirty="0">
                          <a:solidFill>
                            <a:srgbClr val="2E75B6"/>
                          </a:solidFill>
                          <a:latin typeface="Yu Gothic" pitchFamily="34" charset="0"/>
                          <a:ea typeface="Yu Gothic" pitchFamily="34" charset="-122"/>
                          <a:cs typeface="Yu Gothic" pitchFamily="34" charset="-120"/>
                        </a:rPr>
                        <a:t>XLSR（系統が違う）</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2D2D2D"/>
                          </a:solidFill>
                          <a:latin typeface="Yu Gothic" pitchFamily="34" charset="0"/>
                          <a:ea typeface="Yu Gothic" pitchFamily="34" charset="-122"/>
                          <a:cs typeface="Yu Gothic" pitchFamily="34" charset="-120"/>
                        </a:rPr>
                        <a:t>0.584</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2D2D2D"/>
                          </a:solidFill>
                          <a:latin typeface="Yu Gothic" pitchFamily="34" charset="0"/>
                          <a:ea typeface="Yu Gothic" pitchFamily="34" charset="-122"/>
                          <a:cs typeface="Yu Gothic" pitchFamily="34" charset="-120"/>
                        </a:rPr>
                        <a:t>0.222</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2D2D2D"/>
                          </a:solidFill>
                          <a:latin typeface="Yu Gothic" pitchFamily="34" charset="0"/>
                          <a:ea typeface="Yu Gothic" pitchFamily="34" charset="-122"/>
                          <a:cs typeface="Yu Gothic" pitchFamily="34" charset="-120"/>
                        </a:rPr>
                        <a:t>0.161</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2D2D2D"/>
                          </a:solidFill>
                          <a:latin typeface="Yu Gothic" pitchFamily="34" charset="0"/>
                          <a:ea typeface="Yu Gothic" pitchFamily="34" charset="-122"/>
                          <a:cs typeface="Yu Gothic" pitchFamily="34" charset="-120"/>
                        </a:rPr>
                        <a:t>0.163</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457200">
                <a:tc>
                  <a:txBody>
                    <a:bodyPr/>
                    <a:lstStyle/>
                    <a:p>
                      <a:pPr indent="0" marL="0">
                        <a:buNone/>
                      </a:pPr>
                      <a:r>
                        <a:rPr lang="en-US" sz="1600" dirty="0">
                          <a:solidFill>
                            <a:srgbClr val="2E75B6"/>
                          </a:solidFill>
                          <a:latin typeface="Yu Gothic" pitchFamily="34" charset="0"/>
                          <a:ea typeface="Yu Gothic" pitchFamily="34" charset="-122"/>
                          <a:cs typeface="Yu Gothic" pitchFamily="34" charset="-120"/>
                        </a:rPr>
                        <a:t>Zipformer（系統が違う）</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2D2D2D"/>
                          </a:solidFill>
                          <a:latin typeface="Yu Gothic" pitchFamily="34" charset="0"/>
                          <a:ea typeface="Yu Gothic" pitchFamily="34" charset="-122"/>
                          <a:cs typeface="Yu Gothic" pitchFamily="34" charset="-120"/>
                        </a:rPr>
                        <a:t>0.997</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2D2D2D"/>
                          </a:solidFill>
                          <a:latin typeface="Yu Gothic" pitchFamily="34" charset="0"/>
                          <a:ea typeface="Yu Gothic" pitchFamily="34" charset="-122"/>
                          <a:cs typeface="Yu Gothic" pitchFamily="34" charset="-120"/>
                        </a:rPr>
                        <a:t>0.542</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2D2D2D"/>
                          </a:solidFill>
                          <a:latin typeface="Yu Gothic" pitchFamily="34" charset="0"/>
                          <a:ea typeface="Yu Gothic" pitchFamily="34" charset="-122"/>
                          <a:cs typeface="Yu Gothic" pitchFamily="34" charset="-120"/>
                        </a:rPr>
                        <a:t>0.433</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b="1" dirty="0">
                          <a:solidFill>
                            <a:srgbClr val="C55A11"/>
                          </a:solidFill>
                          <a:latin typeface="Yu Gothic" pitchFamily="34" charset="0"/>
                          <a:ea typeface="Yu Gothic" pitchFamily="34" charset="-122"/>
                          <a:cs typeface="Yu Gothic" pitchFamily="34" charset="-120"/>
                        </a:rPr>
                        <a:t>0.483</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bl>
          </a:graphicData>
        </a:graphic>
      </p:graphicFrame>
      <p:sp>
        <p:nvSpPr>
          <p:cNvPr id="4" name="Text 1"/>
          <p:cNvSpPr/>
          <p:nvPr/>
        </p:nvSpPr>
        <p:spPr>
          <a:xfrm>
            <a:off x="8595360" y="1508760"/>
            <a:ext cx="3047695" cy="4572000"/>
          </a:xfrm>
          <a:prstGeom prst="rect">
            <a:avLst/>
          </a:prstGeom>
          <a:noFill/>
          <a:ln/>
        </p:spPr>
        <p:txBody>
          <a:bodyPr wrap="square" lIns="0" tIns="0" rIns="0" bIns="0" rtlCol="0" anchor="t"/>
          <a:lstStyle/>
          <a:p>
            <a:pPr marL="228600" indent="-228600">
              <a:lnSpc>
                <a:spcPct val="115000"/>
              </a:lnSpc>
              <a:spcAft>
                <a:spcPts val="1600"/>
              </a:spcAft>
              <a:buSzPct val="100000"/>
              <a:buChar char="•"/>
            </a:pPr>
            <a:r>
              <a:rPr lang="en-US" sz="1700" dirty="0">
                <a:solidFill>
                  <a:srgbClr val="2D2D2D"/>
                </a:solidFill>
                <a:latin typeface="Yu Gothic" pitchFamily="34" charset="0"/>
                <a:ea typeface="Yu Gothic" pitchFamily="34" charset="-122"/>
                <a:cs typeface="Yu Gothic" pitchFamily="34" charset="-120"/>
              </a:rPr>
              <a:t>生成モデルは従来の強調より</a:t>
            </a:r>
            <a:pPr indent="0" marL="0">
              <a:lnSpc>
                <a:spcPct val="115000"/>
              </a:lnSpc>
              <a:spcAft>
                <a:spcPts val="1600"/>
              </a:spcAft>
              <a:buNone/>
            </a:pPr>
            <a:r>
              <a:rPr lang="en-US" sz="1700" b="1" dirty="0">
                <a:solidFill>
                  <a:srgbClr val="2D2D2D"/>
                </a:solidFill>
                <a:latin typeface="Yu Gothic" pitchFamily="34" charset="0"/>
                <a:ea typeface="Yu Gothic" pitchFamily="34" charset="-122"/>
                <a:cs typeface="Yu Gothic" pitchFamily="34" charset="-120"/>
              </a:rPr>
              <a:t>19〜32% 減</a:t>
            </a:r>
            <a:pPr indent="0" marL="0">
              <a:lnSpc>
                <a:spcPct val="115000"/>
              </a:lnSpc>
              <a:spcAft>
                <a:spcPts val="1600"/>
              </a:spcAft>
              <a:buNone/>
            </a:pPr>
            <a:r>
              <a:rPr lang="en-US" sz="1700" dirty="0">
                <a:solidFill>
                  <a:srgbClr val="2D2D2D"/>
                </a:solidFill>
                <a:latin typeface="Yu Gothic" pitchFamily="34" charset="0"/>
                <a:ea typeface="Yu Gothic" pitchFamily="34" charset="-122"/>
                <a:cs typeface="Yu Gothic" pitchFamily="34" charset="-120"/>
              </a:rPr>
              <a:t>（9種すべて）</a:t>
            </a:r>
            <a:endParaRPr lang="en-US" sz="1700" dirty="0"/>
          </a:p>
          <a:p>
            <a:pPr marL="228600" indent="-228600">
              <a:lnSpc>
                <a:spcPct val="115000"/>
              </a:lnSpc>
              <a:spcAft>
                <a:spcPts val="1600"/>
              </a:spcAft>
              <a:buSzPct val="100000"/>
              <a:buChar char="•"/>
            </a:pPr>
            <a:r>
              <a:rPr lang="en-US" sz="1700" dirty="0">
                <a:solidFill>
                  <a:srgbClr val="2D2D2D"/>
                </a:solidFill>
                <a:latin typeface="Yu Gothic" pitchFamily="34" charset="0"/>
                <a:ea typeface="Yu Gothic" pitchFamily="34" charset="-122"/>
                <a:cs typeface="Yu Gothic" pitchFamily="34" charset="-120"/>
              </a:rPr>
              <a:t>喉マイクで学習した Whisper も</a:t>
            </a:r>
            <a:pPr indent="0" marL="0">
              <a:lnSpc>
                <a:spcPct val="115000"/>
              </a:lnSpc>
              <a:spcAft>
                <a:spcPts val="1600"/>
              </a:spcAft>
              <a:buNone/>
            </a:pPr>
            <a:r>
              <a:rPr lang="en-US" sz="1700" b="1" dirty="0">
                <a:solidFill>
                  <a:srgbClr val="2D2D2D"/>
                </a:solidFill>
                <a:latin typeface="Yu Gothic" pitchFamily="34" charset="0"/>
                <a:ea typeface="Yu Gothic" pitchFamily="34" charset="-122"/>
                <a:cs typeface="Yu Gothic" pitchFamily="34" charset="-120"/>
              </a:rPr>
              <a:t>0.138 → 0.092</a:t>
            </a:r>
            <a:endParaRPr lang="en-US" sz="1700" dirty="0"/>
          </a:p>
          <a:p>
            <a:pPr marL="228600" indent="-228600">
              <a:lnSpc>
                <a:spcPct val="115000"/>
              </a:lnSpc>
              <a:spcAft>
                <a:spcPts val="1600"/>
              </a:spcAft>
              <a:buSzPct val="100000"/>
              <a:buChar char="•"/>
            </a:pPr>
            <a:r>
              <a:rPr lang="en-US" sz="1700" dirty="0">
                <a:solidFill>
                  <a:srgbClr val="2D2D2D"/>
                </a:solidFill>
                <a:latin typeface="Yu Gothic" pitchFamily="34" charset="0"/>
                <a:ea typeface="Yu Gothic" pitchFamily="34" charset="-122"/>
                <a:cs typeface="Yu Gothic" pitchFamily="34" charset="-120"/>
              </a:rPr>
              <a:t>融合A は Whisper 系にさらに 2〜8%</a:t>
            </a:r>
            <a:endParaRPr lang="en-US" sz="1700" dirty="0"/>
          </a:p>
          <a:p>
            <a:pPr marL="228600" indent="-228600">
              <a:lnSpc>
                <a:spcPct val="115000"/>
              </a:lnSpc>
              <a:spcAft>
                <a:spcPts val="1600"/>
              </a:spcAft>
              <a:buSzPct val="100000"/>
              <a:buChar char="•"/>
            </a:pPr>
            <a:r>
              <a:rPr lang="en-US" sz="1700" dirty="0">
                <a:solidFill>
                  <a:srgbClr val="2D2D2D"/>
                </a:solidFill>
                <a:latin typeface="Yu Gothic" pitchFamily="34" charset="0"/>
                <a:ea typeface="Yu Gothic" pitchFamily="34" charset="-122"/>
                <a:cs typeface="Yu Gothic" pitchFamily="34" charset="-120"/>
              </a:rPr>
              <a:t>Zipformer は融合で</a:t>
            </a:r>
            <a:pPr indent="0" marL="0">
              <a:lnSpc>
                <a:spcPct val="115000"/>
              </a:lnSpc>
              <a:spcAft>
                <a:spcPts val="1600"/>
              </a:spcAft>
              <a:buNone/>
            </a:pPr>
            <a:r>
              <a:rPr lang="en-US" sz="1700" b="1" dirty="0">
                <a:solidFill>
                  <a:srgbClr val="C55A11"/>
                </a:solidFill>
                <a:latin typeface="Yu Gothic" pitchFamily="34" charset="0"/>
                <a:ea typeface="Yu Gothic" pitchFamily="34" charset="-122"/>
                <a:cs typeface="Yu Gothic" pitchFamily="34" charset="-120"/>
              </a:rPr>
              <a:t>悪化</a:t>
            </a:r>
            <a:endParaRPr lang="en-US" sz="1700" dirty="0"/>
          </a:p>
        </p:txBody>
      </p:sp>
      <p:sp>
        <p:nvSpPr>
          <p:cNvPr id="5" name="Text 2"/>
          <p:cNvSpPr/>
          <p:nvPr/>
        </p:nvSpPr>
        <p:spPr>
          <a:xfrm>
            <a:off x="548640" y="6309360"/>
            <a:ext cx="11094415" cy="320040"/>
          </a:xfrm>
          <a:prstGeom prst="rect">
            <a:avLst/>
          </a:prstGeom>
          <a:noFill/>
          <a:ln/>
        </p:spPr>
        <p:txBody>
          <a:bodyPr wrap="square" lIns="0" tIns="0" rIns="0" bIns="0" rtlCol="0" anchor="t"/>
          <a:lstStyle/>
          <a:p>
            <a:pPr indent="0" marL="0">
              <a:buNone/>
            </a:pPr>
            <a:r>
              <a:rPr lang="en-US" sz="1200" dirty="0">
                <a:solidFill>
                  <a:srgbClr val="777777"/>
                </a:solidFill>
                <a:latin typeface="Yu Gothic" pitchFamily="34" charset="0"/>
                <a:ea typeface="Yu Gothic" pitchFamily="34" charset="-122"/>
                <a:cs typeface="Yu Gothic" pitchFamily="34" charset="-120"/>
              </a:rPr>
              <a:t>文字誤り率（句読点除去、TAPS test）。従来の強調 = TAPS 公開の SE-Conformer。*: 損失・選択に使用</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914400"/>
          </a:xfrm>
          <a:prstGeom prst="rect">
            <a:avLst/>
          </a:prstGeom>
          <a:noFill/>
          <a:ln/>
        </p:spPr>
        <p:txBody>
          <a:bodyPr wrap="square" lIns="0" tIns="0" rIns="0" bIns="0" rtlCol="0" anchor="ctr"/>
          <a:lstStyle/>
          <a:p>
            <a:pPr indent="0" marL="0">
              <a:buNone/>
            </a:pPr>
            <a:r>
              <a:rPr lang="en-US" sz="2800" b="1" dirty="0">
                <a:solidFill>
                  <a:srgbClr val="1F4E79"/>
                </a:solidFill>
                <a:latin typeface="Yu Gothic" pitchFamily="34" charset="0"/>
                <a:ea typeface="Yu Gothic" pitchFamily="34" charset="-122"/>
                <a:cs typeface="Yu Gothic" pitchFamily="34" charset="-120"/>
              </a:rPr>
              <a:t>別の喉マイク（VibraVox）でも、適応し直せば改善が再現した</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7863840" cy="914400"/>
        </p:xfrm>
        <a:graphic>
          <a:graphicData uri="http://schemas.openxmlformats.org/drawingml/2006/table">
            <a:tbl>
              <a:tblPr/>
              <a:tblGrid>
                <a:gridCol w="2377440"/>
                <a:gridCol w="1188720"/>
                <a:gridCol w="1463040"/>
                <a:gridCol w="1417320"/>
                <a:gridCol w="1417320"/>
              </a:tblGrid>
              <a:tr h="502920">
                <a:tc>
                  <a:txBody>
                    <a:bodyPr/>
                    <a:lstStyle/>
                    <a:p>
                      <a:pPr indent="0" marL="0">
                        <a:buNone/>
                      </a:pP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algn="ctr" indent="0" marL="0">
                        <a:buNone/>
                      </a:pPr>
                      <a:r>
                        <a:rPr lang="en-US" sz="1600" b="1" dirty="0">
                          <a:solidFill>
                            <a:srgbClr val="1F4E79"/>
                          </a:solidFill>
                          <a:latin typeface="Yu Gothic" pitchFamily="34" charset="0"/>
                          <a:ea typeface="Yu Gothic" pitchFamily="34" charset="-122"/>
                          <a:cs typeface="Yu Gothic" pitchFamily="34" charset="-120"/>
                        </a:rPr>
                        <a:t>処理なし</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algn="ctr" indent="0" marL="0">
                        <a:buNone/>
                      </a:pPr>
                      <a:r>
                        <a:rPr lang="en-US" sz="1600" b="1" dirty="0">
                          <a:solidFill>
                            <a:srgbClr val="1F4E79"/>
                          </a:solidFill>
                          <a:latin typeface="Yu Gothic" pitchFamily="34" charset="0"/>
                          <a:ea typeface="Yu Gothic" pitchFamily="34" charset="-122"/>
                          <a:cs typeface="Yu Gothic" pitchFamily="34" charset="-120"/>
                        </a:rPr>
                        <a:t>TAPS の</a:t>
                      </a:r>
                      <a:endParaRPr lang="en-US" sz="1600" dirty="0">
                        <a:latin typeface="Yu Gothic" charset="0"/>
                        <a:ea typeface="Yu Gothic" charset="0"/>
                        <a:cs typeface="Yu Gothic" charset="0"/>
                      </a:endParaRPr>
                    </a:p>
                    <a:p>
                      <a:pPr algn="ctr" indent="0" marL="0">
                        <a:buNone/>
                      </a:pPr>
                      <a:r>
                        <a:rPr lang="en-US" sz="1600" b="1" dirty="0">
                          <a:solidFill>
                            <a:srgbClr val="1F4E79"/>
                          </a:solidFill>
                          <a:latin typeface="Yu Gothic" pitchFamily="34" charset="0"/>
                          <a:ea typeface="Yu Gothic" pitchFamily="34" charset="-122"/>
                          <a:cs typeface="Yu Gothic" pitchFamily="34" charset="-120"/>
                        </a:rPr>
                        <a:t>部品のまま</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algn="ctr" indent="0" marL="0">
                        <a:buNone/>
                      </a:pPr>
                      <a:r>
                        <a:rPr lang="en-US" sz="1600" b="1" dirty="0">
                          <a:solidFill>
                            <a:srgbClr val="1F4E79"/>
                          </a:solidFill>
                          <a:latin typeface="Yu Gothic" pitchFamily="34" charset="0"/>
                          <a:ea typeface="Yu Gothic" pitchFamily="34" charset="-122"/>
                          <a:cs typeface="Yu Gothic" pitchFamily="34" charset="-120"/>
                        </a:rPr>
                        <a:t>適応後</a:t>
                      </a:r>
                      <a:endParaRPr lang="en-US" sz="1600" dirty="0">
                        <a:latin typeface="Yu Gothic" charset="0"/>
                        <a:ea typeface="Yu Gothic" charset="0"/>
                        <a:cs typeface="Yu Gothic" charset="0"/>
                      </a:endParaRPr>
                    </a:p>
                    <a:p>
                      <a:pPr algn="ctr" indent="0" marL="0">
                        <a:buNone/>
                      </a:pPr>
                      <a:r>
                        <a:rPr lang="en-US" sz="1600" b="1" dirty="0">
                          <a:solidFill>
                            <a:srgbClr val="1F4E79"/>
                          </a:solidFill>
                          <a:latin typeface="Yu Gothic" pitchFamily="34" charset="0"/>
                          <a:ea typeface="Yu Gothic" pitchFamily="34" charset="-122"/>
                          <a:cs typeface="Yu Gothic" pitchFamily="34" charset="-120"/>
                        </a:rPr>
                        <a:t>生成モデル</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algn="ctr" indent="0" marL="0">
                        <a:buNone/>
                      </a:pPr>
                      <a:r>
                        <a:rPr lang="en-US" sz="1600" b="1" dirty="0">
                          <a:solidFill>
                            <a:srgbClr val="1F4E79"/>
                          </a:solidFill>
                          <a:latin typeface="Yu Gothic" pitchFamily="34" charset="0"/>
                          <a:ea typeface="Yu Gothic" pitchFamily="34" charset="-122"/>
                          <a:cs typeface="Yu Gothic" pitchFamily="34" charset="-120"/>
                        </a:rPr>
                        <a:t>適応後</a:t>
                      </a:r>
                      <a:endParaRPr lang="en-US" sz="1600" dirty="0">
                        <a:latin typeface="Yu Gothic" charset="0"/>
                        <a:ea typeface="Yu Gothic" charset="0"/>
                        <a:cs typeface="Yu Gothic" charset="0"/>
                      </a:endParaRPr>
                    </a:p>
                    <a:p>
                      <a:pPr algn="ctr" indent="0" marL="0">
                        <a:buNone/>
                      </a:pPr>
                      <a:r>
                        <a:rPr lang="en-US" sz="1600" b="1" dirty="0">
                          <a:solidFill>
                            <a:srgbClr val="1F4E79"/>
                          </a:solidFill>
                          <a:latin typeface="Yu Gothic" pitchFamily="34" charset="0"/>
                          <a:ea typeface="Yu Gothic" pitchFamily="34" charset="-122"/>
                          <a:cs typeface="Yu Gothic" pitchFamily="34" charset="-120"/>
                        </a:rPr>
                        <a:t>融合A</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r>
              <a:tr h="502920">
                <a:tc>
                  <a:txBody>
                    <a:bodyPr/>
                    <a:lstStyle/>
                    <a:p>
                      <a:pPr indent="0" marL="0">
                        <a:buNone/>
                      </a:pPr>
                      <a:r>
                        <a:rPr lang="en-US" sz="1600" dirty="0">
                          <a:solidFill>
                            <a:srgbClr val="2D2D2D"/>
                          </a:solidFill>
                          <a:latin typeface="Yu Gothic" pitchFamily="34" charset="0"/>
                          <a:ea typeface="Yu Gothic" pitchFamily="34" charset="-122"/>
                          <a:cs typeface="Yu Gothic" pitchFamily="34" charset="-120"/>
                        </a:rPr>
                        <a:t>Whisper-small</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2D2D2D"/>
                          </a:solidFill>
                          <a:latin typeface="Yu Gothic" pitchFamily="34" charset="0"/>
                          <a:ea typeface="Yu Gothic" pitchFamily="34" charset="-122"/>
                          <a:cs typeface="Yu Gothic" pitchFamily="34" charset="-120"/>
                        </a:rPr>
                        <a:t>0.422</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C55A11"/>
                          </a:solidFill>
                          <a:latin typeface="Yu Gothic" pitchFamily="34" charset="0"/>
                          <a:ea typeface="Yu Gothic" pitchFamily="34" charset="-122"/>
                          <a:cs typeface="Yu Gothic" pitchFamily="34" charset="-120"/>
                        </a:rPr>
                        <a:t>0.711</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2D2D2D"/>
                          </a:solidFill>
                          <a:latin typeface="Yu Gothic" pitchFamily="34" charset="0"/>
                          <a:ea typeface="Yu Gothic" pitchFamily="34" charset="-122"/>
                          <a:cs typeface="Yu Gothic" pitchFamily="34" charset="-120"/>
                        </a:rPr>
                        <a:t>0.087</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b="1" dirty="0">
                          <a:solidFill>
                            <a:srgbClr val="1F4E79"/>
                          </a:solidFill>
                          <a:latin typeface="Yu Gothic" pitchFamily="34" charset="0"/>
                          <a:ea typeface="Yu Gothic" pitchFamily="34" charset="-122"/>
                          <a:cs typeface="Yu Gothic" pitchFamily="34" charset="-120"/>
                        </a:rPr>
                        <a:t>0.079</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502920">
                <a:tc>
                  <a:txBody>
                    <a:bodyPr/>
                    <a:lstStyle/>
                    <a:p>
                      <a:pPr indent="0" marL="0">
                        <a:buNone/>
                      </a:pPr>
                      <a:r>
                        <a:rPr lang="en-US" sz="1600" dirty="0">
                          <a:solidFill>
                            <a:srgbClr val="2D2D2D"/>
                          </a:solidFill>
                          <a:latin typeface="Yu Gothic" pitchFamily="34" charset="0"/>
                          <a:ea typeface="Yu Gothic" pitchFamily="34" charset="-122"/>
                          <a:cs typeface="Yu Gothic" pitchFamily="34" charset="-120"/>
                        </a:rPr>
                        <a:t>Whisper-large-v3-turbo</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2D2D2D"/>
                          </a:solidFill>
                          <a:latin typeface="Yu Gothic" pitchFamily="34" charset="0"/>
                          <a:ea typeface="Yu Gothic" pitchFamily="34" charset="-122"/>
                          <a:cs typeface="Yu Gothic" pitchFamily="34" charset="-120"/>
                        </a:rPr>
                        <a:t>0.270</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C55A11"/>
                          </a:solidFill>
                          <a:latin typeface="Yu Gothic" pitchFamily="34" charset="0"/>
                          <a:ea typeface="Yu Gothic" pitchFamily="34" charset="-122"/>
                          <a:cs typeface="Yu Gothic" pitchFamily="34" charset="-120"/>
                        </a:rPr>
                        <a:t>0.654</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2D2D2D"/>
                          </a:solidFill>
                          <a:latin typeface="Yu Gothic" pitchFamily="34" charset="0"/>
                          <a:ea typeface="Yu Gothic" pitchFamily="34" charset="-122"/>
                          <a:cs typeface="Yu Gothic" pitchFamily="34" charset="-120"/>
                        </a:rPr>
                        <a:t>0.053</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b="1" dirty="0">
                          <a:solidFill>
                            <a:srgbClr val="1F4E79"/>
                          </a:solidFill>
                          <a:latin typeface="Yu Gothic" pitchFamily="34" charset="0"/>
                          <a:ea typeface="Yu Gothic" pitchFamily="34" charset="-122"/>
                          <a:cs typeface="Yu Gothic" pitchFamily="34" charset="-120"/>
                        </a:rPr>
                        <a:t>0.045</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502920">
                <a:tc>
                  <a:txBody>
                    <a:bodyPr/>
                    <a:lstStyle/>
                    <a:p>
                      <a:pPr indent="0" marL="0">
                        <a:buNone/>
                      </a:pPr>
                      <a:r>
                        <a:rPr lang="en-US" sz="1600" dirty="0">
                          <a:solidFill>
                            <a:srgbClr val="2D2D2D"/>
                          </a:solidFill>
                          <a:latin typeface="Yu Gothic" pitchFamily="34" charset="0"/>
                          <a:ea typeface="Yu Gothic" pitchFamily="34" charset="-122"/>
                          <a:cs typeface="Yu Gothic" pitchFamily="34" charset="-120"/>
                        </a:rPr>
                        <a:t>Qwen3-ASR</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2D2D2D"/>
                          </a:solidFill>
                          <a:latin typeface="Yu Gothic" pitchFamily="34" charset="0"/>
                          <a:ea typeface="Yu Gothic" pitchFamily="34" charset="-122"/>
                          <a:cs typeface="Yu Gothic" pitchFamily="34" charset="-120"/>
                        </a:rPr>
                        <a:t>0.242</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C55A11"/>
                          </a:solidFill>
                          <a:latin typeface="Yu Gothic" pitchFamily="34" charset="0"/>
                          <a:ea typeface="Yu Gothic" pitchFamily="34" charset="-122"/>
                          <a:cs typeface="Yu Gothic" pitchFamily="34" charset="-120"/>
                        </a:rPr>
                        <a:t>0.594</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2D2D2D"/>
                          </a:solidFill>
                          <a:latin typeface="Yu Gothic" pitchFamily="34" charset="0"/>
                          <a:ea typeface="Yu Gothic" pitchFamily="34" charset="-122"/>
                          <a:cs typeface="Yu Gothic" pitchFamily="34" charset="-120"/>
                        </a:rPr>
                        <a:t>0.047</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b="1" dirty="0">
                          <a:solidFill>
                            <a:srgbClr val="1F4E79"/>
                          </a:solidFill>
                          <a:latin typeface="Yu Gothic" pitchFamily="34" charset="0"/>
                          <a:ea typeface="Yu Gothic" pitchFamily="34" charset="-122"/>
                          <a:cs typeface="Yu Gothic" pitchFamily="34" charset="-120"/>
                        </a:rPr>
                        <a:t>0.041</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502920">
                <a:tc>
                  <a:txBody>
                    <a:bodyPr/>
                    <a:lstStyle/>
                    <a:p>
                      <a:pPr indent="0" marL="0">
                        <a:buNone/>
                      </a:pPr>
                      <a:r>
                        <a:rPr lang="en-US" sz="1600" dirty="0">
                          <a:solidFill>
                            <a:srgbClr val="2D2D2D"/>
                          </a:solidFill>
                          <a:latin typeface="Yu Gothic" pitchFamily="34" charset="0"/>
                          <a:ea typeface="Yu Gothic" pitchFamily="34" charset="-122"/>
                          <a:cs typeface="Yu Gothic" pitchFamily="34" charset="-120"/>
                        </a:rPr>
                        <a:t>XLSR（仏語）</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2D2D2D"/>
                          </a:solidFill>
                          <a:latin typeface="Yu Gothic" pitchFamily="34" charset="0"/>
                          <a:ea typeface="Yu Gothic" pitchFamily="34" charset="-122"/>
                          <a:cs typeface="Yu Gothic" pitchFamily="34" charset="-120"/>
                        </a:rPr>
                        <a:t>0.275</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C55A11"/>
                          </a:solidFill>
                          <a:latin typeface="Yu Gothic" pitchFamily="34" charset="0"/>
                          <a:ea typeface="Yu Gothic" pitchFamily="34" charset="-122"/>
                          <a:cs typeface="Yu Gothic" pitchFamily="34" charset="-120"/>
                        </a:rPr>
                        <a:t>0.501</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dirty="0">
                          <a:solidFill>
                            <a:srgbClr val="2D2D2D"/>
                          </a:solidFill>
                          <a:latin typeface="Yu Gothic" pitchFamily="34" charset="0"/>
                          <a:ea typeface="Yu Gothic" pitchFamily="34" charset="-122"/>
                          <a:cs typeface="Yu Gothic" pitchFamily="34" charset="-120"/>
                        </a:rPr>
                        <a:t>0.063</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ctr" indent="0" marL="0">
                        <a:buNone/>
                      </a:pPr>
                      <a:r>
                        <a:rPr lang="en-US" sz="1600" b="1" dirty="0">
                          <a:solidFill>
                            <a:srgbClr val="1F4E79"/>
                          </a:solidFill>
                          <a:latin typeface="Yu Gothic" pitchFamily="34" charset="0"/>
                          <a:ea typeface="Yu Gothic" pitchFamily="34" charset="-122"/>
                          <a:cs typeface="Yu Gothic" pitchFamily="34" charset="-120"/>
                        </a:rPr>
                        <a:t>0.058</a:t>
                      </a:r>
                      <a:endParaRPr lang="en-US" sz="16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bl>
          </a:graphicData>
        </a:graphic>
      </p:graphicFrame>
      <p:sp>
        <p:nvSpPr>
          <p:cNvPr id="4" name="Text 1"/>
          <p:cNvSpPr/>
          <p:nvPr/>
        </p:nvSpPr>
        <p:spPr>
          <a:xfrm>
            <a:off x="8778240" y="1508760"/>
            <a:ext cx="2864815" cy="3291840"/>
          </a:xfrm>
          <a:prstGeom prst="rect">
            <a:avLst/>
          </a:prstGeom>
          <a:noFill/>
          <a:ln/>
        </p:spPr>
        <p:txBody>
          <a:bodyPr wrap="square" lIns="0" tIns="0" rIns="0" bIns="0" rtlCol="0" anchor="t"/>
          <a:lstStyle/>
          <a:p>
            <a:pPr marL="228600" indent="-228600">
              <a:lnSpc>
                <a:spcPct val="115000"/>
              </a:lnSpc>
              <a:spcAft>
                <a:spcPts val="1600"/>
              </a:spcAft>
              <a:buSzPct val="100000"/>
              <a:buChar char="•"/>
            </a:pPr>
            <a:r>
              <a:rPr lang="en-US" sz="1700" dirty="0">
                <a:solidFill>
                  <a:srgbClr val="2D2D2D"/>
                </a:solidFill>
                <a:latin typeface="Yu Gothic" pitchFamily="34" charset="0"/>
                <a:ea typeface="Yu Gothic" pitchFamily="34" charset="-122"/>
                <a:cs typeface="Yu Gothic" pitchFamily="34" charset="-120"/>
              </a:rPr>
              <a:t>そのまま使うと</a:t>
            </a:r>
            <a:pPr indent="0" marL="0">
              <a:lnSpc>
                <a:spcPct val="115000"/>
              </a:lnSpc>
              <a:spcAft>
                <a:spcPts val="1600"/>
              </a:spcAft>
              <a:buNone/>
            </a:pPr>
            <a:r>
              <a:rPr lang="en-US" sz="1700" b="1" dirty="0">
                <a:solidFill>
                  <a:srgbClr val="C55A11"/>
                </a:solidFill>
                <a:latin typeface="Yu Gothic" pitchFamily="34" charset="0"/>
                <a:ea typeface="Yu Gothic" pitchFamily="34" charset="-122"/>
                <a:cs typeface="Yu Gothic" pitchFamily="34" charset="-120"/>
              </a:rPr>
              <a:t>どれも悪化</a:t>
            </a:r>
            <a:endParaRPr lang="en-US" sz="1700" dirty="0"/>
          </a:p>
          <a:p>
            <a:pPr marL="228600" indent="-228600">
              <a:lnSpc>
                <a:spcPct val="115000"/>
              </a:lnSpc>
              <a:spcAft>
                <a:spcPts val="1600"/>
              </a:spcAft>
              <a:buSzPct val="100000"/>
              <a:buChar char="•"/>
            </a:pPr>
            <a:r>
              <a:rPr lang="en-US" sz="1700" dirty="0">
                <a:solidFill>
                  <a:srgbClr val="2D2D2D"/>
                </a:solidFill>
                <a:latin typeface="Yu Gothic" pitchFamily="34" charset="0"/>
                <a:ea typeface="Yu Gothic" pitchFamily="34" charset="-122"/>
                <a:cs typeface="Yu Gothic" pitchFamily="34" charset="-120"/>
              </a:rPr>
              <a:t>適応し直すと</a:t>
            </a:r>
            <a:pPr indent="0" marL="0">
              <a:lnSpc>
                <a:spcPct val="115000"/>
              </a:lnSpc>
              <a:spcAft>
                <a:spcPts val="1600"/>
              </a:spcAft>
              <a:buNone/>
            </a:pPr>
            <a:r>
              <a:rPr lang="en-US" sz="1700" b="1" dirty="0">
                <a:solidFill>
                  <a:srgbClr val="2D2D2D"/>
                </a:solidFill>
                <a:latin typeface="Yu Gothic" pitchFamily="34" charset="0"/>
                <a:ea typeface="Yu Gothic" pitchFamily="34" charset="-122"/>
                <a:cs typeface="Yu Gothic" pitchFamily="34" charset="-120"/>
              </a:rPr>
              <a:t>70〜82% 減</a:t>
            </a:r>
            <a:endParaRPr lang="en-US" sz="1700" dirty="0"/>
          </a:p>
          <a:p>
            <a:pPr marL="228600" indent="-228600">
              <a:lnSpc>
                <a:spcPct val="115000"/>
              </a:lnSpc>
              <a:spcAft>
                <a:spcPts val="1600"/>
              </a:spcAft>
              <a:buSzPct val="100000"/>
              <a:buChar char="•"/>
            </a:pPr>
            <a:r>
              <a:rPr lang="en-US" sz="1700" dirty="0">
                <a:solidFill>
                  <a:srgbClr val="2D2D2D"/>
                </a:solidFill>
                <a:latin typeface="Yu Gothic" pitchFamily="34" charset="0"/>
                <a:ea typeface="Yu Gothic" pitchFamily="34" charset="-122"/>
                <a:cs typeface="Yu Gothic" pitchFamily="34" charset="-120"/>
              </a:rPr>
              <a:t>1,000対（約1.3時間）で全データの約86%</a:t>
            </a:r>
            <a:endParaRPr lang="en-US" sz="1700" dirty="0"/>
          </a:p>
        </p:txBody>
      </p:sp>
      <p:sp>
        <p:nvSpPr>
          <p:cNvPr id="5" name="Text 2"/>
          <p:cNvSpPr/>
          <p:nvPr/>
        </p:nvSpPr>
        <p:spPr>
          <a:xfrm>
            <a:off x="548640" y="6309360"/>
            <a:ext cx="11094415" cy="320040"/>
          </a:xfrm>
          <a:prstGeom prst="rect">
            <a:avLst/>
          </a:prstGeom>
          <a:noFill/>
          <a:ln/>
        </p:spPr>
        <p:txBody>
          <a:bodyPr wrap="square" lIns="0" tIns="0" rIns="0" bIns="0" rtlCol="0" anchor="t"/>
          <a:lstStyle/>
          <a:p>
            <a:pPr indent="0" marL="0">
              <a:buNone/>
            </a:pPr>
            <a:r>
              <a:rPr lang="en-US" sz="1200" dirty="0">
                <a:solidFill>
                  <a:srgbClr val="777777"/>
                </a:solidFill>
                <a:latin typeface="Yu Gothic" pitchFamily="34" charset="0"/>
                <a:ea typeface="Yu Gothic" pitchFamily="34" charset="-122"/>
                <a:cs typeface="Yu Gothic" pitchFamily="34" charset="-120"/>
              </a:rPr>
              <a:t>VibraVox speech_clean test（21話者・3,064発話、学習と話者は重ならない）。少量適応は1試行・10k step</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914400"/>
          </a:xfrm>
          <a:prstGeom prst="rect">
            <a:avLst/>
          </a:prstGeom>
          <a:noFill/>
          <a:ln/>
        </p:spPr>
        <p:txBody>
          <a:bodyPr wrap="square" lIns="0" tIns="0" rIns="0" bIns="0" rtlCol="0" anchor="ctr"/>
          <a:lstStyle/>
          <a:p>
            <a:pPr indent="0" marL="0">
              <a:buNone/>
            </a:pPr>
            <a:r>
              <a:rPr lang="en-US" sz="2800" b="1" dirty="0">
                <a:solidFill>
                  <a:srgbClr val="1F4E79"/>
                </a:solidFill>
                <a:latin typeface="Yu Gothic" pitchFamily="34" charset="0"/>
                <a:ea typeface="Yu Gothic" pitchFamily="34" charset="-122"/>
                <a:cs typeface="Yu Gothic" pitchFamily="34" charset="-120"/>
              </a:rPr>
              <a:t>融合の効果は平均的な音色ではなく、時間変化する包絡から来る</a:t>
            </a:r>
            <a:endParaRPr lang="en-US" sz="2800" dirty="0"/>
          </a:p>
        </p:txBody>
      </p:sp>
      <p:graphicFrame>
        <p:nvGraphicFramePr>
          <p:cNvPr id="3" name="Chart 0" descr=""/>
          <p:cNvGraphicFramePr/>
          <p:nvPr/>
        </p:nvGraphicFramePr>
        <p:xfrm>
          <a:off x="548640" y="1371600"/>
          <a:ext cx="7315200" cy="46634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p:nvPr/>
        </p:nvSpPr>
        <p:spPr>
          <a:xfrm>
            <a:off x="8229600" y="1508760"/>
            <a:ext cx="3413455" cy="4572000"/>
          </a:xfrm>
          <a:prstGeom prst="rect">
            <a:avLst/>
          </a:prstGeom>
          <a:noFill/>
          <a:ln/>
        </p:spPr>
        <p:txBody>
          <a:bodyPr wrap="square" lIns="0" tIns="0" rIns="0" bIns="0" rtlCol="0" anchor="t"/>
          <a:lstStyle/>
          <a:p>
            <a:pPr marL="228600" indent="-228600">
              <a:lnSpc>
                <a:spcPct val="115000"/>
              </a:lnSpc>
              <a:spcAft>
                <a:spcPts val="1600"/>
              </a:spcAft>
              <a:buSzPct val="100000"/>
              <a:buChar char="•"/>
            </a:pPr>
            <a:r>
              <a:rPr lang="en-US" sz="1700" dirty="0">
                <a:solidFill>
                  <a:srgbClr val="2D2D2D"/>
                </a:solidFill>
                <a:latin typeface="Yu Gothic" pitchFamily="34" charset="0"/>
                <a:ea typeface="Yu Gothic" pitchFamily="34" charset="-122"/>
                <a:cs typeface="Yu Gothic" pitchFamily="34" charset="-120"/>
              </a:rPr>
              <a:t>固定のイコライザは</a:t>
            </a:r>
            <a:pPr indent="0" marL="0">
              <a:lnSpc>
                <a:spcPct val="115000"/>
              </a:lnSpc>
              <a:spcAft>
                <a:spcPts val="1600"/>
              </a:spcAft>
              <a:buNone/>
            </a:pPr>
            <a:r>
              <a:rPr lang="en-US" sz="1700" b="1" dirty="0">
                <a:solidFill>
                  <a:srgbClr val="2D2D2D"/>
                </a:solidFill>
                <a:latin typeface="Yu Gothic" pitchFamily="34" charset="0"/>
                <a:ea typeface="Yu Gothic" pitchFamily="34" charset="-122"/>
                <a:cs typeface="Yu Gothic" pitchFamily="34" charset="-120"/>
              </a:rPr>
              <a:t>どれも効かない</a:t>
            </a:r>
            <a:pPr indent="0" marL="0">
              <a:lnSpc>
                <a:spcPct val="115000"/>
              </a:lnSpc>
              <a:spcAft>
                <a:spcPts val="1600"/>
              </a:spcAft>
              <a:buNone/>
            </a:pPr>
            <a:r>
              <a:rPr lang="en-US" sz="1700" dirty="0">
                <a:solidFill>
                  <a:srgbClr val="2D2D2D"/>
                </a:solidFill>
                <a:latin typeface="Yu Gothic" pitchFamily="34" charset="0"/>
                <a:ea typeface="Yu Gothic" pitchFamily="34" charset="-122"/>
                <a:cs typeface="Yu Gothic" pitchFamily="34" charset="-120"/>
              </a:rPr>
              <a:t>（±1.5% 以内）</a:t>
            </a:r>
            <a:endParaRPr lang="en-US" sz="1700" dirty="0"/>
          </a:p>
          <a:p>
            <a:pPr marL="228600" indent="-228600">
              <a:lnSpc>
                <a:spcPct val="115000"/>
              </a:lnSpc>
              <a:spcAft>
                <a:spcPts val="1600"/>
              </a:spcAft>
              <a:buSzPct val="100000"/>
              <a:buChar char="•"/>
            </a:pPr>
            <a:r>
              <a:rPr lang="en-US" sz="1700" dirty="0">
                <a:solidFill>
                  <a:srgbClr val="2D2D2D"/>
                </a:solidFill>
                <a:latin typeface="Yu Gothic" pitchFamily="34" charset="0"/>
                <a:ea typeface="Yu Gothic" pitchFamily="34" charset="-122"/>
                <a:cs typeface="Yu Gothic" pitchFamily="34" charset="-120"/>
              </a:rPr>
              <a:t>時間変化する包絡を移すと</a:t>
            </a:r>
            <a:pPr indent="0" marL="0">
              <a:lnSpc>
                <a:spcPct val="115000"/>
              </a:lnSpc>
              <a:spcAft>
                <a:spcPts val="1600"/>
              </a:spcAft>
              <a:buNone/>
            </a:pPr>
            <a:r>
              <a:rPr lang="en-US" sz="1700" b="1" dirty="0">
                <a:solidFill>
                  <a:srgbClr val="2D2D2D"/>
                </a:solidFill>
                <a:latin typeface="Yu Gothic" pitchFamily="34" charset="0"/>
                <a:ea typeface="Yu Gothic" pitchFamily="34" charset="-122"/>
                <a:cs typeface="Yu Gothic" pitchFamily="34" charset="-120"/>
              </a:rPr>
              <a:t>効果の 58〜100%</a:t>
            </a:r>
            <a:pPr indent="0" marL="0">
              <a:lnSpc>
                <a:spcPct val="115000"/>
              </a:lnSpc>
              <a:spcAft>
                <a:spcPts val="1600"/>
              </a:spcAft>
              <a:buNone/>
            </a:pPr>
            <a:r>
              <a:rPr lang="en-US" sz="1700" dirty="0">
                <a:solidFill>
                  <a:srgbClr val="2D2D2D"/>
                </a:solidFill>
                <a:latin typeface="Yu Gothic" pitchFamily="34" charset="0"/>
                <a:ea typeface="Yu Gothic" pitchFamily="34" charset="-122"/>
                <a:cs typeface="Yu Gothic" pitchFamily="34" charset="-120"/>
              </a:rPr>
              <a:t>が戻る</a:t>
            </a:r>
            <a:endParaRPr lang="en-US" sz="1700" dirty="0"/>
          </a:p>
          <a:p>
            <a:pPr marL="228600" indent="-228600">
              <a:lnSpc>
                <a:spcPct val="115000"/>
              </a:lnSpc>
              <a:spcAft>
                <a:spcPts val="1600"/>
              </a:spcAft>
              <a:buSzPct val="100000"/>
              <a:buChar char="•"/>
            </a:pPr>
            <a:r>
              <a:rPr lang="en-US" sz="1700" dirty="0">
                <a:solidFill>
                  <a:srgbClr val="2D2D2D"/>
                </a:solidFill>
                <a:latin typeface="Yu Gothic" pitchFamily="34" charset="0"/>
                <a:ea typeface="Yu Gothic" pitchFamily="34" charset="-122"/>
                <a:cs typeface="Yu Gothic" pitchFamily="34" charset="-120"/>
              </a:rPr>
              <a:t>傾き・高域の量・フォルマントの変化は、誤りの減り方と</a:t>
            </a:r>
            <a:pPr indent="0" marL="0">
              <a:lnSpc>
                <a:spcPct val="115000"/>
              </a:lnSpc>
              <a:spcAft>
                <a:spcPts val="1600"/>
              </a:spcAft>
              <a:buNone/>
            </a:pPr>
            <a:r>
              <a:rPr lang="en-US" sz="1700" b="1" dirty="0">
                <a:solidFill>
                  <a:srgbClr val="2D2D2D"/>
                </a:solidFill>
                <a:latin typeface="Yu Gothic" pitchFamily="34" charset="0"/>
                <a:ea typeface="Yu Gothic" pitchFamily="34" charset="-122"/>
                <a:cs typeface="Yu Gothic" pitchFamily="34" charset="-120"/>
              </a:rPr>
              <a:t>相関しない</a:t>
            </a:r>
            <a:endParaRPr lang="en-US" sz="1700" dirty="0"/>
          </a:p>
        </p:txBody>
      </p:sp>
      <p:sp>
        <p:nvSpPr>
          <p:cNvPr id="5" name="Text 2"/>
          <p:cNvSpPr/>
          <p:nvPr/>
        </p:nvSpPr>
        <p:spPr>
          <a:xfrm>
            <a:off x="548640" y="6309360"/>
            <a:ext cx="11094415" cy="320040"/>
          </a:xfrm>
          <a:prstGeom prst="rect">
            <a:avLst/>
          </a:prstGeom>
          <a:noFill/>
          <a:ln/>
        </p:spPr>
        <p:txBody>
          <a:bodyPr wrap="square" lIns="0" tIns="0" rIns="0" bIns="0" rtlCol="0" anchor="t"/>
          <a:lstStyle/>
          <a:p>
            <a:pPr indent="0" marL="0">
              <a:buNone/>
            </a:pPr>
            <a:r>
              <a:rPr lang="en-US" sz="1200" dirty="0">
                <a:solidFill>
                  <a:srgbClr val="777777"/>
                </a:solidFill>
                <a:latin typeface="Yu Gothic" pitchFamily="34" charset="0"/>
                <a:ea typeface="Yu Gothic" pitchFamily="34" charset="-122"/>
                <a:cs typeface="Yu Gothic" pitchFamily="34" charset="-120"/>
              </a:rPr>
              <a:t>発話ごとのイコライザ = その発話の融合A の平均スペクトルに合わせる（現実には使えない上限）。dev の固定・区間別のイコライザも同様に効果なし</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914400"/>
          </a:xfrm>
          <a:prstGeom prst="rect">
            <a:avLst/>
          </a:prstGeom>
          <a:noFill/>
          <a:ln/>
        </p:spPr>
        <p:txBody>
          <a:bodyPr wrap="square" lIns="0" tIns="0" rIns="0" bIns="0" rtlCol="0" anchor="ctr"/>
          <a:lstStyle/>
          <a:p>
            <a:pPr indent="0" marL="0">
              <a:buNone/>
            </a:pPr>
            <a:r>
              <a:rPr lang="en-US" sz="2800" b="1" dirty="0">
                <a:solidFill>
                  <a:srgbClr val="1F4E79"/>
                </a:solidFill>
                <a:latin typeface="Yu Gothic" pitchFamily="34" charset="0"/>
                <a:ea typeface="Yu Gothic" pitchFamily="34" charset="-122"/>
                <a:cs typeface="Yu Gothic" pitchFamily="34" charset="-120"/>
              </a:rPr>
              <a:t>まとめ: 欠けた成分の補完が土台、Whisper 向けの調整は上乗せ</a:t>
            </a:r>
            <a:endParaRPr lang="en-US" sz="2800" dirty="0"/>
          </a:p>
        </p:txBody>
      </p:sp>
      <p:sp>
        <p:nvSpPr>
          <p:cNvPr id="3" name="Text 1"/>
          <p:cNvSpPr/>
          <p:nvPr/>
        </p:nvSpPr>
        <p:spPr>
          <a:xfrm>
            <a:off x="548640" y="1417320"/>
            <a:ext cx="6035040" cy="365760"/>
          </a:xfrm>
          <a:prstGeom prst="rect">
            <a:avLst/>
          </a:prstGeom>
          <a:noFill/>
          <a:ln/>
        </p:spPr>
        <p:txBody>
          <a:bodyPr wrap="square" lIns="0" tIns="0" rIns="0" bIns="0" rtlCol="0" anchor="t"/>
          <a:lstStyle/>
          <a:p>
            <a:pPr indent="0" marL="0">
              <a:buNone/>
            </a:pPr>
            <a:r>
              <a:rPr lang="en-US" sz="1900" b="1" dirty="0">
                <a:solidFill>
                  <a:srgbClr val="1F4E79"/>
                </a:solidFill>
                <a:latin typeface="Yu Gothic" pitchFamily="34" charset="0"/>
                <a:ea typeface="Yu Gothic" pitchFamily="34" charset="-122"/>
                <a:cs typeface="Yu Gothic" pitchFamily="34" charset="-120"/>
              </a:rPr>
              <a:t>分かったこと</a:t>
            </a:r>
            <a:endParaRPr lang="en-US" sz="1900" dirty="0"/>
          </a:p>
        </p:txBody>
      </p:sp>
      <p:sp>
        <p:nvSpPr>
          <p:cNvPr id="4" name="Text 2"/>
          <p:cNvSpPr/>
          <p:nvPr/>
        </p:nvSpPr>
        <p:spPr>
          <a:xfrm>
            <a:off x="548640" y="1874520"/>
            <a:ext cx="6035040" cy="4023360"/>
          </a:xfrm>
          <a:prstGeom prst="rect">
            <a:avLst/>
          </a:prstGeom>
          <a:noFill/>
          <a:ln/>
        </p:spPr>
        <p:txBody>
          <a:bodyPr wrap="square" lIns="0" tIns="0" rIns="0" bIns="0" rtlCol="0" anchor="t"/>
          <a:lstStyle/>
          <a:p>
            <a:pPr marL="228600" indent="-228600">
              <a:lnSpc>
                <a:spcPct val="115000"/>
              </a:lnSpc>
              <a:spcAft>
                <a:spcPts val="1600"/>
              </a:spcAft>
              <a:buSzPct val="100000"/>
              <a:buChar char="•"/>
            </a:pPr>
            <a:r>
              <a:rPr lang="en-US" sz="1700" dirty="0">
                <a:solidFill>
                  <a:srgbClr val="2D2D2D"/>
                </a:solidFill>
                <a:latin typeface="Yu Gothic" pitchFamily="34" charset="0"/>
                <a:ea typeface="Yu Gothic" pitchFamily="34" charset="-122"/>
                <a:cs typeface="Yu Gothic" pitchFamily="34" charset="-120"/>
              </a:rPr>
              <a:t>生成モデルの適応は9種すべてに効き、喉マイク用に学習した Whisper にも上乗せできる</a:t>
            </a:r>
            <a:endParaRPr lang="en-US" sz="1700" dirty="0"/>
          </a:p>
          <a:p>
            <a:pPr marL="228600" indent="-228600">
              <a:lnSpc>
                <a:spcPct val="115000"/>
              </a:lnSpc>
              <a:spcAft>
                <a:spcPts val="1600"/>
              </a:spcAft>
              <a:buSzPct val="100000"/>
              <a:buChar char="•"/>
            </a:pPr>
            <a:r>
              <a:rPr lang="en-US" sz="1700" dirty="0">
                <a:solidFill>
                  <a:srgbClr val="2D2D2D"/>
                </a:solidFill>
                <a:latin typeface="Yu Gothic" pitchFamily="34" charset="0"/>
                <a:ea typeface="Yu Gothic" pitchFamily="34" charset="-122"/>
                <a:cs typeface="Yu Gothic" pitchFamily="34" charset="-120"/>
              </a:rPr>
              <a:t>Whisper 用の音声強調を混ぜると Whisper 系にさらに 2〜8%。効くのは時間変化する包絡</a:t>
            </a:r>
            <a:endParaRPr lang="en-US" sz="1700" dirty="0"/>
          </a:p>
          <a:p>
            <a:pPr marL="228600" indent="-228600">
              <a:lnSpc>
                <a:spcPct val="115000"/>
              </a:lnSpc>
              <a:spcAft>
                <a:spcPts val="1600"/>
              </a:spcAft>
              <a:buSzPct val="100000"/>
              <a:buChar char="•"/>
            </a:pPr>
            <a:r>
              <a:rPr lang="en-US" sz="1700" dirty="0">
                <a:solidFill>
                  <a:srgbClr val="2D2D2D"/>
                </a:solidFill>
                <a:latin typeface="Yu Gothic" pitchFamily="34" charset="0"/>
                <a:ea typeface="Yu Gothic" pitchFamily="34" charset="-122"/>
                <a:cs typeface="Yu Gothic" pitchFamily="34" charset="-120"/>
              </a:rPr>
              <a:t>別の喉マイクでは部品の再適応が必要だが、作り方は再現する</a:t>
            </a:r>
            <a:endParaRPr lang="en-US" sz="1700" dirty="0"/>
          </a:p>
        </p:txBody>
      </p:sp>
      <p:sp>
        <p:nvSpPr>
          <p:cNvPr id="5" name="Shape 3"/>
          <p:cNvSpPr/>
          <p:nvPr/>
        </p:nvSpPr>
        <p:spPr>
          <a:xfrm>
            <a:off x="6903720" y="1508760"/>
            <a:ext cx="0" cy="4297680"/>
          </a:xfrm>
          <a:prstGeom prst="line">
            <a:avLst/>
          </a:prstGeom>
          <a:noFill/>
          <a:ln w="12700">
            <a:solidFill>
              <a:srgbClr val="CCCCCC"/>
            </a:solidFill>
            <a:prstDash val="solid"/>
          </a:ln>
        </p:spPr>
      </p:sp>
      <p:sp>
        <p:nvSpPr>
          <p:cNvPr id="6" name="Text 4"/>
          <p:cNvSpPr/>
          <p:nvPr/>
        </p:nvSpPr>
        <p:spPr>
          <a:xfrm>
            <a:off x="7223760" y="1417320"/>
            <a:ext cx="4419295" cy="365760"/>
          </a:xfrm>
          <a:prstGeom prst="rect">
            <a:avLst/>
          </a:prstGeom>
          <a:noFill/>
          <a:ln/>
        </p:spPr>
        <p:txBody>
          <a:bodyPr wrap="square" lIns="0" tIns="0" rIns="0" bIns="0" rtlCol="0" anchor="t"/>
          <a:lstStyle/>
          <a:p>
            <a:pPr indent="0" marL="0">
              <a:buNone/>
            </a:pPr>
            <a:r>
              <a:rPr lang="en-US" sz="1900" b="1" dirty="0">
                <a:solidFill>
                  <a:srgbClr val="1F4E79"/>
                </a:solidFill>
                <a:latin typeface="Yu Gothic" pitchFamily="34" charset="0"/>
                <a:ea typeface="Yu Gothic" pitchFamily="34" charset="-122"/>
                <a:cs typeface="Yu Gothic" pitchFamily="34" charset="-120"/>
              </a:rPr>
              <a:t>次の予定</a:t>
            </a:r>
            <a:endParaRPr lang="en-US" sz="1900" dirty="0"/>
          </a:p>
        </p:txBody>
      </p:sp>
      <p:sp>
        <p:nvSpPr>
          <p:cNvPr id="7" name="Text 5"/>
          <p:cNvSpPr/>
          <p:nvPr/>
        </p:nvSpPr>
        <p:spPr>
          <a:xfrm>
            <a:off x="7223760" y="1874520"/>
            <a:ext cx="4419295" cy="4023360"/>
          </a:xfrm>
          <a:prstGeom prst="rect">
            <a:avLst/>
          </a:prstGeom>
          <a:noFill/>
          <a:ln/>
        </p:spPr>
        <p:txBody>
          <a:bodyPr wrap="square" lIns="0" tIns="0" rIns="0" bIns="0" rtlCol="0" anchor="t"/>
          <a:lstStyle/>
          <a:p>
            <a:pPr marL="228600" indent="-228600">
              <a:lnSpc>
                <a:spcPct val="115000"/>
              </a:lnSpc>
              <a:spcAft>
                <a:spcPts val="1600"/>
              </a:spcAft>
              <a:buSzPct val="100000"/>
              <a:buChar char="•"/>
            </a:pPr>
            <a:r>
              <a:rPr lang="en-US" sz="1700" dirty="0">
                <a:solidFill>
                  <a:srgbClr val="2D2D2D"/>
                </a:solidFill>
                <a:latin typeface="Yu Gothic" pitchFamily="34" charset="0"/>
                <a:ea typeface="Yu Gothic" pitchFamily="34" charset="-122"/>
                <a:cs typeface="Yu Gothic" pitchFamily="34" charset="-120"/>
              </a:rPr>
              <a:t>日本音響学会 2027年春季に4ページで申し込む（申込 11/11〜11/24）</a:t>
            </a:r>
            <a:endParaRPr lang="en-US" sz="1700" dirty="0"/>
          </a:p>
          <a:p>
            <a:pPr marL="228600" indent="-228600">
              <a:lnSpc>
                <a:spcPct val="115000"/>
              </a:lnSpc>
              <a:spcAft>
                <a:spcPts val="1600"/>
              </a:spcAft>
              <a:buSzPct val="100000"/>
              <a:buChar char="•"/>
            </a:pPr>
            <a:r>
              <a:rPr lang="en-US" sz="1700" dirty="0">
                <a:solidFill>
                  <a:srgbClr val="2D2D2D"/>
                </a:solidFill>
                <a:latin typeface="Yu Gothic" pitchFamily="34" charset="0"/>
                <a:ea typeface="Yu Gothic" pitchFamily="34" charset="-122"/>
                <a:cs typeface="Yu Gothic" pitchFamily="34" charset="-120"/>
              </a:rPr>
              <a:t>融合を一部のフレームだけにかけ、どこで効くかを確かめる（評価中）</a:t>
            </a:r>
            <a:endParaRPr lang="en-US" sz="1700" dirty="0"/>
          </a:p>
          <a:p>
            <a:pPr marL="228600" indent="-228600">
              <a:lnSpc>
                <a:spcPct val="115000"/>
              </a:lnSpc>
              <a:spcAft>
                <a:spcPts val="1600"/>
              </a:spcAft>
              <a:buSzPct val="100000"/>
              <a:buChar char="•"/>
            </a:pPr>
            <a:r>
              <a:rPr lang="en-US" sz="1700" dirty="0">
                <a:solidFill>
                  <a:srgbClr val="2D2D2D"/>
                </a:solidFill>
                <a:latin typeface="Yu Gothic" pitchFamily="34" charset="0"/>
                <a:ea typeface="Yu Gothic" pitchFamily="34" charset="-122"/>
                <a:cs typeface="Yu Gothic" pitchFamily="34" charset="-120"/>
              </a:rPr>
              <a:t>計算量の削減（生成のステップ数・回数を減らす）</a:t>
            </a:r>
            <a:endParaRPr lang="en-US" sz="1700" dirty="0"/>
          </a:p>
        </p:txBody>
      </p:sp>
      <p:sp>
        <p:nvSpPr>
          <p:cNvPr id="8" name="Text 6"/>
          <p:cNvSpPr/>
          <p:nvPr/>
        </p:nvSpPr>
        <p:spPr>
          <a:xfrm>
            <a:off x="548640" y="6309360"/>
            <a:ext cx="11094415" cy="320040"/>
          </a:xfrm>
          <a:prstGeom prst="rect">
            <a:avLst/>
          </a:prstGeom>
          <a:noFill/>
          <a:ln/>
        </p:spPr>
        <p:txBody>
          <a:bodyPr wrap="square" lIns="0" tIns="0" rIns="0" bIns="0" rtlCol="0" anchor="t"/>
          <a:lstStyle/>
          <a:p>
            <a:pPr indent="0" marL="0">
              <a:buNone/>
            </a:pPr>
            <a:r>
              <a:rPr lang="en-US" sz="1200" dirty="0">
                <a:solidFill>
                  <a:srgbClr val="777777"/>
                </a:solidFill>
                <a:latin typeface="Yu Gothic" pitchFamily="34" charset="0"/>
                <a:ea typeface="Yu Gothic" pitchFamily="34" charset="-122"/>
                <a:cs typeface="Yu Gothic" pitchFamily="34" charset="-120"/>
              </a:rPr>
              <a:t>限界: 計算量が大きい（4.3億パラメータを20段×4回）。蒸留して1つの強調器にする試みは融合A に届かなかった</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2026-10-21T06:36:25Z</dcterms:created>
  <dcterms:modified xsi:type="dcterms:W3CDTF">2026-10-21T06:36:25Z</dcterms:modified>
</cp:coreProperties>
</file>