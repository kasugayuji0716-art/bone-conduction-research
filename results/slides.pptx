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3"/>
    <p:restoredTop sz="94722"/>
  </p:normalViewPr>
  <p:slideViewPr>
    <p:cSldViewPr snapToGrid="0" snapToObjects="1">
      <p:cViewPr varScale="1">
        <p:scale>
          <a:sx n="115" d="100"/>
          <a:sy n="115" d="100"/>
        </p:scale>
        <p:origin x="496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88952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喉マイク音声に対する音声強調が
自動音声認識に与える影響の定量的評価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6616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BBDEFB"/>
                </a:solidFill>
              </a:rPr>
              <a:t>Quantitative Evaluation of Speech Enhancement Effects
on ASR for Bone Conduction Microphone Audio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0CAF9"/>
                </a:solidFill>
              </a:rPr>
              <a:t>○ 著者名（所属機関）　|　日本音響学会 2026年秋季研究発表会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目次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17320"/>
            <a:ext cx="5577840" cy="10058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1. 研究背景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92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喉マイクとは？  なぜASRが難しいか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417320"/>
            <a:ext cx="5577840" cy="1005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46520" y="1463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2. 研究動機・目的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92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SEは本当に役立つのか？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560320"/>
            <a:ext cx="5577840" cy="10058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606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3. 関連研究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35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TASLP 2024 / Interspeech 2024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560320"/>
            <a:ext cx="5577840" cy="1005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2606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4. 実験設計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035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データセット・ノイズ付加・SEモデル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03320"/>
            <a:ext cx="5577840" cy="10058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3749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5. 評価指標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178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CER・STOI・PESQ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703320"/>
            <a:ext cx="5577840" cy="1005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3749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6. 実験結果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178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34条件の定量評価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846320"/>
            <a:ext cx="5577840" cy="10058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4892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7. 考察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321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なぜSEが逆効果になるのか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4846320"/>
            <a:ext cx="5577840" cy="1005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46520" y="4892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8. まとめ・今後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321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発見のまとめと展望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背景①  喉マイク（骨伝導マイク）とは？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Throat Microphone / Bone Conduction Microphone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800">
                <a:solidFill>
                  <a:srgbClr val="212121"/>
                </a:solidFill>
              </a:rPr>
              <a:t>●  声帯の振動を皮膚・骨を通じて直接収音するマイク</a:t>
            </a:r>
          </a:p>
          <a:p>
            <a:pPr algn="l">
              <a:spcBef>
                <a:spcPts val="400"/>
              </a:spcBef>
            </a:pPr>
            <a:r>
              <a:rPr sz="1800">
                <a:solidFill>
                  <a:srgbClr val="212121"/>
                </a:solidFill>
              </a:rPr>
              <a:t>●  気導マイク（通常のマイク）とは収音原理が根本的に異なる</a:t>
            </a:r>
          </a:p>
          <a:p>
            <a:pPr algn="l">
              <a:spcBef>
                <a:spcPts val="400"/>
              </a:spcBef>
            </a:pPr>
            <a:r>
              <a:rPr sz="1800">
                <a:solidFill>
                  <a:srgbClr val="212121"/>
                </a:solidFill>
              </a:rPr>
              <a:t>●  ヘルメット着用中・極端な騒音環境でも安定収音できる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474720"/>
            <a:ext cx="1737360" cy="1005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237E"/>
                </a:solidFill>
              </a:rPr>
              <a:t>軍事・防衛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862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8909C"/>
                </a:solidFill>
              </a:rPr>
              <a:t>戦場での通信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0279" y="3474720"/>
            <a:ext cx="1737360" cy="10058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240279" y="35204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237E"/>
                </a:solidFill>
              </a:rPr>
              <a:t>工業現場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79" y="38862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8909C"/>
                </a:solidFill>
              </a:rPr>
              <a:t>騒音下作業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3474720"/>
            <a:ext cx="1737360" cy="100584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0" y="35204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237E"/>
                </a:solidFill>
              </a:rPr>
              <a:t>スポーツ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8862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8909C"/>
                </a:solidFill>
              </a:rPr>
              <a:t>水中・レース中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417320"/>
            <a:ext cx="5577840" cy="4114800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150876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喉マイクの音響特性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1168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▼  低域（〜300Hz）にエネルギーが集中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78608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▼  高周波成分が著しく欠落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145536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▼  音声が「こもった」印象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712464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62828"/>
                </a:solidFill>
              </a:rPr>
              <a:t>→  ASRシステムが誤認識しやすい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279392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62828"/>
                </a:solidFill>
              </a:rPr>
              <a:t>→  素の状態でCER ≈ 27%（気導比較: 13%）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背景②  音声強調（Speech Enhancement）とは？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Speech Enhancement: 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237E"/>
                </a:solidFill>
              </a:rPr>
              <a:t>音声に含まれるノイズを除去し、音質・了解度を改善する信号処理技術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86000"/>
            <a:ext cx="1645920" cy="914400"/>
          </a:xfrm>
          <a:prstGeom prst="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喉マイク
音声 + ノイズ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514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237E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2286000"/>
            <a:ext cx="1645920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88920" y="22860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SE処理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514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237E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286000"/>
            <a:ext cx="1645920" cy="91440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0640" y="22860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強調済み
音声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514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237E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2286000"/>
            <a:ext cx="1645920" cy="9144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52360" y="22860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ASR
(Whisper)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514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237E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84080" y="2286000"/>
            <a:ext cx="1645920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0" y="22860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テキスト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474720"/>
            <a:ext cx="5577840" cy="265176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354787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DSP-only（信号処理）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0233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ハイパスフィルタ（300Hz）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4805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プリエンファシス（高域強調）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RMS 正規化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3949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→ 計算コスト極小，解釈しやすい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3474720"/>
            <a:ext cx="5577840" cy="26517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354787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GTCRN（ニューラルSE）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0233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48,200パラメータの超軽量DNN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4805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DNS3（気導マイク）で学習済み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9377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STFT → DNN → iSTFT の処理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3949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→ 高品質ノイズ除去が期待される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研究動機と目的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237E"/>
                </a:solidFill>
              </a:rPr>
              <a:t>素朴な疑問：SEをかければASRは改善する？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011680"/>
            <a:ext cx="5303520" cy="12801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2084831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一般的なイメージ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87168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SE適用 → ノイズ除去 → 音声が綺麗に → ASR改善 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22860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9800"/>
                </a:solidFill>
              </a:rPr>
              <a:t>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011680"/>
            <a:ext cx="5303520" cy="128016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2084831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62828"/>
                </a:solidFill>
              </a:rPr>
              <a:t>実際に報告されていること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487168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SE適用 → 音質は改善 → でもASR悪化 ✗
（Mawalim et al. 2024, Ochiai et al. 2024）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520440"/>
            <a:ext cx="11430000" cy="1371600"/>
          </a:xfrm>
          <a:prstGeom prst="rect">
            <a:avLst/>
          </a:prstGeom>
          <a:solidFill>
            <a:srgbClr val="FFF9C4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0">
                <a:solidFill>
                  <a:srgbClr val="212121"/>
                </a:solidFill>
              </a:rPr>
              <a:t>本研究のリサーチクエスチョン
「喉マイク音声において、どの条件でSEがASRを悪化させるか？
　またSTOI・PESQとCERはどのような関係にあるか？」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7492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→ 34条件でCER・STOI・PESQを定量評価（統計検定つき）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関連研究①  Ochiai et al. TASLP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"Rethinking Processing Distortions" arXiv:2404.14860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SEによる誤差を3成分に直交分解し、ASRへの影響を定量化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965960"/>
            <a:ext cx="3657600" cy="29260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029968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A237E"/>
                </a:solidFill>
              </a:rPr>
              <a:t>Interference
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121"/>
                </a:solidFill>
              </a:rPr>
              <a:t>残留ノイズ
（完全に除去できなかったノイズ）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661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9800"/>
                </a:solidFill>
              </a:rPr>
              <a:t>△  中程度のASR悪化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965960"/>
            <a:ext cx="3657600" cy="29260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89120" y="2029968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A237E"/>
                </a:solidFill>
              </a:rPr>
              <a:t>Noise Error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6974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121"/>
                </a:solidFill>
              </a:rPr>
              <a:t>過剰抑圧
（音声を削りすぎ）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9800"/>
                </a:solidFill>
              </a:rPr>
              <a:t>△  中程度のASR悪化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965960"/>
            <a:ext cx="3657600" cy="292608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21040" y="2029968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A237E"/>
                </a:solidFill>
              </a:rPr>
              <a:t>Artifact 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6974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121"/>
                </a:solidFill>
              </a:rPr>
              <a:t>非線形歪み
（SEが生む人工的なノイズ）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5661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</a:rPr>
              <a:t>✗  最大のASR悪化要因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solidFill>
            <a:srgbClr val="FFEBEE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>
                <a:solidFill>
                  <a:srgbClr val="212121"/>
                </a:solidFill>
              </a:rPr>
              <a:t>主要発見：Artifact Errorが最もASRに有害
→ SEで音声が「綺麗」に見えても、ASRには致命的な歪みが残る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関連研究②  Mawalim et al. Interspeech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"Are Recent DL-Based SE Methods Ready?" DOI:10.21437/Interspeech.2024-129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最新の深層学習SEが「実環境」でASRの役に立つかを実証的に検証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965960"/>
            <a:ext cx="36576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0299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Denoiser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9572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Facebook の音声ノイズ除去モデル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965960"/>
            <a:ext cx="36576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120" y="20299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DeepFilterNet3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39572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リアルタイム対応の高性能SEモデル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965960"/>
            <a:ext cx="36576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20299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FullSubNet+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39572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フルバンド+サブバンド処理モデル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017520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実環境（非定常ノイズ・残響）ではベンチマーク性能から大きく低下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PESQ/STOIが改善してもASR WERが改善しない・悪化するケースが多数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音質指標（知覚品質） ≠ ASR性能　という乖離を実証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892040"/>
            <a:ext cx="11430000" cy="1097280"/>
          </a:xfrm>
          <a:prstGeom prst="rect">
            <a:avLst/>
          </a:prstGeom>
          <a:solidFill>
            <a:srgbClr val="E8F5E9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>
                <a:solidFill>
                  <a:srgbClr val="212121"/>
                </a:solidFill>
              </a:rPr>
              <a:t>本研究との接点：同じ「STOI改善・ASR悪化」の乖離を
喉マイク × Whisper × 韓国語 という独自の文脈で再現・拡張する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実験設計①  データセット：TAPS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Throat and Acoustic Pairing Speech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韓国語 paired 音声データセット（HuggingFace公開）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喉マイク音声 ＋ 気導マイク音声のペアが揃っている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話者ごとに正解テキスト（metadata.csv）付属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本研究：テストセット 50発話、話者 p00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サンプリングレート：16 kHz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417320"/>
            <a:ext cx="5394960" cy="3200400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5087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ベースラインCER（Whisper small）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2011680"/>
            <a:ext cx="5212080" cy="5486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208483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気導マイク（参照）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08483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0.131 (13.1%)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208483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909C"/>
                </a:solidFill>
              </a:rPr>
              <a:t>← 達成目標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2633472"/>
            <a:ext cx="5212080" cy="54864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2706624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喉マイク生音声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270662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0.269 (26.9%)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270662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909C"/>
                </a:solidFill>
              </a:rPr>
              <a:t>← 出発点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255264"/>
            <a:ext cx="5212080" cy="54864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0" y="3328416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喉マイク + DSP-only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332841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0.416 (41.6%)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0" y="332841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909C"/>
                </a:solidFill>
              </a:rPr>
              <a:t>← SEで悪化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3877056"/>
            <a:ext cx="52120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0" y="395020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喉マイク + GTCRN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395020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0.296 (29.6%)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40" y="395020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909C"/>
                </a:solidFill>
              </a:rPr>
              <a:t>← わずか改善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※ 韓国語の内容確認は不要：CERは文字列比較（意味理解不要）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実験設計②  ノイズ付加と実験条件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10 noisy + 4 clean = 34 total conditions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2743200" cy="1371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A237E"/>
                </a:solidFill>
              </a:rPr>
              <a:t>白色ノイズ
White Noise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全周波数帯域に
均一なエネルギー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463040"/>
            <a:ext cx="2743200" cy="1371600"/>
          </a:xfrm>
          <a:prstGeom prst="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8328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A237E"/>
                </a:solidFill>
              </a:rPr>
              <a:t>ピンクノイズ
Pink Noise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574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低周波ほど
エネルギーが大きい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5577840" cy="27432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15544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SNR（信号対雑音比）とは？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116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+20 dB：音声がノイズの100倍パワー → ほぼクリーン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146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9800"/>
                </a:solidFill>
              </a:rPr>
              <a:t>+5 dB：音声がノイズの約3倍       → 少しうるさい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0175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9800"/>
                </a:solidFill>
              </a:rPr>
              <a:t>0 dB：音声 = ノイズ             → かなり聞こえにくい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52044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62828"/>
                </a:solidFill>
              </a:rPr>
              <a:t>-5 dB：ノイズが音声より大きい    → ほぼ聞こえない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17520"/>
            <a:ext cx="5577840" cy="27432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309067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全34実験条件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661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4条件    ベースライン（acoustic / throat）+ SE×clean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0690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10条件   No SE × 白色/ピンク × 5 SNR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72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10条件   DSP-only × 白色/ピンク × 5 SNR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749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10条件   GTCRN × 白色/ピンク × 5 SNR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実験設計③  音声強調モデルの詳細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5486400" cy="43891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53619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9800"/>
                </a:solidFill>
              </a:rPr>
              <a:t>DSP-only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5029200" cy="1005840"/>
          </a:xfrm>
          <a:prstGeom prst="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0756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9800"/>
                </a:solidFill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75688"/>
            <a:ext cx="3931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ハイパスフィルタ（Butterworth 6次, 300Hz）
  → 300Hz以下を除去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08960"/>
            <a:ext cx="5029200" cy="1005840"/>
          </a:xfrm>
          <a:prstGeom prst="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317296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9800"/>
                </a:solidFill>
              </a:rP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172968"/>
            <a:ext cx="3931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プリエンファシス（係数 0.97）
  → 高周波成分を強調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206240"/>
            <a:ext cx="5029200" cy="1005840"/>
          </a:xfrm>
          <a:prstGeom prst="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27024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9800"/>
                </a:solidFill>
              </a:rPr>
              <a:t>Step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270248"/>
            <a:ext cx="3931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RMS正規化
  → 音量を一定に揃える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19379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62828"/>
                </a:solidFill>
              </a:rPr>
              <a:t>⚠ 300Hz以下が喉マイクの主エネルギー帯域
→ HPFで大半を削ってしまう可能性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463040"/>
            <a:ext cx="5486400" cy="43891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153619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43A047"/>
                </a:solidFill>
              </a:rPr>
              <a:t>GTCRN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2011680"/>
            <a:ext cx="5029200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0" y="207568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パラメータ数：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07568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48,200（超軽量ニューラルSE）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2788920"/>
            <a:ext cx="5029200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3680" y="285292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学習データ：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85292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DNS3コーパス（気導マイク・主に英語）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3566160"/>
            <a:ext cx="5029200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0" y="36301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入力形式：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363016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16kHz 音声のみ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4343400"/>
            <a:ext cx="5029200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83680" y="44074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処理方式：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40740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STFT → 複素領域DNN → iSTFT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9379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62828"/>
                </a:solidFill>
              </a:rPr>
              <a:t>⚠ 喉マイク音声はドメイン外（学習分布外）入力
→ 予期しない変換が生じる可能性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評価指標①  CER（Character Error Rate）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文字誤り率 — ASR性能の直接評価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ASRが出力したテキストと正解テキストの「文字単位の編集距離」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920240"/>
            <a:ext cx="11430000" cy="10972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237E"/>
                </a:solidFill>
              </a:rPr>
              <a:t>CER = （挿入 + 削除 + 置換の文字数）÷ 正解テキストの文字数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200400"/>
            <a:ext cx="3657600" cy="22860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32735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良い例（CER低）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75887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正解: 오늘 날씨가 맑습니다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416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出力: 오늘 날씨가 맑습니다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348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CER = 0.00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3200400"/>
            <a:ext cx="3657600" cy="228600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32735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普通（CER中）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675887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正解: 오늘 날씨가 맑습니다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0416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出力: 오늘 날씨가 말습니다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4348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CER ≈ 0.10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3200400"/>
            <a:ext cx="3657600" cy="228600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32735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悪い例（CER高）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675887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正解: 오늘 날씨가 맑습니다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0416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出力: 오늘 ????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4348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CER &gt; 0.50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7607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※ 本研究では言語理解は不要。CERは純粋に文字列の一致度を計算する。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評価指標②  STOI と PESQ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音声の「知覚品質」を数値化する指標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5486400" cy="42976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3619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STOI（Short-Time Objective Intelligibility）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933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「この音声は人間にどれだけ聞き取りやすいか」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値域：0 〜 1（1 = 完全に聞き取れる）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4436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仕組み：短時間フレームごとの周波数エネルギー相関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19856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用途：補聴器・通話システムの評価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95344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本研究：クリーン喉マイク音声を参照に算出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572000"/>
            <a:ext cx="5212080" cy="4572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46177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→ 「聞き取りやすさ」の指標（了解度）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486400" cy="42976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153619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3A047"/>
                </a:solidFill>
              </a:rPr>
              <a:t>PESQ（Perceptual Evaluation of Speech Quality）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933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「人間が聴いたときの音質スコア」を模倣する指標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値域：−0.5 〜 4.5（ITU-T P.862 国際規格）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94436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仕組み：人間の聴覚モデルに通した知覚的差分を計算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19856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用途：音声コーデック・VoIPの品質評価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95344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本研究：クリーン喉マイク音声を参照に算出（WBモード）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572000"/>
            <a:ext cx="5212080" cy="457200"/>
          </a:xfrm>
          <a:prstGeom prst="rect">
            <a:avLst/>
          </a:prstGeom>
          <a:solidFill>
            <a:srgbClr val="A5D6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46177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→ 「音の自然さ・快適さ」の指標（音質）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852160"/>
            <a:ext cx="11430000" cy="749808"/>
          </a:xfrm>
          <a:prstGeom prst="rect">
            <a:avLst/>
          </a:prstGeom>
          <a:solidFill>
            <a:srgbClr val="FFF9C4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212121"/>
                </a:solidFill>
              </a:rPr>
              <a:t>CER  ≠  STOI  ≠  PESQ
ASR性能と知覚品質は必ずしも一致しない  ←  これが本研究の核心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結果①  クリーン条件のCER比較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5943600" cy="37928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0" y="1554480"/>
            <a:ext cx="5212080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0" y="160934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96F3"/>
                </a:solidFill>
              </a:rPr>
              <a:t>気導マイク（参照）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16093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2196F3"/>
                </a:solidFill>
              </a:rPr>
              <a:t>13.1%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02996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達成目標ライン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651760"/>
            <a:ext cx="5212080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270662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8909C"/>
                </a:solidFill>
              </a:rPr>
              <a:t>喉マイク 生音声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270662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78909C"/>
                </a:solidFill>
              </a:rPr>
              <a:t>26.9%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12724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基準点（ここから改善したい）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3749040"/>
            <a:ext cx="5212080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75120" y="380390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9800"/>
                </a:solidFill>
              </a:rPr>
              <a:t>喉マイク + DSP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80390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FF9800"/>
                </a:solidFill>
              </a:rPr>
              <a:t>41.6%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22452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▼ SEで15pt悪化！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4846320"/>
            <a:ext cx="5212080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75120" y="490118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3A047"/>
                </a:solidFill>
              </a:rPr>
              <a:t>喉マイク + GTCRN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490118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43A047"/>
                </a:solidFill>
              </a:rPr>
              <a:t>29.6%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32180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▲ わずかに改善（生音声に近い）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クリーン条件ではGTCRNが最良。しかしノイズ条件では？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結果②  ノイズ条件：SNR vs 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白色ノイズ / ピンクノイズ — 全モデル比較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5760720" cy="365502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760720" cy="36550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93066" y="5010912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dirty="0" err="1">
                <a:solidFill>
                  <a:srgbClr val="1A237E"/>
                </a:solidFill>
              </a:rPr>
              <a:t>白色ノイズ</a:t>
            </a:r>
            <a:endParaRPr sz="1300" b="1" dirty="0">
              <a:solidFill>
                <a:srgbClr val="1A237E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519924" y="5010912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dirty="0" err="1">
                <a:solidFill>
                  <a:srgbClr val="1A237E"/>
                </a:solidFill>
              </a:rPr>
              <a:t>ピンクノイズ</a:t>
            </a:r>
            <a:endParaRPr sz="1300" b="1" dirty="0">
              <a:solidFill>
                <a:srgbClr val="1A237E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74320" y="5303520"/>
            <a:ext cx="11612880" cy="914400"/>
          </a:xfrm>
          <a:prstGeom prst="rect">
            <a:avLst/>
          </a:prstGeom>
          <a:solidFill>
            <a:srgbClr val="FFEBEE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212121"/>
                </a:solidFill>
              </a:rPr>
              <a:t>全SNR帯域・全ノイズ種で  DSP-only &amp; GTCRN  ＞  No SE（CER大 = 悪い）
→ ノイズ条件ではSEを適用すると必ずASRが悪化する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結果③  統計的有意性の検証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Wilcoxon符号順位検定（両側）— 50発話のサンプルごとCER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A237E"/>
                </a:solidFill>
              </a:rPr>
              <a:t>30ペアの条件比較中 26件（87%）で p &lt; 0.05 を達成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057400"/>
            <a:ext cx="2258568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21488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比較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0" y="2057400"/>
            <a:ext cx="1801368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06040" y="21488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白色 −5dB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057400"/>
            <a:ext cx="1801368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21488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白色 0dB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057400"/>
            <a:ext cx="1801368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63640" y="21488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白色 +5dB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057400"/>
            <a:ext cx="1801368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92440" y="21488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白色 +10dB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75520" y="2057400"/>
            <a:ext cx="1801368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921240" y="21488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白色 +20dB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715768"/>
            <a:ext cx="2258568" cy="59436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0040" y="280720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8909C"/>
                </a:solidFill>
              </a:rPr>
              <a:t>DSP vs No 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0" y="2715768"/>
            <a:ext cx="1801368" cy="59436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06040" y="28072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8909C"/>
                </a:solidFill>
              </a:rPr>
              <a:t>n.s.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715768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34840" y="28072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2715768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63640" y="28072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2715768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92440" y="28072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75520" y="2715768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921240" y="28072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374136"/>
            <a:ext cx="2258568" cy="59436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0040" y="3465576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8909C"/>
                </a:solidFill>
              </a:rPr>
              <a:t>GTCRN vs No 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60320" y="3374136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606040" y="3465576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0" y="3374136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434840" y="3465576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374136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263640" y="3465576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3374136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092440" y="3465576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3374136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921240" y="3465576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p&lt;.01 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032504"/>
            <a:ext cx="2258568" cy="59436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20040" y="412394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8909C"/>
                </a:solidFill>
              </a:rPr>
              <a:t>GTCRN vs DSP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60320" y="4032504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606040" y="4123944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120" y="4032504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34840" y="4123944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p&lt;.01 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4032504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263640" y="4123944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p&lt;.05 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20" y="4032504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092440" y="4123944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75520" y="4032504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921240" y="4123944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4983480"/>
            <a:ext cx="11430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有意差なし（n.s.）の4件 → SNR −5dBの天井効果（CER≥1.0）が原因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天井効果 ＝ 両条件ともASRが完全に破綻しており、SEの有無が測定不能な状態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「SEが逆効果」という結論は統計的に裏付けられている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結果④  STOI vs CER のパラドックス（発見の核心）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5943600" cy="4519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14630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具体例（白色ノイズ SNR 0dB）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965960"/>
            <a:ext cx="539496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20391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96F3"/>
                </a:solidFill>
              </a:rPr>
              <a:t>No 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44144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STOI: 0.585   CER: 0.882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3200400"/>
            <a:ext cx="539496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327355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9800"/>
                </a:solidFill>
              </a:rPr>
              <a:t>DSP-only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67588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STOI: 0.434   CER: 1.028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4434840"/>
            <a:ext cx="539496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450799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3A047"/>
                </a:solidFill>
              </a:rPr>
              <a:t>GTCRN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91032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STOI: 0.721   CER: 1.214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5532120"/>
            <a:ext cx="5394960" cy="1097280"/>
          </a:xfrm>
          <a:prstGeom prst="rect">
            <a:avLst/>
          </a:prstGeom>
          <a:solidFill>
            <a:srgbClr val="FFEBEE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>
                <a:solidFill>
                  <a:srgbClr val="212121"/>
                </a:solidFill>
              </a:rPr>
              <a:t>GTCRNは STOI を改善（0.585 → 0.721）
しかし CER は悪化（0.882 → 1.214）
→ 「音は綺麗になったのにASRが壊れた」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結果⑤  PESQ・STOI・CER の三重パラドックス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GTCRNとNo SEの差分（Δ）— 白色ノイズ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8686800" cy="42926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35440" y="1463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読み方：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0" y="19202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62828"/>
                </a:solidFill>
              </a:rPr>
              <a:t>赤棒（ΔCER）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0" y="222199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上↑ = ASR悪化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5603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196F3"/>
                </a:solidFill>
              </a:rPr>
              <a:t>青棒（ΔSTOI）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286207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上↑ = 了解度改善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32004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緑棒（ΔPESQ）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350215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上↑ = 音質改善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0" y="3840480"/>
            <a:ext cx="2834640" cy="1828800"/>
          </a:xfrm>
          <a:prstGeom prst="rect">
            <a:avLst/>
          </a:prstGeom>
          <a:solidFill>
            <a:srgbClr val="FFEBEE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212121"/>
                </a:solidFill>
              </a:rPr>
              <a:t>全SNR帯域で
赤↑（CER悪化）と 青/緑↑（品質改善）が共存
→ 三重パラドックス確認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考察①  なぜGTCRNがASRを悪化させるのか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Artifact Error仮説（Ochiai et al. TASLP 2024より）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2560320" cy="1097280"/>
          </a:xfrm>
          <a:prstGeom prst="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喉マイク音声
（ドメイン外入力）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12121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828800"/>
            <a:ext cx="2560320" cy="109728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83280" y="182880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GTCRN
（DNS3で学習）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12121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828800"/>
            <a:ext cx="2560320" cy="10972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182880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Artifact Error
（非線形歪み）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12121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1828800"/>
            <a:ext cx="2560320" cy="109728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35440" y="182880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Whisperが
誤認識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2004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>
                <a:solidFill>
                  <a:srgbClr val="212121"/>
                </a:solidFill>
              </a:rPr>
              <a:t>●  GTCRNはDNS3（気導マイク・英語）で学習 → 喉マイクはドメイン外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212121"/>
                </a:solidFill>
              </a:rPr>
              <a:t>●  低域偏重スペクトルをGTCRNが「ノイズ」と誤認識し過剰に操作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212121"/>
                </a:solidFill>
              </a:rPr>
              <a:t>●  人間の耳には「綺麗」に聞こえる音声が生成される（STOI/PESQ改善）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212121"/>
                </a:solidFill>
              </a:rPr>
              <a:t>●  しかしWhisperが学習した音響特徴と乖離 → Artifact Errorとして機能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212121"/>
                </a:solidFill>
              </a:rPr>
              <a:t>●  → STOI/PESQはArtifact Errorを検出できない指標である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623560"/>
            <a:ext cx="11430000" cy="914400"/>
          </a:xfrm>
          <a:prstGeom prst="rect">
            <a:avLst/>
          </a:prstGeom>
          <a:solidFill>
            <a:srgbClr val="FFF9C4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212121"/>
                </a:solidFill>
              </a:rPr>
              <a:t>音質指標（STOI/PESQ）がOKでも、ASR指標（CER）がNGになりうる
→ ASRを目的とした音声強調では、ASR指標で直接評価すべき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考察②  DSP-onlyはなぜ全指標で失敗したか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5303520" cy="38404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9800"/>
                </a:solidFill>
              </a:rPr>
              <a:t>喉マイクの周波数エネルギー分布（概念図）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0"/>
            <a:ext cx="5120640" cy="31740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1463040"/>
            <a:ext cx="5852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300Hz以下に喉マイクの主エネルギーが集中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HPF（300Hzカットオフ）でその帯域を全て除去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→ 信号の大半を捨てているのと同じ状態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STOI・PESQ・CER すべて悪化するのは必然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【対策案】カットオフ周波数を下げる（50〜100Hz）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【今後】感度分析で最適値を探索予定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考察③  SNR -5dBで有意差が出なかった理由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天井効果（Ceiling Effect）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11430000" cy="2011680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3619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天井効果とは？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測定値が上限（天井）に張り付いてしまい、条件間の差を検出できなくなる現象
今回の場合：SNR −5dBではSEの有無に関わらず CER ≈ 1.0（100%）に到達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703320"/>
            <a:ext cx="1106424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No SE  / white / −5dB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7947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CER = 0.977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37947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4389120"/>
            <a:ext cx="11064240" cy="59436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44805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DSP-only / white / −5dB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4805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CER = 0.998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44805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9800"/>
                </a:solidFill>
              </a:rPr>
              <a:t>p = 0.493（n.s.）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074920"/>
            <a:ext cx="1106424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51663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GTCRN / white / −5dB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1663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CER = 1.203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51663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3A047"/>
                </a:solidFill>
              </a:rPr>
              <a:t>p = 0.002（有意）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943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62828"/>
                </a:solidFill>
              </a:rPr>
              <a:t>→ SNR −5dBの天井効果は「SEが逆効果でない」証拠ではない
　 単に測定限界に到達しているだけ。逆効果は消えていない。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主要発見のまとめ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11430000" cy="141732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発見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17904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12121"/>
                </a:solidFill>
              </a:rPr>
              <a:t>SE適用で全条件CERが有意に悪化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1168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白色・ピンクノイズ × 5 SNR × 2モデル = 30比較中26件 p&lt;0.05
DSP-onlyもGTCRNも、全SNR帯域でNo SEより高いCERを示した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017520"/>
            <a:ext cx="11430000" cy="141732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307238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発見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072384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12121"/>
                </a:solidFill>
              </a:rPr>
              <a:t>GTCRNはSTOI・PESQを改善しながらCERを悪化させる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6616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例）白色SNR 0dB：STOI +0.14、PESQ +0.69、CER +0.33（悪化）
「知覚品質改善・ASR性能悪化」の三重パラドックスが全ノイズ条件で一貫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572000"/>
            <a:ext cx="11430000" cy="14173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462686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発見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626864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12121"/>
                </a:solidFill>
              </a:rPr>
              <a:t>DSP-onlyは3指標すべてを悪化させる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12064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HPF（300Hz）が喉マイクの主エネルギー帯域を除去するため
STOI・PESQ・CERいずれも No SE より悪化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12121"/>
                </a:solidFill>
              </a:rPr>
              <a:t>喉マイク音声に対するSEの効果を、CER・STOI・PESQ・統計検定を用いて34条件で定量評価した。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11430000" cy="7498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24942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62828"/>
                </a:solidFill>
              </a:rPr>
              <a:t>（1）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24942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DSP-onlyおよびGTCRNは全ノイズ条件でCERを有意に悪化させる（30検定中26件 p&lt;0.05）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971800"/>
            <a:ext cx="11430000" cy="7498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311810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9800"/>
                </a:solidFill>
              </a:rPr>
              <a:t>（2）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1810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GTCRNはSTOI・PESQを改善しながらCERを悪化させる三重パラドックスが全ノイズ条件で観測された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840480"/>
            <a:ext cx="11430000" cy="7498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398678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9800"/>
                </a:solidFill>
              </a:rPr>
              <a:t>（3）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8678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DSP-onlyは3指標すべてを悪化させ、喉マイクには不適切な前処理である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709160"/>
            <a:ext cx="11430000" cy="7498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485546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（4）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85546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ASRを目的とするSE評価では、STOI/PESQ等の知覚品質指標だけでなくCERによる直接評価が不可欠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今後の展望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11430000" cy="146304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909C"/>
                </a:solidFill>
              </a:rPr>
              <a:t>優先度：高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1051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Whisper large-v3 での再評価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現在の結論はWhisper smallに限定される可能性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8775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同じ結論が出れば「モデルサイズに依存しない現象」として主張強化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063240"/>
            <a:ext cx="11430000" cy="146304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3108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909C"/>
                </a:solidFill>
              </a:rPr>
              <a:t>優先度：中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1071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DSPパラメータ感度分析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6791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HPFカットオフを100/200/300/500Hzで変化させて比較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8795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300Hzという選択が恣意的という査読批判への回答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663440"/>
            <a:ext cx="11430000" cy="14630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909C"/>
                </a:solidFill>
              </a:rPr>
              <a:t>優先度：中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01091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実環境ノイズでの検証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6811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現在は人工ノイズ（白色・ピンク）のみ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78815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MUSAN・DEMANDなどの実録音ノイズで再現実験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参考文献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508760"/>
            <a:ext cx="11430000" cy="1143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8191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[1]  C.O. Mawalim, S. Okada, M. Unoki,
     "Are Recent Deep Learning-Based Speech Enhancement Methods Ready to Confront
     Real-World Noisy Environments?"
     Interspeech 2024, pp. 1735–1739, DOI: 10.21437/Interspeech.2024-129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743200"/>
            <a:ext cx="11430000" cy="1143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281635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[2]  T. Ochiai, K. Iwamoto, M. Delcroix et al.,
     "Rethinking Processing Distortions: How Do They Affect the Downstream ASR Performance?"
     IEEE/ACM Transactions on Audio, Speech, and Language Processing, TASLP 2024,
     arXiv:2404.14860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977640"/>
            <a:ext cx="11430000" cy="1143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405079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[3]  X. Rong, C. Li, J. Xiao,
     "GTCRN: A Speech Enhancement Model Requiring Ultra-Tiny Resources"
     arXiv:2404.11567,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212080"/>
            <a:ext cx="11430000" cy="1143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52852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[4]  Y. Kim et al.,
     "TAPS: Throat and Acoustic Pairing Speech Dataset"
     HuggingFace: yskim3271/Throat_and_Acoustic_Pairing_Speech_Dataset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88952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ご清聴ありがとうございました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DEFB"/>
                </a:solidFill>
              </a:rPr>
              <a:t>質問・ご意見をお待ちしております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0CAF9"/>
                </a:solidFill>
              </a:rPr>
              <a:t>連絡先：著者名（所属機関）　author@example.ac.jp
コード・データ：実験スクリプト一式（問い合わせ可）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2137</Words>
  <Application>Microsoft Macintosh PowerPoint</Application>
  <PresentationFormat>ユーザー設定</PresentationFormat>
  <Paragraphs>355</Paragraphs>
  <Slides>25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学生</cp:lastModifiedBy>
  <cp:revision>2</cp:revision>
  <dcterms:created xsi:type="dcterms:W3CDTF">2013-01-27T09:14:16Z</dcterms:created>
  <dcterms:modified xsi:type="dcterms:W3CDTF">2026-04-03T13:05:38Z</dcterms:modified>
  <cp:category/>
</cp:coreProperties>
</file>